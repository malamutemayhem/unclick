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0" y="-5577840"/>
            <a:ext cx="11887200" cy="11887200"/>
          </a:xfrm>
          <a:prstGeom prst="ellipse">
            <a:avLst/>
          </a:prstGeom>
          <a:solidFill>
            <a:srgbClr val="61C1C4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0" y="2743200"/>
            <a:ext cx="9144000" cy="9144000"/>
          </a:xfrm>
          <a:prstGeom prst="ellipse">
            <a:avLst/>
          </a:prstGeom>
          <a:solidFill>
            <a:srgbClr val="61C1C4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960120"/>
            <a:ext cx="2461564" cy="384048"/>
          </a:xfrm>
          <a:prstGeom prst="roundRect">
            <a:avLst>
              <a:gd name="adj" fmla="val 50000"/>
            </a:avLst>
          </a:prstGeom>
          <a:solidFill>
            <a:srgbClr val="101818"/>
          </a:solidFill>
          <a:ln w="1270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1110996"/>
            <a:ext cx="82296" cy="82296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960120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spc="180">
                <a:solidFill>
                  <a:srgbClr val="61C1C4"/>
                </a:solidFill>
                <a:latin typeface="JetBrains Mono"/>
              </a:rPr>
              <a:t>INVESTOR OVERVIEW  ·  2026</a:t>
            </a:r>
          </a:p>
        </p:txBody>
      </p:sp>
      <p:sp>
        <p:nvSpPr>
          <p:cNvPr id="7" name="Freeform 6"/>
          <p:cNvSpPr/>
          <p:nvPr/>
        </p:nvSpPr>
        <p:spPr>
          <a:xfrm>
            <a:off x="804672" y="1835658"/>
            <a:ext cx="221285" cy="372161"/>
          </a:xfrm>
          <a:custGeom>
            <a:avLst/>
            <a:gdLst/>
            <a:ahLst/>
            <a:cxnLst/>
            <a:rect l="l" t="t" r="r" b="b"/>
            <a:pathLst>
              <a:path w="44" h="74">
                <a:moveTo>
                  <a:pt x="0" y="0"/>
                </a:moveTo>
                <a:lnTo>
                  <a:pt x="0" y="62"/>
                </a:lnTo>
                <a:lnTo>
                  <a:pt x="15" y="47"/>
                </a:lnTo>
                <a:lnTo>
                  <a:pt x="28" y="74"/>
                </a:lnTo>
                <a:lnTo>
                  <a:pt x="36" y="70"/>
                </a:lnTo>
                <a:lnTo>
                  <a:pt x="23" y="43"/>
                </a:lnTo>
                <a:lnTo>
                  <a:pt x="44" y="43"/>
                </a:lnTo>
                <a:close/>
              </a:path>
            </a:pathLst>
          </a:cu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4750" y="1803196"/>
            <a:ext cx="140817" cy="110642"/>
          </a:xfrm>
          <a:prstGeom prst="roundRect">
            <a:avLst>
              <a:gd name="adj" fmla="val 35000"/>
            </a:avLst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4925" y="1838401"/>
            <a:ext cx="35204" cy="35204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5276" y="1838401"/>
            <a:ext cx="35204" cy="35204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0071" y="1773021"/>
            <a:ext cx="30175" cy="30175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1764792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EAEBEA"/>
                </a:solidFill>
                <a:latin typeface="Inter"/>
              </a:rPr>
              <a:t>Un</a:t>
            </a:r>
            <a:r>
              <a:rPr sz="2600" b="1">
                <a:solidFill>
                  <a:srgbClr val="61C1C4"/>
                </a:solidFill>
                <a:latin typeface="Inter"/>
              </a:rPr>
              <a:t>Click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514600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6600" b="1">
                <a:solidFill>
                  <a:srgbClr val="EAEBEA"/>
                </a:solidFill>
                <a:latin typeface="Inter"/>
              </a:rPr>
              <a:t>Where AI </a:t>
            </a:r>
            <a:r>
              <a:rPr sz="6600" b="1">
                <a:solidFill>
                  <a:srgbClr val="61C1C4"/>
                </a:solidFill>
                <a:latin typeface="Inter"/>
              </a:rPr>
              <a:t>belongs.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794760"/>
            <a:ext cx="8595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B7BBBA"/>
                </a:solidFill>
                <a:latin typeface="Inter"/>
              </a:rPr>
              <a:t>The operating system for AI agents. One install gives any AI a memory that never forgets, 450+ tools to act, and a safe way to get real work done.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892040"/>
            <a:ext cx="1741017" cy="365760"/>
          </a:xfrm>
          <a:prstGeom prst="roundRect">
            <a:avLst>
              <a:gd name="adj" fmla="val 50000"/>
            </a:avLst>
          </a:prstGeom>
          <a:solidFill>
            <a:srgbClr val="101818"/>
          </a:solidFill>
          <a:ln w="1270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892040"/>
            <a:ext cx="174101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61C1C4"/>
                </a:solidFill>
                <a:latin typeface="JetBrains Mono"/>
              </a:rPr>
              <a:t>Works with Claude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82265" y="4892040"/>
            <a:ext cx="899769" cy="365760"/>
          </a:xfrm>
          <a:prstGeom prst="roundRect">
            <a:avLst>
              <a:gd name="adj" fmla="val 50000"/>
            </a:avLst>
          </a:prstGeom>
          <a:solidFill>
            <a:srgbClr val="101818"/>
          </a:solidFill>
          <a:ln w="1270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82265" y="4892040"/>
            <a:ext cx="89976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61C1C4"/>
                </a:solidFill>
                <a:latin typeface="JetBrains Mono"/>
              </a:rPr>
              <a:t>ChatGPT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0051" y="4892040"/>
            <a:ext cx="899769" cy="365760"/>
          </a:xfrm>
          <a:prstGeom prst="roundRect">
            <a:avLst>
              <a:gd name="adj" fmla="val 50000"/>
            </a:avLst>
          </a:prstGeom>
          <a:solidFill>
            <a:srgbClr val="101818"/>
          </a:solidFill>
          <a:ln w="1270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0051" y="4892040"/>
            <a:ext cx="89976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61C1C4"/>
                </a:solidFill>
                <a:latin typeface="JetBrains Mono"/>
              </a:rPr>
              <a:t>Copilot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37836" y="4892040"/>
            <a:ext cx="815644" cy="365760"/>
          </a:xfrm>
          <a:prstGeom prst="roundRect">
            <a:avLst>
              <a:gd name="adj" fmla="val 50000"/>
            </a:avLst>
          </a:prstGeom>
          <a:solidFill>
            <a:srgbClr val="101818"/>
          </a:solidFill>
          <a:ln w="1270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7836" y="4892040"/>
            <a:ext cx="8156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61C1C4"/>
                </a:solidFill>
                <a:latin typeface="JetBrains Mono"/>
              </a:rPr>
              <a:t>Cursor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81497" y="4892040"/>
            <a:ext cx="983894" cy="365760"/>
          </a:xfrm>
          <a:prstGeom prst="roundRect">
            <a:avLst>
              <a:gd name="adj" fmla="val 50000"/>
            </a:avLst>
          </a:prstGeom>
          <a:solidFill>
            <a:srgbClr val="101818"/>
          </a:solidFill>
          <a:ln w="1270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81497" y="4892040"/>
            <a:ext cx="98389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61C1C4"/>
                </a:solidFill>
                <a:latin typeface="JetBrains Mono"/>
              </a:rPr>
              <a:t>Windsurf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8978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spc="80">
                <a:solidFill>
                  <a:srgbClr val="8A8F8E"/>
                </a:solidFill>
                <a:latin typeface="JetBrains Mono"/>
              </a:rPr>
              <a:t>unclick.world   ·   Transparent. Trusted. Traceable.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8288" cy="41148"/>
          </a:xfrm>
          <a:prstGeom prst="rect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746150" y="6473952"/>
            <a:ext cx="80467" cy="135331"/>
          </a:xfrm>
          <a:custGeom>
            <a:avLst/>
            <a:gdLst/>
            <a:ahLst/>
            <a:cxnLst/>
            <a:rect l="l" t="t" r="r" b="b"/>
            <a:pathLst>
              <a:path w="44" h="74">
                <a:moveTo>
                  <a:pt x="0" y="0"/>
                </a:moveTo>
                <a:lnTo>
                  <a:pt x="0" y="62"/>
                </a:lnTo>
                <a:lnTo>
                  <a:pt x="15" y="47"/>
                </a:lnTo>
                <a:lnTo>
                  <a:pt x="28" y="74"/>
                </a:lnTo>
                <a:lnTo>
                  <a:pt x="36" y="70"/>
                </a:lnTo>
                <a:lnTo>
                  <a:pt x="23" y="43"/>
                </a:lnTo>
                <a:lnTo>
                  <a:pt x="44" y="43"/>
                </a:lnTo>
                <a:close/>
              </a:path>
            </a:pathLst>
          </a:cu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8329" y="6462979"/>
            <a:ext cx="51206" cy="40233"/>
          </a:xfrm>
          <a:prstGeom prst="roundRect">
            <a:avLst>
              <a:gd name="adj" fmla="val 35000"/>
            </a:avLst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9302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1248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8446" y="6452006"/>
            <a:ext cx="10972" cy="10972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EAEBEA"/>
                </a:solidFill>
                <a:latin typeface="JetBrains Mono"/>
              </a:rPr>
              <a:t>Un</a:t>
            </a:r>
            <a:r>
              <a:rPr sz="1000" b="1">
                <a:solidFill>
                  <a:srgbClr val="61C1C4"/>
                </a:solidFill>
                <a:latin typeface="JetBrains Mono"/>
              </a:rPr>
              <a:t>Click</a:t>
            </a:r>
            <a:r>
              <a:rPr sz="1000" b="0">
                <a:solidFill>
                  <a:srgbClr val="8A8F8E"/>
                </a:solidFill>
                <a:latin typeface="JetBrains Mono"/>
              </a:rPr>
              <a:t>   ·   Cover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88575" y="64008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8A8F8E"/>
                </a:solidFill>
                <a:latin typeface="JetBrains Mono"/>
              </a:rPr>
              <a:t>00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937760" y="-6400800"/>
            <a:ext cx="10972800" cy="10972800"/>
          </a:xfrm>
          <a:prstGeom prst="ellipse">
            <a:avLst/>
          </a:prstGeom>
          <a:solidFill>
            <a:srgbClr val="61C1C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530352"/>
            <a:ext cx="1283817" cy="384048"/>
          </a:xfrm>
          <a:prstGeom prst="roundRect">
            <a:avLst>
              <a:gd name="adj" fmla="val 50000"/>
            </a:avLst>
          </a:prstGeom>
          <a:solidFill>
            <a:srgbClr val="101818"/>
          </a:solidFill>
          <a:ln w="1270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" y="681228"/>
            <a:ext cx="82296" cy="82296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303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spc="180">
                <a:solidFill>
                  <a:srgbClr val="61C1C4"/>
                </a:solidFill>
                <a:latin typeface="JetBrains Mono"/>
              </a:rPr>
              <a:t>THE BIG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>
                <a:solidFill>
                  <a:srgbClr val="EAEBEA"/>
                </a:solidFill>
                <a:latin typeface="Inter"/>
              </a:rPr>
              <a:t>AI is a genius. On its own, it is a genius </a:t>
            </a:r>
            <a:r>
              <a:rPr sz="3800" b="1">
                <a:solidFill>
                  <a:srgbClr val="61C1C4"/>
                </a:solidFill>
                <a:latin typeface="Inter"/>
              </a:rPr>
              <a:t>locked in an empty room.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8892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>
                <a:solidFill>
                  <a:srgbClr val="B7BBBA"/>
                </a:solidFill>
                <a:latin typeface="Inter"/>
              </a:rPr>
              <a:t>It can think brilliantly, but it forgets you the moment you close the chat, and it cannot touch any of your real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794760"/>
            <a:ext cx="10332720" cy="169164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778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406908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2300" b="1">
                <a:solidFill>
                  <a:srgbClr val="EAEBEA"/>
                </a:solidFill>
                <a:latin typeface="Inter"/>
              </a:rPr>
              <a:t>UnClick</a:t>
            </a:r>
            <a:r>
              <a:rPr sz="2300" b="0">
                <a:solidFill>
                  <a:srgbClr val="EAEBEA"/>
                </a:solidFill>
                <a:latin typeface="Inter"/>
              </a:rPr>
              <a:t> gives any AI a </a:t>
            </a:r>
            <a:r>
              <a:rPr sz="2300" b="1">
                <a:solidFill>
                  <a:srgbClr val="61C1C4"/>
                </a:solidFill>
                <a:latin typeface="Inter"/>
              </a:rPr>
              <a:t>memory that never forgets</a:t>
            </a:r>
            <a:r>
              <a:rPr sz="2300" b="0">
                <a:solidFill>
                  <a:srgbClr val="EAEBEA"/>
                </a:solidFill>
                <a:latin typeface="Inter"/>
              </a:rPr>
              <a:t> and </a:t>
            </a:r>
            <a:r>
              <a:rPr sz="2300" b="1">
                <a:solidFill>
                  <a:srgbClr val="61C1C4"/>
                </a:solidFill>
                <a:latin typeface="Inter"/>
              </a:rPr>
              <a:t>hands that actually do the work</a:t>
            </a:r>
            <a:r>
              <a:rPr sz="2300" b="0">
                <a:solidFill>
                  <a:srgbClr val="EAEBEA"/>
                </a:solidFill>
                <a:latin typeface="Inter"/>
              </a:rPr>
              <a:t> - while your data stays yours.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761980" cy="41148"/>
          </a:xfrm>
          <a:prstGeom prst="rect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746150" y="6473952"/>
            <a:ext cx="80467" cy="135331"/>
          </a:xfrm>
          <a:custGeom>
            <a:avLst/>
            <a:gdLst/>
            <a:ahLst/>
            <a:cxnLst/>
            <a:rect l="l" t="t" r="r" b="b"/>
            <a:pathLst>
              <a:path w="44" h="74">
                <a:moveTo>
                  <a:pt x="0" y="0"/>
                </a:moveTo>
                <a:lnTo>
                  <a:pt x="0" y="62"/>
                </a:lnTo>
                <a:lnTo>
                  <a:pt x="15" y="47"/>
                </a:lnTo>
                <a:lnTo>
                  <a:pt x="28" y="74"/>
                </a:lnTo>
                <a:lnTo>
                  <a:pt x="36" y="70"/>
                </a:lnTo>
                <a:lnTo>
                  <a:pt x="23" y="43"/>
                </a:lnTo>
                <a:lnTo>
                  <a:pt x="44" y="43"/>
                </a:lnTo>
                <a:close/>
              </a:path>
            </a:pathLst>
          </a:cu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8329" y="6462979"/>
            <a:ext cx="51206" cy="40233"/>
          </a:xfrm>
          <a:prstGeom prst="roundRect">
            <a:avLst>
              <a:gd name="adj" fmla="val 35000"/>
            </a:avLst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9302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8446" y="6452006"/>
            <a:ext cx="10972" cy="10972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EAEBEA"/>
                </a:solidFill>
                <a:latin typeface="JetBrains Mono"/>
              </a:rPr>
              <a:t>Un</a:t>
            </a:r>
            <a:r>
              <a:rPr sz="1000" b="1">
                <a:solidFill>
                  <a:srgbClr val="61C1C4"/>
                </a:solidFill>
                <a:latin typeface="JetBrains Mono"/>
              </a:rPr>
              <a:t>Click</a:t>
            </a:r>
            <a:r>
              <a:rPr sz="1000" b="0">
                <a:solidFill>
                  <a:srgbClr val="8A8F8E"/>
                </a:solidFill>
                <a:latin typeface="JetBrains Mono"/>
              </a:rPr>
              <a:t>   ·   The big idea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8575" y="64008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8A8F8E"/>
                </a:solidFill>
                <a:latin typeface="JetBrains Mono"/>
              </a:rPr>
              <a:t>01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937760" y="-6400800"/>
            <a:ext cx="10972800" cy="10972800"/>
          </a:xfrm>
          <a:prstGeom prst="ellipse">
            <a:avLst/>
          </a:prstGeom>
          <a:solidFill>
            <a:srgbClr val="61C1C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530352"/>
            <a:ext cx="1199692" cy="384048"/>
          </a:xfrm>
          <a:prstGeom prst="roundRect">
            <a:avLst>
              <a:gd name="adj" fmla="val 50000"/>
            </a:avLst>
          </a:prstGeom>
          <a:solidFill>
            <a:srgbClr val="101818"/>
          </a:solidFill>
          <a:ln w="1270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" y="681228"/>
            <a:ext cx="82296" cy="82296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303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spc="180">
                <a:solidFill>
                  <a:srgbClr val="61C1C4"/>
                </a:solidFill>
                <a:latin typeface="JetBrains Mono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51560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>
                <a:solidFill>
                  <a:srgbClr val="EAEBEA"/>
                </a:solidFill>
                <a:latin typeface="Inter"/>
              </a:rPr>
              <a:t>Today's AI has three problems.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48840"/>
            <a:ext cx="3310128" cy="320040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350008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EAEBEA"/>
                </a:solidFill>
                <a:latin typeface="Inter"/>
              </a:rPr>
              <a:t>Amnesia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929128"/>
            <a:ext cx="2834640" cy="2273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B7BBBA"/>
                </a:solidFill>
                <a:latin typeface="Inter"/>
              </a:rPr>
              <a:t>Close the chat and it forgets everything. Your preferences, your projects, last week's decisions, gone. You re-explain yourself every single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2148840"/>
            <a:ext cx="3310128" cy="320040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2350008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EAEBEA"/>
                </a:solidFill>
                <a:latin typeface="Inter"/>
              </a:rPr>
              <a:t>No hands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929128"/>
            <a:ext cx="2834640" cy="2273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B7BBBA"/>
                </a:solidFill>
                <a:latin typeface="Inter"/>
              </a:rPr>
              <a:t>It can write the email but not send it. Plan the trip but not book it. Suggest the code but not ship it. You are still the one clicking.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35824" y="2148840"/>
            <a:ext cx="3310128" cy="320040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8" y="2350008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EAEBEA"/>
                </a:solidFill>
                <a:latin typeface="Inter"/>
              </a:rPr>
              <a:t>Locked in a 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929128"/>
            <a:ext cx="2834640" cy="2273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B7BBBA"/>
                </a:solidFill>
                <a:latin typeface="Inter"/>
              </a:rPr>
              <a:t>It only knows what is in the chat window. It cannot see your calendar, your files, or your tools. Brilliant, but cut off from your real life.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523961" cy="41148"/>
          </a:xfrm>
          <a:prstGeom prst="rect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746150" y="6473952"/>
            <a:ext cx="80467" cy="135331"/>
          </a:xfrm>
          <a:custGeom>
            <a:avLst/>
            <a:gdLst/>
            <a:ahLst/>
            <a:cxnLst/>
            <a:rect l="l" t="t" r="r" b="b"/>
            <a:pathLst>
              <a:path w="44" h="74">
                <a:moveTo>
                  <a:pt x="0" y="0"/>
                </a:moveTo>
                <a:lnTo>
                  <a:pt x="0" y="62"/>
                </a:lnTo>
                <a:lnTo>
                  <a:pt x="15" y="47"/>
                </a:lnTo>
                <a:lnTo>
                  <a:pt x="28" y="74"/>
                </a:lnTo>
                <a:lnTo>
                  <a:pt x="36" y="70"/>
                </a:lnTo>
                <a:lnTo>
                  <a:pt x="23" y="43"/>
                </a:lnTo>
                <a:lnTo>
                  <a:pt x="44" y="43"/>
                </a:lnTo>
                <a:close/>
              </a:path>
            </a:pathLst>
          </a:cu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8329" y="6462979"/>
            <a:ext cx="51206" cy="40233"/>
          </a:xfrm>
          <a:prstGeom prst="roundRect">
            <a:avLst>
              <a:gd name="adj" fmla="val 35000"/>
            </a:avLst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9302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8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8446" y="6452006"/>
            <a:ext cx="10972" cy="10972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EAEBEA"/>
                </a:solidFill>
                <a:latin typeface="JetBrains Mono"/>
              </a:rPr>
              <a:t>Un</a:t>
            </a:r>
            <a:r>
              <a:rPr sz="1000" b="1">
                <a:solidFill>
                  <a:srgbClr val="61C1C4"/>
                </a:solidFill>
                <a:latin typeface="JetBrains Mono"/>
              </a:rPr>
              <a:t>Click</a:t>
            </a:r>
            <a:r>
              <a:rPr sz="1000" b="0">
                <a:solidFill>
                  <a:srgbClr val="8A8F8E"/>
                </a:solidFill>
                <a:latin typeface="JetBrains Mono"/>
              </a:rPr>
              <a:t>   ·   The problem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8575" y="64008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8A8F8E"/>
                </a:solidFill>
                <a:latin typeface="JetBrains Mono"/>
              </a:rPr>
              <a:t>02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937760" y="-6400800"/>
            <a:ext cx="10972800" cy="10972800"/>
          </a:xfrm>
          <a:prstGeom prst="ellipse">
            <a:avLst/>
          </a:prstGeom>
          <a:solidFill>
            <a:srgbClr val="61C1C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530352"/>
            <a:ext cx="863193" cy="384048"/>
          </a:xfrm>
          <a:prstGeom prst="roundRect">
            <a:avLst>
              <a:gd name="adj" fmla="val 50000"/>
            </a:avLst>
          </a:prstGeom>
          <a:solidFill>
            <a:srgbClr val="101818"/>
          </a:solidFill>
          <a:ln w="1270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" y="681228"/>
            <a:ext cx="82296" cy="82296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303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spc="180">
                <a:solidFill>
                  <a:srgbClr val="61C1C4"/>
                </a:solidFill>
                <a:latin typeface="JetBrains Mono"/>
              </a:rPr>
              <a:t>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54480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>
                <a:solidFill>
                  <a:srgbClr val="EAEBEA"/>
                </a:solidFill>
                <a:latin typeface="Inter"/>
              </a:rPr>
              <a:t>Everyone just got a genius. </a:t>
            </a:r>
            <a:r>
              <a:rPr sz="4000" b="1">
                <a:solidFill>
                  <a:srgbClr val="61C1C4"/>
                </a:solidFill>
                <a:latin typeface="Inter"/>
              </a:rPr>
              <a:t>Nobody connected it to their life.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>
                <a:solidFill>
                  <a:srgbClr val="B7BBBA"/>
                </a:solidFill>
                <a:latin typeface="Inter"/>
              </a:rPr>
              <a:t>In two years, AI assistants went from novelty to everywhere. Claude, ChatGPT, Copilot, Cursor, Windsurf. But each one is its own island: separate memory, separate login, no shared brain, no hands.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572000"/>
            <a:ext cx="1572768" cy="365760"/>
          </a:xfrm>
          <a:prstGeom prst="roundRect">
            <a:avLst>
              <a:gd name="adj" fmla="val 50000"/>
            </a:avLst>
          </a:prstGeom>
          <a:solidFill>
            <a:srgbClr val="131414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572000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B7BBBA"/>
                </a:solidFill>
                <a:latin typeface="JetBrains Mono"/>
              </a:rPr>
              <a:t>brains added  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5" y="4572000"/>
            <a:ext cx="2077516" cy="365760"/>
          </a:xfrm>
          <a:prstGeom prst="roundRect">
            <a:avLst>
              <a:gd name="adj" fmla="val 50000"/>
            </a:avLst>
          </a:prstGeom>
          <a:solidFill>
            <a:srgbClr val="131414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14015" y="4572000"/>
            <a:ext cx="20775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B7BBBA"/>
                </a:solidFill>
                <a:latin typeface="JetBrains Mono"/>
              </a:rPr>
              <a:t>the wiring is missing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9548" y="4572000"/>
            <a:ext cx="2414015" cy="365760"/>
          </a:xfrm>
          <a:prstGeom prst="roundRect">
            <a:avLst>
              <a:gd name="adj" fmla="val 50000"/>
            </a:avLst>
          </a:prstGeom>
          <a:solidFill>
            <a:srgbClr val="131414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9548" y="4572000"/>
            <a:ext cx="241401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B7BBBA"/>
                </a:solidFill>
                <a:latin typeface="JetBrains Mono"/>
              </a:rPr>
              <a:t>← that is the opportunity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285942" cy="41148"/>
          </a:xfrm>
          <a:prstGeom prst="rect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746150" y="6473952"/>
            <a:ext cx="80467" cy="135331"/>
          </a:xfrm>
          <a:custGeom>
            <a:avLst/>
            <a:gdLst/>
            <a:ahLst/>
            <a:cxnLst/>
            <a:rect l="l" t="t" r="r" b="b"/>
            <a:pathLst>
              <a:path w="44" h="74">
                <a:moveTo>
                  <a:pt x="0" y="0"/>
                </a:moveTo>
                <a:lnTo>
                  <a:pt x="0" y="62"/>
                </a:lnTo>
                <a:lnTo>
                  <a:pt x="15" y="47"/>
                </a:lnTo>
                <a:lnTo>
                  <a:pt x="28" y="74"/>
                </a:lnTo>
                <a:lnTo>
                  <a:pt x="36" y="70"/>
                </a:lnTo>
                <a:lnTo>
                  <a:pt x="23" y="43"/>
                </a:lnTo>
                <a:lnTo>
                  <a:pt x="44" y="43"/>
                </a:lnTo>
                <a:close/>
              </a:path>
            </a:pathLst>
          </a:cu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8329" y="6462979"/>
            <a:ext cx="51206" cy="40233"/>
          </a:xfrm>
          <a:prstGeom prst="roundRect">
            <a:avLst>
              <a:gd name="adj" fmla="val 35000"/>
            </a:avLst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9302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8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446" y="6452006"/>
            <a:ext cx="10972" cy="10972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EAEBEA"/>
                </a:solidFill>
                <a:latin typeface="JetBrains Mono"/>
              </a:rPr>
              <a:t>Un</a:t>
            </a:r>
            <a:r>
              <a:rPr sz="1000" b="1">
                <a:solidFill>
                  <a:srgbClr val="61C1C4"/>
                </a:solidFill>
                <a:latin typeface="JetBrains Mono"/>
              </a:rPr>
              <a:t>Click</a:t>
            </a:r>
            <a:r>
              <a:rPr sz="1000" b="0">
                <a:solidFill>
                  <a:srgbClr val="8A8F8E"/>
                </a:solidFill>
                <a:latin typeface="JetBrains Mono"/>
              </a:rPr>
              <a:t>   ·   Why 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88575" y="64008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8A8F8E"/>
                </a:solidFill>
                <a:latin typeface="JetBrains Mono"/>
              </a:rPr>
              <a:t>03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937760" y="-6400800"/>
            <a:ext cx="10972800" cy="10972800"/>
          </a:xfrm>
          <a:prstGeom prst="ellipse">
            <a:avLst/>
          </a:prstGeom>
          <a:solidFill>
            <a:srgbClr val="61C1C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530352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01818"/>
          </a:solidFill>
          <a:ln w="1270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" y="681228"/>
            <a:ext cx="82296" cy="82296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303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spc="180">
                <a:solidFill>
                  <a:srgbClr val="61C1C4"/>
                </a:solidFill>
                <a:latin typeface="JetBrains Mono"/>
              </a:rPr>
              <a:t>WHAT UNCLICK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24128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800" b="1">
                <a:solidFill>
                  <a:srgbClr val="EAEBEA"/>
                </a:solidFill>
                <a:latin typeface="Inter"/>
              </a:rPr>
              <a:t>One layer that sits behind </a:t>
            </a:r>
            <a:r>
              <a:rPr sz="3800" b="1">
                <a:solidFill>
                  <a:srgbClr val="61C1C4"/>
                </a:solidFill>
                <a:latin typeface="Inter"/>
              </a:rPr>
              <a:t>every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58521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B7BBBA"/>
                </a:solidFill>
                <a:latin typeface="Inter"/>
              </a:rPr>
              <a:t>Picture a brilliant new hire on day one. UnClick is everything they need to be useful: a filing cabinet, a toolbox, the keys, and a foreman who checks the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611880"/>
            <a:ext cx="1236268" cy="365760"/>
          </a:xfrm>
          <a:prstGeom prst="roundRect">
            <a:avLst>
              <a:gd name="adj" fmla="val 50000"/>
            </a:avLst>
          </a:prstGeom>
          <a:solidFill>
            <a:srgbClr val="101818"/>
          </a:solidFill>
          <a:ln w="1270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611880"/>
            <a:ext cx="12362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61C1C4"/>
                </a:solidFill>
                <a:latin typeface="JetBrains Mono"/>
              </a:rPr>
              <a:t>One install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77516" y="3611880"/>
            <a:ext cx="899769" cy="365760"/>
          </a:xfrm>
          <a:prstGeom prst="roundRect">
            <a:avLst>
              <a:gd name="adj" fmla="val 50000"/>
            </a:avLst>
          </a:prstGeom>
          <a:solidFill>
            <a:srgbClr val="131414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7516" y="3611880"/>
            <a:ext cx="89976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B7BBBA"/>
                </a:solidFill>
                <a:latin typeface="JetBrains Mono"/>
              </a:rPr>
              <a:t>No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5302" y="3611880"/>
            <a:ext cx="1152144" cy="365760"/>
          </a:xfrm>
          <a:prstGeom prst="roundRect">
            <a:avLst>
              <a:gd name="adj" fmla="val 50000"/>
            </a:avLst>
          </a:prstGeom>
          <a:solidFill>
            <a:srgbClr val="131414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5302" y="3611880"/>
            <a:ext cx="11521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B7BBBA"/>
                </a:solidFill>
                <a:latin typeface="JetBrains Mono"/>
              </a:rPr>
              <a:t>Any device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05156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84264" y="1252728"/>
            <a:ext cx="22219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EAEBEA"/>
                </a:solidFill>
                <a:latin typeface="Inter"/>
              </a:rPr>
              <a:t>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4264" y="1770887"/>
            <a:ext cx="2221992" cy="551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B7BBBA"/>
                </a:solidFill>
                <a:latin typeface="Inter"/>
              </a:rPr>
              <a:t>A shared brain. Remembers across every chat, tool, and device.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05156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64624" y="1252728"/>
            <a:ext cx="22219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EAEBEA"/>
                </a:solidFill>
                <a:latin typeface="Inter"/>
              </a:rPr>
              <a:t>Apps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64624" y="1770887"/>
            <a:ext cx="2221992" cy="551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B7BBBA"/>
                </a:solidFill>
                <a:latin typeface="Inter"/>
              </a:rPr>
              <a:t>450+ tools. Email, calendar, money, code, and more.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65176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84264" y="2852928"/>
            <a:ext cx="22219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EAEBEA"/>
                </a:solidFill>
                <a:latin typeface="Inter"/>
              </a:rPr>
              <a:t>Connections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4264" y="3371088"/>
            <a:ext cx="2221992" cy="551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B7BBBA"/>
                </a:solidFill>
                <a:latin typeface="Inter"/>
              </a:rPr>
              <a:t>Sign in once. Your AI safely uses everything else.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265176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64624" y="2852928"/>
            <a:ext cx="22219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EAEBEA"/>
                </a:solidFill>
                <a:latin typeface="Inter"/>
              </a:rPr>
              <a:t>Autopilot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64624" y="3371088"/>
            <a:ext cx="2221992" cy="551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B7BBBA"/>
                </a:solidFill>
                <a:latin typeface="Inter"/>
              </a:rPr>
              <a:t>Plans, builds, checks, and proves real work, with safety gates.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86600" y="3977639"/>
            <a:ext cx="4297680" cy="868680"/>
          </a:xfrm>
          <a:prstGeom prst="roundRect">
            <a:avLst>
              <a:gd name="adj" fmla="val 6000"/>
            </a:avLst>
          </a:prstGeom>
          <a:solidFill>
            <a:srgbClr val="101A1A"/>
          </a:solidFill>
          <a:ln w="17780">
            <a:solidFill>
              <a:srgbClr val="61C1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114800"/>
            <a:ext cx="5577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61C1C4"/>
                </a:solidFill>
                <a:latin typeface="Inter"/>
              </a:rPr>
              <a:t>Your data island</a:t>
            </a:r>
          </a:p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B7BBBA"/>
                </a:solidFill>
                <a:latin typeface="Inter"/>
              </a:rPr>
              <a:t>Your data stays yours. AI only touches what you allow.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3047923" cy="41148"/>
          </a:xfrm>
          <a:prstGeom prst="rect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746150" y="6473952"/>
            <a:ext cx="80467" cy="135331"/>
          </a:xfrm>
          <a:custGeom>
            <a:avLst/>
            <a:gdLst/>
            <a:ahLst/>
            <a:cxnLst/>
            <a:rect l="l" t="t" r="r" b="b"/>
            <a:pathLst>
              <a:path w="44" h="74">
                <a:moveTo>
                  <a:pt x="0" y="0"/>
                </a:moveTo>
                <a:lnTo>
                  <a:pt x="0" y="62"/>
                </a:lnTo>
                <a:lnTo>
                  <a:pt x="15" y="47"/>
                </a:lnTo>
                <a:lnTo>
                  <a:pt x="28" y="74"/>
                </a:lnTo>
                <a:lnTo>
                  <a:pt x="36" y="70"/>
                </a:lnTo>
                <a:lnTo>
                  <a:pt x="23" y="43"/>
                </a:lnTo>
                <a:lnTo>
                  <a:pt x="44" y="43"/>
                </a:lnTo>
                <a:close/>
              </a:path>
            </a:pathLst>
          </a:cu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8329" y="6462979"/>
            <a:ext cx="51206" cy="40233"/>
          </a:xfrm>
          <a:prstGeom prst="roundRect">
            <a:avLst>
              <a:gd name="adj" fmla="val 35000"/>
            </a:avLst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9302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248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8446" y="6452006"/>
            <a:ext cx="10972" cy="10972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EAEBEA"/>
                </a:solidFill>
                <a:latin typeface="JetBrains Mono"/>
              </a:rPr>
              <a:t>Un</a:t>
            </a:r>
            <a:r>
              <a:rPr sz="1000" b="1">
                <a:solidFill>
                  <a:srgbClr val="61C1C4"/>
                </a:solidFill>
                <a:latin typeface="JetBrains Mono"/>
              </a:rPr>
              <a:t>Click</a:t>
            </a:r>
            <a:r>
              <a:rPr sz="1000" b="0">
                <a:solidFill>
                  <a:srgbClr val="8A8F8E"/>
                </a:solidFill>
                <a:latin typeface="JetBrains Mono"/>
              </a:rPr>
              <a:t>   ·   What UnClick 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88575" y="64008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8A8F8E"/>
                </a:solidFill>
                <a:latin typeface="JetBrains Mono"/>
              </a:rPr>
              <a:t>04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937760" y="-6400800"/>
            <a:ext cx="10972800" cy="10972800"/>
          </a:xfrm>
          <a:prstGeom prst="ellipse">
            <a:avLst/>
          </a:prstGeom>
          <a:solidFill>
            <a:srgbClr val="61C1C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530352"/>
            <a:ext cx="1283817" cy="384048"/>
          </a:xfrm>
          <a:prstGeom prst="roundRect">
            <a:avLst>
              <a:gd name="adj" fmla="val 50000"/>
            </a:avLst>
          </a:prstGeom>
          <a:solidFill>
            <a:srgbClr val="101818"/>
          </a:solidFill>
          <a:ln w="1270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" y="681228"/>
            <a:ext cx="82296" cy="82296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303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spc="180">
                <a:solidFill>
                  <a:srgbClr val="61C1C4"/>
                </a:solidFill>
                <a:latin typeface="JetBrains Mono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51560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>
                <a:solidFill>
                  <a:srgbClr val="EAEBEA"/>
                </a:solidFill>
                <a:latin typeface="Inter"/>
              </a:rPr>
              <a:t>Three steps. No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48840"/>
            <a:ext cx="3310128" cy="274320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33172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61C1C4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246120"/>
            <a:ext cx="28529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EAEBEA"/>
                </a:solidFill>
                <a:latin typeface="Inter"/>
              </a:rPr>
              <a:t>Connect 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703320"/>
            <a:ext cx="285292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B7BBBA"/>
                </a:solidFill>
                <a:latin typeface="Inter"/>
              </a:rPr>
              <a:t>Sign in to the accounts you choose. It takes minutes, and you decide what is shared.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528" y="2148840"/>
            <a:ext cx="3310128" cy="274320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233172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61C1C4"/>
                </a:solidFill>
                <a:latin typeface="JetBrains Mon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3246120"/>
            <a:ext cx="28529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EAEBEA"/>
                </a:solidFill>
                <a:latin typeface="Inter"/>
              </a:rPr>
              <a:t>Your AI levels 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3703320"/>
            <a:ext cx="285292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B7BBBA"/>
                </a:solidFill>
                <a:latin typeface="Inter"/>
              </a:rPr>
              <a:t>It instantly gains memory and 450+ tools. Nothing to install for each app.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2148840"/>
            <a:ext cx="3310128" cy="274320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233172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61C1C4"/>
                </a:solidFill>
                <a:latin typeface="JetBrai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246120"/>
            <a:ext cx="28529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EAEBEA"/>
                </a:solidFill>
                <a:latin typeface="Inter"/>
              </a:rPr>
              <a:t>Just 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3703320"/>
            <a:ext cx="285292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B7BBBA"/>
                </a:solidFill>
                <a:latin typeface="Inter"/>
              </a:rPr>
              <a:t>Talk normally. It remembers, acts, and proves it, on any AI and any device.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257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8A8F8E"/>
                </a:solidFill>
                <a:latin typeface="Inter"/>
              </a:rPr>
              <a:t>Like giving a new employee the keys to the office, a phone, and a filing cabinet.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3809904" cy="41148"/>
          </a:xfrm>
          <a:prstGeom prst="rect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746150" y="6473952"/>
            <a:ext cx="80467" cy="135331"/>
          </a:xfrm>
          <a:custGeom>
            <a:avLst/>
            <a:gdLst/>
            <a:ahLst/>
            <a:cxnLst/>
            <a:rect l="l" t="t" r="r" b="b"/>
            <a:pathLst>
              <a:path w="44" h="74">
                <a:moveTo>
                  <a:pt x="0" y="0"/>
                </a:moveTo>
                <a:lnTo>
                  <a:pt x="0" y="62"/>
                </a:lnTo>
                <a:lnTo>
                  <a:pt x="15" y="47"/>
                </a:lnTo>
                <a:lnTo>
                  <a:pt x="28" y="74"/>
                </a:lnTo>
                <a:lnTo>
                  <a:pt x="36" y="70"/>
                </a:lnTo>
                <a:lnTo>
                  <a:pt x="23" y="43"/>
                </a:lnTo>
                <a:lnTo>
                  <a:pt x="44" y="43"/>
                </a:lnTo>
                <a:close/>
              </a:path>
            </a:pathLst>
          </a:cu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8329" y="6462979"/>
            <a:ext cx="51206" cy="40233"/>
          </a:xfrm>
          <a:prstGeom prst="roundRect">
            <a:avLst>
              <a:gd name="adj" fmla="val 35000"/>
            </a:avLst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9302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1248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8446" y="6452006"/>
            <a:ext cx="10972" cy="10972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EAEBEA"/>
                </a:solidFill>
                <a:latin typeface="JetBrains Mono"/>
              </a:rPr>
              <a:t>Un</a:t>
            </a:r>
            <a:r>
              <a:rPr sz="1000" b="1">
                <a:solidFill>
                  <a:srgbClr val="61C1C4"/>
                </a:solidFill>
                <a:latin typeface="JetBrains Mono"/>
              </a:rPr>
              <a:t>Click</a:t>
            </a:r>
            <a:r>
              <a:rPr sz="1000" b="0">
                <a:solidFill>
                  <a:srgbClr val="8A8F8E"/>
                </a:solidFill>
                <a:latin typeface="JetBrains Mono"/>
              </a:rPr>
              <a:t>   ·   How it works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88575" y="64008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8A8F8E"/>
                </a:solidFill>
                <a:latin typeface="JetBrains Mono"/>
              </a:rPr>
              <a:t>05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937760" y="-6400800"/>
            <a:ext cx="10972800" cy="10972800"/>
          </a:xfrm>
          <a:prstGeom prst="ellipse">
            <a:avLst/>
          </a:prstGeom>
          <a:solidFill>
            <a:srgbClr val="61C1C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530352"/>
            <a:ext cx="1956815" cy="384048"/>
          </a:xfrm>
          <a:prstGeom prst="roundRect">
            <a:avLst>
              <a:gd name="adj" fmla="val 50000"/>
            </a:avLst>
          </a:prstGeom>
          <a:solidFill>
            <a:srgbClr val="101818"/>
          </a:solidFill>
          <a:ln w="1270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" y="681228"/>
            <a:ext cx="82296" cy="82296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303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spc="180">
                <a:solidFill>
                  <a:srgbClr val="61C1C4"/>
                </a:solidFill>
                <a:latin typeface="JetBrains Mono"/>
              </a:rPr>
              <a:t>DEEP DIVE  · 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24128"/>
            <a:ext cx="6035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>
                <a:solidFill>
                  <a:srgbClr val="EAEBEA"/>
                </a:solidFill>
                <a:latin typeface="Inter"/>
              </a:rPr>
              <a:t>Tell it once. It remembers </a:t>
            </a:r>
            <a:r>
              <a:rPr sz="3600" b="1">
                <a:solidFill>
                  <a:srgbClr val="61C1C4"/>
                </a:solidFill>
                <a:latin typeface="Inter"/>
              </a:rPr>
              <a:t>forever, everywhere.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77440"/>
            <a:ext cx="5760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>
                <a:solidFill>
                  <a:srgbClr val="B7BBBA"/>
                </a:solidFill>
                <a:latin typeface="Inter"/>
              </a:rPr>
              <a:t>Normal AI forgets between chats. UnClick is the notebook that carries over: your preferences, decisions, and projects. And it is shared, so what you tell Claude in the morning, ChatGPT knows in the afternoon.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434840"/>
            <a:ext cx="5760720" cy="105156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778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461772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61C1C4"/>
                </a:solidFill>
                <a:latin typeface="Inter"/>
              </a:rPr>
              <a:t>The point: </a:t>
            </a:r>
            <a:r>
              <a:rPr sz="1400" b="0">
                <a:solidFill>
                  <a:srgbClr val="EAEBEA"/>
                </a:solidFill>
                <a:latin typeface="Inter"/>
              </a:rPr>
              <a:t>native AI memory is volatile. UnClick is the one place your context actually lives.</a:t>
            </a:r>
          </a:p>
        </p:txBody>
      </p:sp>
      <p:sp>
        <p:nvSpPr>
          <p:cNvPr id="10" name="Oval 9"/>
          <p:cNvSpPr/>
          <p:nvPr/>
        </p:nvSpPr>
        <p:spPr>
          <a:xfrm>
            <a:off x="8595360" y="2331720"/>
            <a:ext cx="1737360" cy="1737360"/>
          </a:xfrm>
          <a:prstGeom prst="ellipse">
            <a:avLst/>
          </a:prstGeom>
          <a:solidFill>
            <a:srgbClr val="101E1E"/>
          </a:solidFill>
          <a:ln w="17780">
            <a:solidFill>
              <a:srgbClr val="61C1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274320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EAEBEA"/>
                </a:solidFill>
                <a:latin typeface="Inter"/>
              </a:rPr>
              <a:t>One brain</a:t>
            </a:r>
          </a:p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61C1C4"/>
                </a:solidFill>
                <a:latin typeface="JetBrains Mono"/>
              </a:rPr>
              <a:t>read + write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49640" y="1554480"/>
            <a:ext cx="914400" cy="1645920"/>
          </a:xfrm>
          <a:prstGeom prst="line">
            <a:avLst/>
          </a:prstGeom>
          <a:ln w="15240">
            <a:solidFill>
              <a:srgbClr val="3F8F9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9464040" y="2971800"/>
            <a:ext cx="1828800" cy="228600"/>
          </a:xfrm>
          <a:prstGeom prst="line">
            <a:avLst/>
          </a:prstGeom>
          <a:ln w="15240">
            <a:solidFill>
              <a:srgbClr val="3F8F9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732519" y="3200400"/>
            <a:ext cx="731521" cy="1691640"/>
          </a:xfrm>
          <a:prstGeom prst="line">
            <a:avLst/>
          </a:prstGeom>
          <a:ln w="15240">
            <a:solidFill>
              <a:srgbClr val="3F8F9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772400" y="1234440"/>
            <a:ext cx="1691640" cy="86868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6992" y="1353312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AEBEA"/>
                </a:solidFill>
                <a:latin typeface="Inter"/>
              </a:rPr>
              <a:t>Claude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B7BBBA"/>
                </a:solidFill>
                <a:latin typeface="Inter"/>
              </a:rPr>
              <a:t>writes a decision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0" y="2651760"/>
            <a:ext cx="1691640" cy="86868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80192" y="2770632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AEBEA"/>
                </a:solidFill>
                <a:latin typeface="Inter"/>
              </a:rPr>
              <a:t>ChatGPT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B7BBBA"/>
                </a:solidFill>
                <a:latin typeface="Inter"/>
              </a:rPr>
              <a:t>reads it instantly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4572000"/>
            <a:ext cx="1691640" cy="86868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1" y="4690872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AEBEA"/>
                </a:solidFill>
                <a:latin typeface="Inter"/>
              </a:rPr>
              <a:t>Cursor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B7BBBA"/>
                </a:solidFill>
                <a:latin typeface="Inter"/>
              </a:rPr>
              <a:t>picks up the project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4571885" cy="41148"/>
          </a:xfrm>
          <a:prstGeom prst="rect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746150" y="6473952"/>
            <a:ext cx="80467" cy="135331"/>
          </a:xfrm>
          <a:custGeom>
            <a:avLst/>
            <a:gdLst/>
            <a:ahLst/>
            <a:cxnLst/>
            <a:rect l="l" t="t" r="r" b="b"/>
            <a:pathLst>
              <a:path w="44" h="74">
                <a:moveTo>
                  <a:pt x="0" y="0"/>
                </a:moveTo>
                <a:lnTo>
                  <a:pt x="0" y="62"/>
                </a:lnTo>
                <a:lnTo>
                  <a:pt x="15" y="47"/>
                </a:lnTo>
                <a:lnTo>
                  <a:pt x="28" y="74"/>
                </a:lnTo>
                <a:lnTo>
                  <a:pt x="36" y="70"/>
                </a:lnTo>
                <a:lnTo>
                  <a:pt x="23" y="43"/>
                </a:lnTo>
                <a:lnTo>
                  <a:pt x="44" y="43"/>
                </a:lnTo>
                <a:close/>
              </a:path>
            </a:pathLst>
          </a:cu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8329" y="6462979"/>
            <a:ext cx="51206" cy="40233"/>
          </a:xfrm>
          <a:prstGeom prst="roundRect">
            <a:avLst>
              <a:gd name="adj" fmla="val 35000"/>
            </a:avLst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9302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1248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8446" y="6452006"/>
            <a:ext cx="10972" cy="10972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EAEBEA"/>
                </a:solidFill>
                <a:latin typeface="JetBrains Mono"/>
              </a:rPr>
              <a:t>Un</a:t>
            </a:r>
            <a:r>
              <a:rPr sz="1000" b="1">
                <a:solidFill>
                  <a:srgbClr val="61C1C4"/>
                </a:solidFill>
                <a:latin typeface="JetBrains Mono"/>
              </a:rPr>
              <a:t>Click</a:t>
            </a:r>
            <a:r>
              <a:rPr sz="1000" b="0">
                <a:solidFill>
                  <a:srgbClr val="8A8F8E"/>
                </a:solidFill>
                <a:latin typeface="JetBrains Mono"/>
              </a:rPr>
              <a:t>   ·   Deep dive · 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88575" y="64008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8A8F8E"/>
                </a:solidFill>
                <a:latin typeface="JetBrains Mono"/>
              </a:rPr>
              <a:t>06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937760" y="-6400800"/>
            <a:ext cx="10972800" cy="10972800"/>
          </a:xfrm>
          <a:prstGeom prst="ellipse">
            <a:avLst/>
          </a:prstGeom>
          <a:solidFill>
            <a:srgbClr val="61C1C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530352"/>
            <a:ext cx="3134563" cy="384048"/>
          </a:xfrm>
          <a:prstGeom prst="roundRect">
            <a:avLst>
              <a:gd name="adj" fmla="val 50000"/>
            </a:avLst>
          </a:prstGeom>
          <a:solidFill>
            <a:srgbClr val="101818"/>
          </a:solidFill>
          <a:ln w="1270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" y="681228"/>
            <a:ext cx="82296" cy="82296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303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spc="180">
                <a:solidFill>
                  <a:srgbClr val="61C1C4"/>
                </a:solidFill>
                <a:latin typeface="JetBrains Mono"/>
              </a:rPr>
              <a:t>DEEP DIVE  ·  APPS AND CONNECTIONS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05840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600" b="1">
                <a:solidFill>
                  <a:srgbClr val="EAEBEA"/>
                </a:solidFill>
                <a:latin typeface="Inter"/>
              </a:rPr>
              <a:t>Every tool your agent needs, </a:t>
            </a:r>
            <a:r>
              <a:rPr sz="3600" b="1">
                <a:solidFill>
                  <a:srgbClr val="61C1C4"/>
                </a:solidFill>
                <a:latin typeface="Inter"/>
              </a:rPr>
              <a:t>in one install.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74519"/>
            <a:ext cx="2377440" cy="114300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075688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>
                <a:solidFill>
                  <a:srgbClr val="61C1C4"/>
                </a:solidFill>
                <a:latin typeface="JetBrains Mono"/>
              </a:rPr>
              <a:t>450+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04287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8A8F8E"/>
                </a:solidFill>
                <a:latin typeface="Inter"/>
              </a:rPr>
              <a:t>callable endpoints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9272" y="1874519"/>
            <a:ext cx="2377440" cy="114300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7015" y="2075688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>
                <a:solidFill>
                  <a:srgbClr val="61C1C4"/>
                </a:solidFill>
                <a:latin typeface="JetBrains Mono"/>
              </a:rPr>
              <a:t>178+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04287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8A8F8E"/>
                </a:solidFill>
                <a:latin typeface="Inter"/>
              </a:rPr>
              <a:t>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25312" y="1874519"/>
            <a:ext cx="2377440" cy="114300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3056" y="2075688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>
                <a:solidFill>
                  <a:srgbClr val="61C1C4"/>
                </a:solidFill>
                <a:latin typeface="JetBrains Mono"/>
              </a:rPr>
              <a:t>20+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304287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8A8F8E"/>
                </a:solidFill>
                <a:latin typeface="Inter"/>
              </a:rPr>
              <a:t>secure connections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31352" y="1874519"/>
            <a:ext cx="2377440" cy="114300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69096" y="2075688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>
                <a:solidFill>
                  <a:srgbClr val="61C1C4"/>
                </a:solidFill>
                <a:latin typeface="JetBrains Mono"/>
              </a:rPr>
              <a:t>weekly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304287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8A8F8E"/>
                </a:solidFill>
                <a:latin typeface="Inter"/>
              </a:rPr>
              <a:t>new tools, auto-picked 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291840"/>
            <a:ext cx="1909267" cy="365760"/>
          </a:xfrm>
          <a:prstGeom prst="roundRect">
            <a:avLst>
              <a:gd name="adj" fmla="val 50000"/>
            </a:avLst>
          </a:prstGeom>
          <a:solidFill>
            <a:srgbClr val="131414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291840"/>
            <a:ext cx="190926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B7BBBA"/>
                </a:solidFill>
                <a:latin typeface="JetBrains Mono"/>
              </a:rPr>
              <a:t>Email and messaging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50515" y="3291840"/>
            <a:ext cx="1825142" cy="365760"/>
          </a:xfrm>
          <a:prstGeom prst="roundRect">
            <a:avLst>
              <a:gd name="adj" fmla="val 50000"/>
            </a:avLst>
          </a:prstGeom>
          <a:solidFill>
            <a:srgbClr val="131414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50515" y="3291840"/>
            <a:ext cx="182514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B7BBBA"/>
                </a:solidFill>
                <a:latin typeface="JetBrains Mono"/>
              </a:rPr>
              <a:t>Calendar and tasks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3673" y="3291840"/>
            <a:ext cx="1825142" cy="365760"/>
          </a:xfrm>
          <a:prstGeom prst="roundRect">
            <a:avLst>
              <a:gd name="adj" fmla="val 50000"/>
            </a:avLst>
          </a:prstGeom>
          <a:solidFill>
            <a:srgbClr val="131414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3673" y="3291840"/>
            <a:ext cx="182514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B7BBBA"/>
                </a:solidFill>
                <a:latin typeface="JetBrains Mono"/>
              </a:rPr>
              <a:t>Money and payments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56832" y="3291840"/>
            <a:ext cx="1572768" cy="365760"/>
          </a:xfrm>
          <a:prstGeom prst="roundRect">
            <a:avLst>
              <a:gd name="adj" fmla="val 50000"/>
            </a:avLst>
          </a:prstGeom>
          <a:solidFill>
            <a:srgbClr val="131414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3291840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B7BBBA"/>
                </a:solidFill>
                <a:latin typeface="JetBrains Mono"/>
              </a:rPr>
              <a:t>Developer tools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749039"/>
            <a:ext cx="1656892" cy="365760"/>
          </a:xfrm>
          <a:prstGeom prst="roundRect">
            <a:avLst>
              <a:gd name="adj" fmla="val 50000"/>
            </a:avLst>
          </a:prstGeom>
          <a:solidFill>
            <a:srgbClr val="131414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749039"/>
            <a:ext cx="16568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B7BBBA"/>
                </a:solidFill>
                <a:latin typeface="JetBrains Mono"/>
              </a:rPr>
              <a:t>Social and media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98140" y="3749039"/>
            <a:ext cx="1909267" cy="365760"/>
          </a:xfrm>
          <a:prstGeom prst="roundRect">
            <a:avLst>
              <a:gd name="adj" fmla="val 50000"/>
            </a:avLst>
          </a:prstGeom>
          <a:solidFill>
            <a:srgbClr val="131414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98140" y="3749039"/>
            <a:ext cx="190926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B7BBBA"/>
                </a:solidFill>
                <a:latin typeface="JetBrains Mono"/>
              </a:rPr>
              <a:t>Shopping and travel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35424" y="3749039"/>
            <a:ext cx="1741017" cy="365760"/>
          </a:xfrm>
          <a:prstGeom prst="roundRect">
            <a:avLst>
              <a:gd name="adj" fmla="val 50000"/>
            </a:avLst>
          </a:prstGeom>
          <a:solidFill>
            <a:srgbClr val="131414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35424" y="3749039"/>
            <a:ext cx="174101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B7BBBA"/>
                </a:solidFill>
                <a:latin typeface="JetBrains Mono"/>
              </a:rPr>
              <a:t>Security and 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4457" y="3749039"/>
            <a:ext cx="1741017" cy="365760"/>
          </a:xfrm>
          <a:prstGeom prst="roundRect">
            <a:avLst>
              <a:gd name="adj" fmla="val 50000"/>
            </a:avLst>
          </a:prstGeom>
          <a:solidFill>
            <a:srgbClr val="131414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4457" y="3749039"/>
            <a:ext cx="174101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B7BBBA"/>
                </a:solidFill>
                <a:latin typeface="JetBrains Mono"/>
              </a:rPr>
              <a:t>Knowledge and web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4434840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" y="461772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>
                <a:solidFill>
                  <a:srgbClr val="61C1C4"/>
                </a:solidFill>
                <a:latin typeface="Inter"/>
              </a:rPr>
              <a:t>MCP is the universal adapter</a:t>
            </a:r>
            <a:r>
              <a:rPr sz="1400" b="0">
                <a:solidFill>
                  <a:srgbClr val="EAEBEA"/>
                </a:solidFill>
                <a:latin typeface="Inter"/>
              </a:rPr>
              <a:t> - like USB-C for AI. It lets any tool plug into any AI, so one install covers everything.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71032" y="4434840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7064" y="461772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>
                <a:solidFill>
                  <a:srgbClr val="61C1C4"/>
                </a:solidFill>
                <a:latin typeface="Inter"/>
              </a:rPr>
              <a:t>Like a translator, not a spy. </a:t>
            </a:r>
            <a:r>
              <a:rPr sz="1400" b="0">
                <a:solidFill>
                  <a:srgbClr val="EAEBEA"/>
                </a:solidFill>
                <a:latin typeface="Inter"/>
              </a:rPr>
              <a:t>Tools pass information between you and the services you already use. They do not store or sell it.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5333866" cy="41148"/>
          </a:xfrm>
          <a:prstGeom prst="rect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46150" y="6473952"/>
            <a:ext cx="80467" cy="135331"/>
          </a:xfrm>
          <a:custGeom>
            <a:avLst/>
            <a:gdLst/>
            <a:ahLst/>
            <a:cxnLst/>
            <a:rect l="l" t="t" r="r" b="b"/>
            <a:pathLst>
              <a:path w="44" h="74">
                <a:moveTo>
                  <a:pt x="0" y="0"/>
                </a:moveTo>
                <a:lnTo>
                  <a:pt x="0" y="62"/>
                </a:lnTo>
                <a:lnTo>
                  <a:pt x="15" y="47"/>
                </a:lnTo>
                <a:lnTo>
                  <a:pt x="28" y="74"/>
                </a:lnTo>
                <a:lnTo>
                  <a:pt x="36" y="70"/>
                </a:lnTo>
                <a:lnTo>
                  <a:pt x="23" y="43"/>
                </a:lnTo>
                <a:lnTo>
                  <a:pt x="44" y="43"/>
                </a:lnTo>
                <a:close/>
              </a:path>
            </a:pathLst>
          </a:cu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08329" y="6462979"/>
            <a:ext cx="51206" cy="40233"/>
          </a:xfrm>
          <a:prstGeom prst="roundRect">
            <a:avLst>
              <a:gd name="adj" fmla="val 35000"/>
            </a:avLst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19302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41248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8446" y="6452006"/>
            <a:ext cx="10972" cy="10972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EAEBEA"/>
                </a:solidFill>
                <a:latin typeface="JetBrains Mono"/>
              </a:rPr>
              <a:t>Un</a:t>
            </a:r>
            <a:r>
              <a:rPr sz="1000" b="1">
                <a:solidFill>
                  <a:srgbClr val="61C1C4"/>
                </a:solidFill>
                <a:latin typeface="JetBrains Mono"/>
              </a:rPr>
              <a:t>Click</a:t>
            </a:r>
            <a:r>
              <a:rPr sz="1000" b="0">
                <a:solidFill>
                  <a:srgbClr val="8A8F8E"/>
                </a:solidFill>
                <a:latin typeface="JetBrains Mono"/>
              </a:rPr>
              <a:t>   ·   Deep dive · Apps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88575" y="64008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8A8F8E"/>
                </a:solidFill>
                <a:latin typeface="JetBrains Mono"/>
              </a:rPr>
              <a:t>07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937760" y="-6400800"/>
            <a:ext cx="10972800" cy="10972800"/>
          </a:xfrm>
          <a:prstGeom prst="ellipse">
            <a:avLst/>
          </a:prstGeom>
          <a:solidFill>
            <a:srgbClr val="61C1C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530352"/>
            <a:ext cx="2209190" cy="384048"/>
          </a:xfrm>
          <a:prstGeom prst="roundRect">
            <a:avLst>
              <a:gd name="adj" fmla="val 50000"/>
            </a:avLst>
          </a:prstGeom>
          <a:solidFill>
            <a:srgbClr val="101818"/>
          </a:solidFill>
          <a:ln w="1270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" y="681228"/>
            <a:ext cx="82296" cy="82296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303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spc="180">
                <a:solidFill>
                  <a:srgbClr val="61C1C4"/>
                </a:solidFill>
                <a:latin typeface="JetBrains Mono"/>
              </a:rPr>
              <a:t>DEEP DIVE  ·  AUTOPILOT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60120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>
                <a:solidFill>
                  <a:srgbClr val="EAEBEA"/>
                </a:solidFill>
                <a:latin typeface="Inter"/>
              </a:rPr>
              <a:t>A factory floor for AI work, </a:t>
            </a:r>
            <a:r>
              <a:rPr sz="3400" b="1">
                <a:solidFill>
                  <a:srgbClr val="61C1C4"/>
                </a:solidFill>
                <a:latin typeface="Inter"/>
              </a:rPr>
              <a:t>with a big red stop button.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9164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B7BBBA"/>
                </a:solidFill>
                <a:latin typeface="Inter"/>
              </a:rPr>
              <a:t>For bigger jobs, Autopilot runs work down an assembly line. Every stage checks the one before it. Nothing ships until it passes.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606040"/>
            <a:ext cx="1188720" cy="77724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82496" y="2724912"/>
            <a:ext cx="91440" cy="91440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606040"/>
            <a:ext cx="1188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>
                <a:solidFill>
                  <a:srgbClr val="EAEBEA"/>
                </a:solidFill>
                <a:latin typeface="Inter"/>
              </a:rPr>
              <a:t>Intake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2606040"/>
            <a:ext cx="1600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0">
                <a:solidFill>
                  <a:srgbClr val="3F8F92"/>
                </a:solidFill>
                <a:latin typeface="Inter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07108" y="2606040"/>
            <a:ext cx="1188720" cy="77724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76372" y="2724912"/>
            <a:ext cx="91440" cy="91440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07108" y="2606040"/>
            <a:ext cx="1188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>
                <a:solidFill>
                  <a:srgbClr val="EAEBEA"/>
                </a:solidFill>
                <a:latin typeface="Inter"/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7540" y="2606040"/>
            <a:ext cx="1600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0">
                <a:solidFill>
                  <a:srgbClr val="3F8F92"/>
                </a:solidFill>
                <a:latin typeface="Inter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00984" y="2606040"/>
            <a:ext cx="1188720" cy="77724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70248" y="2724912"/>
            <a:ext cx="91440" cy="91440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00984" y="2606040"/>
            <a:ext cx="1188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>
                <a:solidFill>
                  <a:srgbClr val="EAEBEA"/>
                </a:solidFill>
                <a:latin typeface="Inter"/>
              </a:rPr>
              <a:t>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2606040"/>
            <a:ext cx="1600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0">
                <a:solidFill>
                  <a:srgbClr val="3F8F92"/>
                </a:solidFill>
                <a:latin typeface="Inter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94860" y="2606040"/>
            <a:ext cx="1188720" cy="77724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64124" y="2724912"/>
            <a:ext cx="91440" cy="91440"/>
          </a:xfrm>
          <a:prstGeom prst="ellipse">
            <a:avLst/>
          </a:prstGeom>
          <a:solidFill>
            <a:srgbClr val="D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4860" y="2606040"/>
            <a:ext cx="1188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>
                <a:solidFill>
                  <a:srgbClr val="EAEBEA"/>
                </a:solidFill>
                <a:latin typeface="Inter"/>
              </a:rPr>
              <a:t>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5292" y="2606040"/>
            <a:ext cx="1600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0">
                <a:solidFill>
                  <a:srgbClr val="3F8F92"/>
                </a:solidFill>
                <a:latin typeface="Inter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88736" y="2606040"/>
            <a:ext cx="1188720" cy="77724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0" y="2724912"/>
            <a:ext cx="91440" cy="91440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8736" y="2606040"/>
            <a:ext cx="1188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>
                <a:solidFill>
                  <a:srgbClr val="EAEBEA"/>
                </a:solidFill>
                <a:latin typeface="Inter"/>
              </a:rPr>
              <a:t>QC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2606040"/>
            <a:ext cx="1600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0">
                <a:solidFill>
                  <a:srgbClr val="3F8F92"/>
                </a:solidFill>
                <a:latin typeface="Inter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82612" y="2606040"/>
            <a:ext cx="1188720" cy="77724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51876" y="2724912"/>
            <a:ext cx="91440" cy="91440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82612" y="2606040"/>
            <a:ext cx="1188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>
                <a:solidFill>
                  <a:srgbClr val="EAEBEA"/>
                </a:solidFill>
                <a:latin typeface="Inter"/>
              </a:rPr>
              <a:t>Safety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3044" y="2606040"/>
            <a:ext cx="1600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0">
                <a:solidFill>
                  <a:srgbClr val="3F8F92"/>
                </a:solidFill>
                <a:latin typeface="Inter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76488" y="2606040"/>
            <a:ext cx="1188720" cy="77724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45752" y="2724912"/>
            <a:ext cx="91440" cy="91440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76488" y="2606040"/>
            <a:ext cx="1188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>
                <a:solidFill>
                  <a:srgbClr val="EAEBEA"/>
                </a:solidFill>
                <a:latin typeface="Inter"/>
              </a:rPr>
              <a:t>Merge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2606040"/>
            <a:ext cx="1600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0">
                <a:solidFill>
                  <a:srgbClr val="3F8F92"/>
                </a:solidFill>
                <a:latin typeface="Inter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70364" y="2606040"/>
            <a:ext cx="1188720" cy="77724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739628" y="2724912"/>
            <a:ext cx="91440" cy="91440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70364" y="2606040"/>
            <a:ext cx="1188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>
                <a:solidFill>
                  <a:srgbClr val="EAEBEA"/>
                </a:solidFill>
                <a:latin typeface="Inter"/>
              </a:rPr>
              <a:t>Publish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3794760"/>
            <a:ext cx="3310128" cy="155448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76" y="399592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spc="120">
                <a:solidFill>
                  <a:srgbClr val="8A8F8E"/>
                </a:solidFill>
                <a:latin typeface="JetBrains Mono"/>
              </a:rPr>
              <a:t>LAUNCHPAD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" y="4325112"/>
            <a:ext cx="2834640" cy="8778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>
                <a:solidFill>
                  <a:srgbClr val="B7BBBA"/>
                </a:solidFill>
                <a:latin typeface="Inter"/>
              </a:rPr>
              <a:t>Your control desk. Pause or stop anything, at any moment.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24528" y="3794760"/>
            <a:ext cx="3310128" cy="155448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62272" y="399592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spc="120">
                <a:solidFill>
                  <a:srgbClr val="8A8F8E"/>
                </a:solidFill>
                <a:latin typeface="JetBrains Mono"/>
              </a:rPr>
              <a:t>BOARDROOM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62272" y="4325112"/>
            <a:ext cx="2834640" cy="8778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>
                <a:solidFill>
                  <a:srgbClr val="B7BBBA"/>
                </a:solidFill>
                <a:latin typeface="Inter"/>
              </a:rPr>
              <a:t>Where the AI workers coordinate, out in the open.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35824" y="3794760"/>
            <a:ext cx="3310128" cy="155448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778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73568" y="399592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spc="120">
                <a:solidFill>
                  <a:srgbClr val="61C1C4"/>
                </a:solidFill>
                <a:latin typeface="JetBrains Mono"/>
              </a:rPr>
              <a:t>THE PROMISE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73568" y="4325112"/>
            <a:ext cx="2834640" cy="8778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>
                <a:solidFill>
                  <a:srgbClr val="B7BBBA"/>
                </a:solidFill>
                <a:latin typeface="Inter"/>
              </a:rPr>
              <a:t>Autonomy with observability. You stay in command.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6095847" cy="41148"/>
          </a:xfrm>
          <a:prstGeom prst="rect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746150" y="6473952"/>
            <a:ext cx="80467" cy="135331"/>
          </a:xfrm>
          <a:custGeom>
            <a:avLst/>
            <a:gdLst/>
            <a:ahLst/>
            <a:cxnLst/>
            <a:rect l="l" t="t" r="r" b="b"/>
            <a:pathLst>
              <a:path w="44" h="74">
                <a:moveTo>
                  <a:pt x="0" y="0"/>
                </a:moveTo>
                <a:lnTo>
                  <a:pt x="0" y="62"/>
                </a:lnTo>
                <a:lnTo>
                  <a:pt x="15" y="47"/>
                </a:lnTo>
                <a:lnTo>
                  <a:pt x="28" y="74"/>
                </a:lnTo>
                <a:lnTo>
                  <a:pt x="36" y="70"/>
                </a:lnTo>
                <a:lnTo>
                  <a:pt x="23" y="43"/>
                </a:lnTo>
                <a:lnTo>
                  <a:pt x="44" y="43"/>
                </a:lnTo>
                <a:close/>
              </a:path>
            </a:pathLst>
          </a:cu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08329" y="6462979"/>
            <a:ext cx="51206" cy="40233"/>
          </a:xfrm>
          <a:prstGeom prst="roundRect">
            <a:avLst>
              <a:gd name="adj" fmla="val 35000"/>
            </a:avLst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19302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41248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28446" y="6452006"/>
            <a:ext cx="10972" cy="10972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7552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EAEBEA"/>
                </a:solidFill>
                <a:latin typeface="JetBrains Mono"/>
              </a:rPr>
              <a:t>Un</a:t>
            </a:r>
            <a:r>
              <a:rPr sz="1000" b="1">
                <a:solidFill>
                  <a:srgbClr val="61C1C4"/>
                </a:solidFill>
                <a:latin typeface="JetBrains Mono"/>
              </a:rPr>
              <a:t>Click</a:t>
            </a:r>
            <a:r>
              <a:rPr sz="1000" b="0">
                <a:solidFill>
                  <a:srgbClr val="8A8F8E"/>
                </a:solidFill>
                <a:latin typeface="JetBrains Mono"/>
              </a:rPr>
              <a:t>   ·   Deep dive · Autopilot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88575" y="64008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8A8F8E"/>
                </a:solidFill>
                <a:latin typeface="JetBrains Mono"/>
              </a:rPr>
              <a:t>08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937760" y="-6400800"/>
            <a:ext cx="10972800" cy="10972800"/>
          </a:xfrm>
          <a:prstGeom prst="ellipse">
            <a:avLst/>
          </a:prstGeom>
          <a:solidFill>
            <a:srgbClr val="61C1C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530352"/>
            <a:ext cx="694944" cy="384048"/>
          </a:xfrm>
          <a:prstGeom prst="roundRect">
            <a:avLst>
              <a:gd name="adj" fmla="val 50000"/>
            </a:avLst>
          </a:prstGeom>
          <a:solidFill>
            <a:srgbClr val="101818"/>
          </a:solidFill>
          <a:ln w="1270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" y="681228"/>
            <a:ext cx="82296" cy="82296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303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spc="180">
                <a:solidFill>
                  <a:srgbClr val="61C1C4"/>
                </a:solidFill>
                <a:latin typeface="JetBrains Mono"/>
              </a:rPr>
              <a:t>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51560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>
                <a:solidFill>
                  <a:srgbClr val="EAEBEA"/>
                </a:solidFill>
                <a:latin typeface="Inter"/>
              </a:rPr>
              <a:t>Transparent. Trusted. </a:t>
            </a:r>
            <a:r>
              <a:rPr sz="4000" b="1">
                <a:solidFill>
                  <a:srgbClr val="61C1C4"/>
                </a:solidFill>
                <a:latin typeface="Inter"/>
              </a:rPr>
              <a:t>Traceable.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48840"/>
            <a:ext cx="3310128" cy="278892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350008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EAEBEA"/>
                </a:solidFill>
                <a:latin typeface="Inter"/>
              </a:rPr>
              <a:t>Your data stays yours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898648"/>
            <a:ext cx="2834640" cy="1892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B7BBBA"/>
                </a:solidFill>
                <a:latin typeface="Inter"/>
              </a:rPr>
              <a:t>Processed in real time, not stored or sold. Connections are encrypted. You choose exactly what is shared.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2148840"/>
            <a:ext cx="3310128" cy="278892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2350008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EAEBEA"/>
                </a:solidFill>
                <a:latin typeface="Inter"/>
              </a:rPr>
              <a:t>Every action is logged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898648"/>
            <a:ext cx="2834640" cy="1892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B7BBBA"/>
                </a:solidFill>
                <a:latin typeface="Inter"/>
              </a:rPr>
              <a:t>An audit trail records who asked, who approved, the exact scope, the proof, and how it can be stopped.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35824" y="2148840"/>
            <a:ext cx="3310128" cy="278892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8" y="2350008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EAEBEA"/>
                </a:solidFill>
                <a:latin typeface="Inter"/>
              </a:rPr>
              <a:t>You hold the kill switch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898648"/>
            <a:ext cx="2834640" cy="1892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B7BBBA"/>
                </a:solidFill>
                <a:latin typeface="Inter"/>
              </a:rPr>
              <a:t>High-impact actions need permission. If anything drifts, one switch stops it immediately.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257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8E"/>
                </a:solidFill>
                <a:latin typeface="JetBrains Mono"/>
              </a:rPr>
              <a:t>Five questions, always answerable:  who requested it  ·  who approved it  ·  what scope  ·  what proof  ·  how to stop 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6857828" cy="41148"/>
          </a:xfrm>
          <a:prstGeom prst="rect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746150" y="6473952"/>
            <a:ext cx="80467" cy="135331"/>
          </a:xfrm>
          <a:custGeom>
            <a:avLst/>
            <a:gdLst/>
            <a:ahLst/>
            <a:cxnLst/>
            <a:rect l="l" t="t" r="r" b="b"/>
            <a:pathLst>
              <a:path w="44" h="74">
                <a:moveTo>
                  <a:pt x="0" y="0"/>
                </a:moveTo>
                <a:lnTo>
                  <a:pt x="0" y="62"/>
                </a:lnTo>
                <a:lnTo>
                  <a:pt x="15" y="47"/>
                </a:lnTo>
                <a:lnTo>
                  <a:pt x="28" y="74"/>
                </a:lnTo>
                <a:lnTo>
                  <a:pt x="36" y="70"/>
                </a:lnTo>
                <a:lnTo>
                  <a:pt x="23" y="43"/>
                </a:lnTo>
                <a:lnTo>
                  <a:pt x="44" y="43"/>
                </a:lnTo>
                <a:close/>
              </a:path>
            </a:pathLst>
          </a:cu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8329" y="6462979"/>
            <a:ext cx="51206" cy="40233"/>
          </a:xfrm>
          <a:prstGeom prst="roundRect">
            <a:avLst>
              <a:gd name="adj" fmla="val 35000"/>
            </a:avLst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9302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8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8446" y="6452006"/>
            <a:ext cx="10972" cy="10972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EAEBEA"/>
                </a:solidFill>
                <a:latin typeface="JetBrains Mono"/>
              </a:rPr>
              <a:t>Un</a:t>
            </a:r>
            <a:r>
              <a:rPr sz="1000" b="1">
                <a:solidFill>
                  <a:srgbClr val="61C1C4"/>
                </a:solidFill>
                <a:latin typeface="JetBrains Mono"/>
              </a:rPr>
              <a:t>Click</a:t>
            </a:r>
            <a:r>
              <a:rPr sz="1000" b="0">
                <a:solidFill>
                  <a:srgbClr val="8A8F8E"/>
                </a:solidFill>
                <a:latin typeface="JetBrains Mono"/>
              </a:rPr>
              <a:t>   ·   Trust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88575" y="64008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8A8F8E"/>
                </a:solidFill>
                <a:latin typeface="JetBrains Mono"/>
              </a:rPr>
              <a:t>09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937760" y="-6400800"/>
            <a:ext cx="10972800" cy="10972800"/>
          </a:xfrm>
          <a:prstGeom prst="ellipse">
            <a:avLst/>
          </a:prstGeom>
          <a:solidFill>
            <a:srgbClr val="61C1C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530352"/>
            <a:ext cx="2713939" cy="384048"/>
          </a:xfrm>
          <a:prstGeom prst="roundRect">
            <a:avLst>
              <a:gd name="adj" fmla="val 50000"/>
            </a:avLst>
          </a:prstGeom>
          <a:solidFill>
            <a:srgbClr val="101818"/>
          </a:solidFill>
          <a:ln w="1270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" y="681228"/>
            <a:ext cx="82296" cy="82296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303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spc="180">
                <a:solidFill>
                  <a:srgbClr val="61C1C4"/>
                </a:solidFill>
                <a:latin typeface="JetBrains Mono"/>
              </a:rPr>
              <a:t>WHY UNCLICK WINS  ·  THE MOAT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14400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EAEBEA"/>
                </a:solidFill>
                <a:latin typeface="Inter"/>
              </a:rPr>
              <a:t>We do not compete with ChatGPT or Claude. </a:t>
            </a:r>
            <a:r>
              <a:rPr sz="3000" b="1">
                <a:solidFill>
                  <a:srgbClr val="61C1C4"/>
                </a:solidFill>
                <a:latin typeface="Inter"/>
              </a:rPr>
              <a:t>We make all of them better.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5852160" cy="420624"/>
          </a:xfrm>
          <a:prstGeom prst="roundRect">
            <a:avLst>
              <a:gd name="adj" fmla="val 6000"/>
            </a:avLst>
          </a:prstGeom>
          <a:solidFill>
            <a:srgbClr val="141515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28800"/>
            <a:ext cx="58521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spc="100">
                <a:solidFill>
                  <a:srgbClr val="8A8F8E"/>
                </a:solidFill>
                <a:latin typeface="JetBrains Mono"/>
              </a:rPr>
              <a:t>AI ON ITS 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02552" y="1828800"/>
            <a:ext cx="4572000" cy="420624"/>
          </a:xfrm>
          <a:prstGeom prst="roundRect">
            <a:avLst>
              <a:gd name="adj" fmla="val 6000"/>
            </a:avLst>
          </a:prstGeom>
          <a:solidFill>
            <a:srgbClr val="101A1A"/>
          </a:solidFill>
          <a:ln w="1270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85432" y="1828800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spc="100">
                <a:solidFill>
                  <a:srgbClr val="61C1C4"/>
                </a:solidFill>
                <a:latin typeface="JetBrains Mono"/>
              </a:rPr>
              <a:t>AI + UNCLICK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249424"/>
            <a:ext cx="5852160" cy="475488"/>
          </a:xfrm>
          <a:prstGeom prst="roundRect">
            <a:avLst>
              <a:gd name="adj" fmla="val 6000"/>
            </a:avLst>
          </a:prstGeom>
          <a:solidFill>
            <a:srgbClr val="0F1010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249424"/>
            <a:ext cx="55778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9A6B6B"/>
                </a:solidFill>
                <a:latin typeface="Inter"/>
              </a:rPr>
              <a:t>✕  </a:t>
            </a:r>
            <a:r>
              <a:rPr sz="1300" b="0">
                <a:solidFill>
                  <a:srgbClr val="8A8F8E"/>
                </a:solidFill>
                <a:latin typeface="Inter"/>
              </a:rPr>
              <a:t>Forgets between sessions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02552" y="2249424"/>
            <a:ext cx="4572000" cy="475488"/>
          </a:xfrm>
          <a:prstGeom prst="roundRect">
            <a:avLst>
              <a:gd name="adj" fmla="val 6000"/>
            </a:avLst>
          </a:prstGeom>
          <a:solidFill>
            <a:srgbClr val="0E1616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85432" y="2249424"/>
            <a:ext cx="4297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61C1C4"/>
                </a:solidFill>
                <a:latin typeface="Inter"/>
              </a:rPr>
              <a:t>✓  </a:t>
            </a:r>
            <a:r>
              <a:rPr sz="1300" b="0">
                <a:solidFill>
                  <a:srgbClr val="EAEBEA"/>
                </a:solidFill>
                <a:latin typeface="Inter"/>
              </a:rPr>
              <a:t>Remembers forever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724912"/>
            <a:ext cx="5852160" cy="475488"/>
          </a:xfrm>
          <a:prstGeom prst="roundRect">
            <a:avLst>
              <a:gd name="adj" fmla="val 6000"/>
            </a:avLst>
          </a:prstGeom>
          <a:solidFill>
            <a:srgbClr val="0F1010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724912"/>
            <a:ext cx="55778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9A6B6B"/>
                </a:solidFill>
                <a:latin typeface="Inter"/>
              </a:rPr>
              <a:t>✕  </a:t>
            </a:r>
            <a:r>
              <a:rPr sz="1300" b="0">
                <a:solidFill>
                  <a:srgbClr val="8A8F8E"/>
                </a:solidFill>
                <a:latin typeface="Inter"/>
              </a:rPr>
              <a:t>Memory trapped in one vendor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02552" y="2724912"/>
            <a:ext cx="4572000" cy="475488"/>
          </a:xfrm>
          <a:prstGeom prst="roundRect">
            <a:avLst>
              <a:gd name="adj" fmla="val 6000"/>
            </a:avLst>
          </a:prstGeom>
          <a:solidFill>
            <a:srgbClr val="0E1616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2" y="2724912"/>
            <a:ext cx="4297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61C1C4"/>
                </a:solidFill>
                <a:latin typeface="Inter"/>
              </a:rPr>
              <a:t>✓  </a:t>
            </a:r>
            <a:r>
              <a:rPr sz="1300" b="0">
                <a:solidFill>
                  <a:srgbClr val="EAEBEA"/>
                </a:solidFill>
                <a:latin typeface="Inter"/>
              </a:rPr>
              <a:t>One brain across all AIs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200400"/>
            <a:ext cx="5852160" cy="475488"/>
          </a:xfrm>
          <a:prstGeom prst="roundRect">
            <a:avLst>
              <a:gd name="adj" fmla="val 6000"/>
            </a:avLst>
          </a:prstGeom>
          <a:solidFill>
            <a:srgbClr val="0F1010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200400"/>
            <a:ext cx="55778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9A6B6B"/>
                </a:solidFill>
                <a:latin typeface="Inter"/>
              </a:rPr>
              <a:t>✕  </a:t>
            </a:r>
            <a:r>
              <a:rPr sz="1300" b="0">
                <a:solidFill>
                  <a:srgbClr val="8A8F8E"/>
                </a:solidFill>
                <a:latin typeface="Inter"/>
              </a:rPr>
              <a:t>Cannot touch your 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02552" y="3200400"/>
            <a:ext cx="4572000" cy="475488"/>
          </a:xfrm>
          <a:prstGeom prst="roundRect">
            <a:avLst>
              <a:gd name="adj" fmla="val 6000"/>
            </a:avLst>
          </a:prstGeom>
          <a:solidFill>
            <a:srgbClr val="0E1616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85432" y="3200400"/>
            <a:ext cx="4297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61C1C4"/>
                </a:solidFill>
                <a:latin typeface="Inter"/>
              </a:rPr>
              <a:t>✓  </a:t>
            </a:r>
            <a:r>
              <a:rPr sz="1300" b="0">
                <a:solidFill>
                  <a:srgbClr val="EAEBEA"/>
                </a:solidFill>
                <a:latin typeface="Inter"/>
              </a:rPr>
              <a:t>450+ tools to 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675887"/>
            <a:ext cx="5852160" cy="475488"/>
          </a:xfrm>
          <a:prstGeom prst="roundRect">
            <a:avLst>
              <a:gd name="adj" fmla="val 6000"/>
            </a:avLst>
          </a:prstGeom>
          <a:solidFill>
            <a:srgbClr val="0F1010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675887"/>
            <a:ext cx="55778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9A6B6B"/>
                </a:solidFill>
                <a:latin typeface="Inter"/>
              </a:rPr>
              <a:t>✕  </a:t>
            </a:r>
            <a:r>
              <a:rPr sz="1300" b="0">
                <a:solidFill>
                  <a:srgbClr val="8A8F8E"/>
                </a:solidFill>
                <a:latin typeface="Inter"/>
              </a:rPr>
              <a:t>No safety trail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02552" y="3675887"/>
            <a:ext cx="4572000" cy="475488"/>
          </a:xfrm>
          <a:prstGeom prst="roundRect">
            <a:avLst>
              <a:gd name="adj" fmla="val 6000"/>
            </a:avLst>
          </a:prstGeom>
          <a:solidFill>
            <a:srgbClr val="0E1616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85432" y="3675887"/>
            <a:ext cx="4297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61C1C4"/>
                </a:solidFill>
                <a:latin typeface="Inter"/>
              </a:rPr>
              <a:t>✓  </a:t>
            </a:r>
            <a:r>
              <a:rPr sz="1300" b="0">
                <a:solidFill>
                  <a:srgbClr val="EAEBEA"/>
                </a:solidFill>
                <a:latin typeface="Inter"/>
              </a:rPr>
              <a:t>Full audit + kill switch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151376"/>
            <a:ext cx="5852160" cy="475488"/>
          </a:xfrm>
          <a:prstGeom prst="roundRect">
            <a:avLst>
              <a:gd name="adj" fmla="val 6000"/>
            </a:avLst>
          </a:prstGeom>
          <a:solidFill>
            <a:srgbClr val="0F1010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151376"/>
            <a:ext cx="55778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9A6B6B"/>
                </a:solidFill>
                <a:latin typeface="Inter"/>
              </a:rPr>
              <a:t>✕  </a:t>
            </a:r>
            <a:r>
              <a:rPr sz="1300" b="0">
                <a:solidFill>
                  <a:srgbClr val="8A8F8E"/>
                </a:solidFill>
                <a:latin typeface="Inter"/>
              </a:rPr>
              <a:t>Re-setup everywhere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02552" y="4151376"/>
            <a:ext cx="4572000" cy="475488"/>
          </a:xfrm>
          <a:prstGeom prst="roundRect">
            <a:avLst>
              <a:gd name="adj" fmla="val 6000"/>
            </a:avLst>
          </a:prstGeom>
          <a:solidFill>
            <a:srgbClr val="0E1616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85432" y="4151376"/>
            <a:ext cx="4297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61C1C4"/>
                </a:solidFill>
                <a:latin typeface="Inter"/>
              </a:rPr>
              <a:t>✓  </a:t>
            </a:r>
            <a:r>
              <a:rPr sz="1300" b="0">
                <a:solidFill>
                  <a:srgbClr val="EAEBEA"/>
                </a:solidFill>
                <a:latin typeface="Inter"/>
              </a:rPr>
              <a:t>Set up once, works everywhere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440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61C1C4"/>
                </a:solidFill>
                <a:latin typeface="Inter"/>
              </a:rPr>
              <a:t>The more you connect, the more it does. That is the moat.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7619809" cy="41148"/>
          </a:xfrm>
          <a:prstGeom prst="rect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746150" y="6473952"/>
            <a:ext cx="80467" cy="135331"/>
          </a:xfrm>
          <a:custGeom>
            <a:avLst/>
            <a:gdLst/>
            <a:ahLst/>
            <a:cxnLst/>
            <a:rect l="l" t="t" r="r" b="b"/>
            <a:pathLst>
              <a:path w="44" h="74">
                <a:moveTo>
                  <a:pt x="0" y="0"/>
                </a:moveTo>
                <a:lnTo>
                  <a:pt x="0" y="62"/>
                </a:lnTo>
                <a:lnTo>
                  <a:pt x="15" y="47"/>
                </a:lnTo>
                <a:lnTo>
                  <a:pt x="28" y="74"/>
                </a:lnTo>
                <a:lnTo>
                  <a:pt x="36" y="70"/>
                </a:lnTo>
                <a:lnTo>
                  <a:pt x="23" y="43"/>
                </a:lnTo>
                <a:lnTo>
                  <a:pt x="44" y="43"/>
                </a:lnTo>
                <a:close/>
              </a:path>
            </a:pathLst>
          </a:cu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8329" y="6462979"/>
            <a:ext cx="51206" cy="40233"/>
          </a:xfrm>
          <a:prstGeom prst="roundRect">
            <a:avLst>
              <a:gd name="adj" fmla="val 35000"/>
            </a:avLst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9302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41248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8446" y="6452006"/>
            <a:ext cx="10972" cy="10972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EAEBEA"/>
                </a:solidFill>
                <a:latin typeface="JetBrains Mono"/>
              </a:rPr>
              <a:t>Un</a:t>
            </a:r>
            <a:r>
              <a:rPr sz="1000" b="1">
                <a:solidFill>
                  <a:srgbClr val="61C1C4"/>
                </a:solidFill>
                <a:latin typeface="JetBrains Mono"/>
              </a:rPr>
              <a:t>Click</a:t>
            </a:r>
            <a:r>
              <a:rPr sz="1000" b="0">
                <a:solidFill>
                  <a:srgbClr val="8A8F8E"/>
                </a:solidFill>
                <a:latin typeface="JetBrains Mono"/>
              </a:rPr>
              <a:t>   ·   Why UnClick wins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88575" y="64008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8A8F8E"/>
                </a:solidFill>
                <a:latin typeface="JetBrains Mono"/>
              </a:rPr>
              <a:t>10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937760" y="-6400800"/>
            <a:ext cx="10972800" cy="10972800"/>
          </a:xfrm>
          <a:prstGeom prst="ellipse">
            <a:avLst/>
          </a:prstGeom>
          <a:solidFill>
            <a:srgbClr val="61C1C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530352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01818"/>
          </a:solidFill>
          <a:ln w="1270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" y="681228"/>
            <a:ext cx="82296" cy="82296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303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spc="180">
                <a:solidFill>
                  <a:srgbClr val="61C1C4"/>
                </a:solidFill>
                <a:latin typeface="JetBrains Mono"/>
              </a:rPr>
              <a:t>THE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51560"/>
            <a:ext cx="5943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800" b="1">
                <a:solidFill>
                  <a:srgbClr val="EAEBEA"/>
                </a:solidFill>
                <a:latin typeface="Inter"/>
              </a:rPr>
              <a:t>Every AI needs a </a:t>
            </a:r>
            <a:r>
              <a:rPr sz="3800" b="1">
                <a:solidFill>
                  <a:srgbClr val="61C1C4"/>
                </a:solidFill>
                <a:latin typeface="Inter"/>
              </a:rPr>
              <a:t>memory and hands.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94560"/>
            <a:ext cx="57607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B7BBBA"/>
                </a:solidFill>
                <a:latin typeface="Inter"/>
              </a:rPr>
              <a:t>Every knowledge worker is getting an AI assistant. Every one of them is amnesiac and tool-less out of the box. UnClick is the layer that fixes that, for individuals first, then teams, then enterprises.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526280"/>
            <a:ext cx="5760720" cy="86868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461772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8A8F8E"/>
                </a:solidFill>
                <a:latin typeface="JetBrains Mono"/>
              </a:rPr>
              <a:t>Sizing to confirm with live figures  →  see PLACEHOLDERS.md</a:t>
            </a:r>
          </a:p>
        </p:txBody>
      </p:sp>
      <p:sp>
        <p:nvSpPr>
          <p:cNvPr id="10" name="Oval 9"/>
          <p:cNvSpPr/>
          <p:nvPr/>
        </p:nvSpPr>
        <p:spPr>
          <a:xfrm>
            <a:off x="7315200" y="1554480"/>
            <a:ext cx="3657600" cy="3657600"/>
          </a:xfrm>
          <a:prstGeom prst="ellipse">
            <a:avLst/>
          </a:prstGeom>
          <a:solidFill>
            <a:srgbClr val="61C1C4">
              <a:alpha val="5000"/>
            </a:srgbClr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63840" y="2103120"/>
            <a:ext cx="2560320" cy="2560320"/>
          </a:xfrm>
          <a:prstGeom prst="ellipse">
            <a:avLst/>
          </a:prstGeom>
          <a:solidFill>
            <a:srgbClr val="61C1C4">
              <a:alpha val="9000"/>
            </a:srgbClr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94192" y="2633472"/>
            <a:ext cx="1499616" cy="1499616"/>
          </a:xfrm>
          <a:prstGeom prst="ellipse">
            <a:avLst/>
          </a:prstGeom>
          <a:solidFill>
            <a:srgbClr val="61C1C4">
              <a:alpha val="20000"/>
            </a:srgbClr>
          </a:solidFill>
          <a:ln w="15240">
            <a:solidFill>
              <a:srgbClr val="61C1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6916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8A8F8E"/>
                </a:solidFill>
                <a:latin typeface="JetBrains Mono"/>
              </a:rPr>
              <a:t>TAM  [ all AI users worldwide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2860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8A8F8E"/>
                </a:solidFill>
                <a:latin typeface="JetBrains Mono"/>
              </a:rPr>
              <a:t>SAM  [ AI subscribers you reach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18211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61C1C4"/>
                </a:solidFill>
                <a:latin typeface="JetBrains Mono"/>
              </a:rPr>
              <a:t>SOM</a:t>
            </a:r>
          </a:p>
          <a:p>
            <a:pPr algn="ctr">
              <a:lnSpc>
                <a:spcPct val="112000"/>
              </a:lnSpc>
            </a:pPr>
            <a:r>
              <a:rPr sz="1000" b="0">
                <a:solidFill>
                  <a:srgbClr val="61C1C4"/>
                </a:solidFill>
                <a:latin typeface="JetBrains Mono"/>
              </a:rPr>
              <a:t>[ year 1 ]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8381790" cy="41148"/>
          </a:xfrm>
          <a:prstGeom prst="rect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746150" y="6473952"/>
            <a:ext cx="80467" cy="135331"/>
          </a:xfrm>
          <a:custGeom>
            <a:avLst/>
            <a:gdLst/>
            <a:ahLst/>
            <a:cxnLst/>
            <a:rect l="l" t="t" r="r" b="b"/>
            <a:pathLst>
              <a:path w="44" h="74">
                <a:moveTo>
                  <a:pt x="0" y="0"/>
                </a:moveTo>
                <a:lnTo>
                  <a:pt x="0" y="62"/>
                </a:lnTo>
                <a:lnTo>
                  <a:pt x="15" y="47"/>
                </a:lnTo>
                <a:lnTo>
                  <a:pt x="28" y="74"/>
                </a:lnTo>
                <a:lnTo>
                  <a:pt x="36" y="70"/>
                </a:lnTo>
                <a:lnTo>
                  <a:pt x="23" y="43"/>
                </a:lnTo>
                <a:lnTo>
                  <a:pt x="44" y="43"/>
                </a:lnTo>
                <a:close/>
              </a:path>
            </a:pathLst>
          </a:cu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8329" y="6462979"/>
            <a:ext cx="51206" cy="40233"/>
          </a:xfrm>
          <a:prstGeom prst="roundRect">
            <a:avLst>
              <a:gd name="adj" fmla="val 35000"/>
            </a:avLst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9302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8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8446" y="6452006"/>
            <a:ext cx="10972" cy="10972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EAEBEA"/>
                </a:solidFill>
                <a:latin typeface="JetBrains Mono"/>
              </a:rPr>
              <a:t>Un</a:t>
            </a:r>
            <a:r>
              <a:rPr sz="1000" b="1">
                <a:solidFill>
                  <a:srgbClr val="61C1C4"/>
                </a:solidFill>
                <a:latin typeface="JetBrains Mono"/>
              </a:rPr>
              <a:t>Click</a:t>
            </a:r>
            <a:r>
              <a:rPr sz="1000" b="0">
                <a:solidFill>
                  <a:srgbClr val="8A8F8E"/>
                </a:solidFill>
                <a:latin typeface="JetBrains Mono"/>
              </a:rPr>
              <a:t>   ·   The opportunity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8575" y="64008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8A8F8E"/>
                </a:solidFill>
                <a:latin typeface="JetBrains Mono"/>
              </a:rPr>
              <a:t>11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937760" y="-6400800"/>
            <a:ext cx="10972800" cy="10972800"/>
          </a:xfrm>
          <a:prstGeom prst="ellipse">
            <a:avLst/>
          </a:prstGeom>
          <a:solidFill>
            <a:srgbClr val="61C1C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530352"/>
            <a:ext cx="1283817" cy="384048"/>
          </a:xfrm>
          <a:prstGeom prst="roundRect">
            <a:avLst>
              <a:gd name="adj" fmla="val 50000"/>
            </a:avLst>
          </a:prstGeom>
          <a:solidFill>
            <a:srgbClr val="101818"/>
          </a:solidFill>
          <a:ln w="1270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" y="681228"/>
            <a:ext cx="82296" cy="82296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303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spc="180">
                <a:solidFill>
                  <a:srgbClr val="61C1C4"/>
                </a:solidFill>
                <a:latin typeface="JetBrains Mono"/>
              </a:rPr>
              <a:t>WHERE WE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51560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600" b="1">
                <a:solidFill>
                  <a:srgbClr val="EAEBEA"/>
                </a:solidFill>
                <a:latin typeface="Inter"/>
              </a:rPr>
              <a:t>The product is real, live, and </a:t>
            </a:r>
            <a:r>
              <a:rPr sz="3600" b="1">
                <a:solidFill>
                  <a:srgbClr val="61C1C4"/>
                </a:solidFill>
                <a:latin typeface="Inter"/>
              </a:rPr>
              <a:t>shipping.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03120"/>
            <a:ext cx="3246120" cy="123444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304288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61C1C4"/>
                </a:solidFill>
                <a:latin typeface="JetBrains Mono"/>
              </a:rPr>
              <a:t>450+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24328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8A8F8E"/>
                </a:solidFill>
                <a:latin typeface="Inter"/>
              </a:rPr>
              <a:t>callable endpoints, 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9663" y="2103120"/>
            <a:ext cx="3246120" cy="123444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7" y="2304288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61C1C4"/>
                </a:solidFill>
                <a:latin typeface="JetBrains Mono"/>
              </a:rPr>
              <a:t>178+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624328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8A8F8E"/>
                </a:solidFill>
                <a:latin typeface="Inter"/>
              </a:rPr>
              <a:t>tools across 21 groups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6096" y="2103120"/>
            <a:ext cx="3246120" cy="123444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04288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61C1C4"/>
                </a:solidFill>
                <a:latin typeface="JetBrains Mono"/>
              </a:rPr>
              <a:t>5+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2983" y="2624328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8A8F8E"/>
                </a:solidFill>
                <a:latin typeface="Inter"/>
              </a:rPr>
              <a:t>AI clients supported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11880"/>
            <a:ext cx="2377440" cy="114300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77647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86DDE0"/>
                </a:solidFill>
                <a:latin typeface="JetBrains Mono"/>
              </a:rPr>
              <a:t>[ users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4348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8A8F8E"/>
                </a:solidFill>
                <a:latin typeface="Inter"/>
              </a:rPr>
              <a:t>active users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9272" y="3611880"/>
            <a:ext cx="2377440" cy="114300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8728" y="377647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86DDE0"/>
                </a:solidFill>
                <a:latin typeface="JetBrains Mono"/>
              </a:rPr>
              <a:t>[ #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44348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8A8F8E"/>
                </a:solidFill>
                <a:latin typeface="Inter"/>
              </a:rPr>
              <a:t>memories stored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25312" y="3611880"/>
            <a:ext cx="2377440" cy="114300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377647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86DDE0"/>
                </a:solidFill>
                <a:latin typeface="JetBrains Mono"/>
              </a:rPr>
              <a:t>[ %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912" y="44348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8A8F8E"/>
                </a:solidFill>
                <a:latin typeface="Inter"/>
              </a:rPr>
              <a:t>weekly growth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31352" y="3611880"/>
            <a:ext cx="2377440" cy="114300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50808" y="377647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86DDE0"/>
                </a:solidFill>
                <a:latin typeface="JetBrains Mono"/>
              </a:rPr>
              <a:t>[ #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9952" y="44348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8A8F8E"/>
                </a:solidFill>
                <a:latin typeface="Inter"/>
              </a:rPr>
              <a:t>sessions / week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2120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8A8F8E"/>
                </a:solidFill>
                <a:latin typeface="Inter"/>
              </a:rPr>
              <a:t>Live at unclick.world. Built by an AI fleet that runs on UnClick itself.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9143771" cy="41148"/>
          </a:xfrm>
          <a:prstGeom prst="rect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746150" y="6473952"/>
            <a:ext cx="80467" cy="135331"/>
          </a:xfrm>
          <a:custGeom>
            <a:avLst/>
            <a:gdLst/>
            <a:ahLst/>
            <a:cxnLst/>
            <a:rect l="l" t="t" r="r" b="b"/>
            <a:pathLst>
              <a:path w="44" h="74">
                <a:moveTo>
                  <a:pt x="0" y="0"/>
                </a:moveTo>
                <a:lnTo>
                  <a:pt x="0" y="62"/>
                </a:lnTo>
                <a:lnTo>
                  <a:pt x="15" y="47"/>
                </a:lnTo>
                <a:lnTo>
                  <a:pt x="28" y="74"/>
                </a:lnTo>
                <a:lnTo>
                  <a:pt x="36" y="70"/>
                </a:lnTo>
                <a:lnTo>
                  <a:pt x="23" y="43"/>
                </a:lnTo>
                <a:lnTo>
                  <a:pt x="44" y="43"/>
                </a:lnTo>
                <a:close/>
              </a:path>
            </a:pathLst>
          </a:cu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8329" y="6462979"/>
            <a:ext cx="51206" cy="40233"/>
          </a:xfrm>
          <a:prstGeom prst="roundRect">
            <a:avLst>
              <a:gd name="adj" fmla="val 35000"/>
            </a:avLst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19302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1248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8446" y="6452006"/>
            <a:ext cx="10972" cy="10972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EAEBEA"/>
                </a:solidFill>
                <a:latin typeface="JetBrains Mono"/>
              </a:rPr>
              <a:t>Un</a:t>
            </a:r>
            <a:r>
              <a:rPr sz="1000" b="1">
                <a:solidFill>
                  <a:srgbClr val="61C1C4"/>
                </a:solidFill>
                <a:latin typeface="JetBrains Mono"/>
              </a:rPr>
              <a:t>Click</a:t>
            </a:r>
            <a:r>
              <a:rPr sz="1000" b="0">
                <a:solidFill>
                  <a:srgbClr val="8A8F8E"/>
                </a:solidFill>
                <a:latin typeface="JetBrains Mono"/>
              </a:rPr>
              <a:t>   ·   Where we 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88575" y="64008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8A8F8E"/>
                </a:solidFill>
                <a:latin typeface="JetBrains Mono"/>
              </a:rPr>
              <a:t>12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937760" y="-6400800"/>
            <a:ext cx="10972800" cy="10972800"/>
          </a:xfrm>
          <a:prstGeom prst="ellipse">
            <a:avLst/>
          </a:prstGeom>
          <a:solidFill>
            <a:srgbClr val="61C1C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530352"/>
            <a:ext cx="1704441" cy="384048"/>
          </a:xfrm>
          <a:prstGeom prst="roundRect">
            <a:avLst>
              <a:gd name="adj" fmla="val 50000"/>
            </a:avLst>
          </a:prstGeom>
          <a:solidFill>
            <a:srgbClr val="101818"/>
          </a:solidFill>
          <a:ln w="1270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" y="681228"/>
            <a:ext cx="82296" cy="82296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303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spc="180">
                <a:solidFill>
                  <a:srgbClr val="61C1C4"/>
                </a:solidFill>
                <a:latin typeface="JetBrains Mono"/>
              </a:rPr>
              <a:t>WHERE IT IS GOING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24128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EAEBEA"/>
                </a:solidFill>
                <a:latin typeface="Inter"/>
              </a:rPr>
              <a:t>From personal assistant to </a:t>
            </a:r>
            <a:r>
              <a:rPr sz="3400" b="1">
                <a:solidFill>
                  <a:srgbClr val="61C1C4"/>
                </a:solidFill>
                <a:latin typeface="Inter"/>
              </a:rPr>
              <a:t>the standard layer for all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286000"/>
            <a:ext cx="3310128" cy="265176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778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48716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spc="120">
                <a:solidFill>
                  <a:srgbClr val="61C1C4"/>
                </a:solidFill>
                <a:latin typeface="JetBrains Mono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816351"/>
            <a:ext cx="2834640" cy="1975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B7BBBA"/>
                </a:solidFill>
                <a:latin typeface="Inter"/>
              </a:rPr>
              <a:t>Memory and 450+ tools, live across every major AI client. One install, any device.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2286000"/>
            <a:ext cx="3310128" cy="265176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248716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spc="120">
                <a:solidFill>
                  <a:srgbClr val="8A8F8E"/>
                </a:solidFill>
                <a:latin typeface="JetBrains Mono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816351"/>
            <a:ext cx="2834640" cy="1975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B7BBBA"/>
                </a:solidFill>
                <a:latin typeface="Inter"/>
              </a:rPr>
              <a:t>Teams and Crews. Deeper Autopilot autonomy. More connectors, every week.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35824" y="2286000"/>
            <a:ext cx="3310128" cy="265176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8" y="248716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spc="120">
                <a:solidFill>
                  <a:srgbClr val="8A8F8E"/>
                </a:solidFill>
                <a:latin typeface="JetBrains Mono"/>
              </a:rPr>
              <a:t>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816351"/>
            <a:ext cx="2834640" cy="1975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B7BBBA"/>
                </a:solidFill>
                <a:latin typeface="Inter"/>
              </a:rPr>
              <a:t>Enterprise-grade compliance and audit. The default memory and tool layer for AI.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9905752" cy="41148"/>
          </a:xfrm>
          <a:prstGeom prst="rect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746150" y="6473952"/>
            <a:ext cx="80467" cy="135331"/>
          </a:xfrm>
          <a:custGeom>
            <a:avLst/>
            <a:gdLst/>
            <a:ahLst/>
            <a:cxnLst/>
            <a:rect l="l" t="t" r="r" b="b"/>
            <a:pathLst>
              <a:path w="44" h="74">
                <a:moveTo>
                  <a:pt x="0" y="0"/>
                </a:moveTo>
                <a:lnTo>
                  <a:pt x="0" y="62"/>
                </a:lnTo>
                <a:lnTo>
                  <a:pt x="15" y="47"/>
                </a:lnTo>
                <a:lnTo>
                  <a:pt x="28" y="74"/>
                </a:lnTo>
                <a:lnTo>
                  <a:pt x="36" y="70"/>
                </a:lnTo>
                <a:lnTo>
                  <a:pt x="23" y="43"/>
                </a:lnTo>
                <a:lnTo>
                  <a:pt x="44" y="43"/>
                </a:lnTo>
                <a:close/>
              </a:path>
            </a:pathLst>
          </a:cu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8329" y="6462979"/>
            <a:ext cx="51206" cy="40233"/>
          </a:xfrm>
          <a:prstGeom prst="roundRect">
            <a:avLst>
              <a:gd name="adj" fmla="val 35000"/>
            </a:avLst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9302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8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8446" y="6452006"/>
            <a:ext cx="10972" cy="10972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EAEBEA"/>
                </a:solidFill>
                <a:latin typeface="JetBrains Mono"/>
              </a:rPr>
              <a:t>Un</a:t>
            </a:r>
            <a:r>
              <a:rPr sz="1000" b="1">
                <a:solidFill>
                  <a:srgbClr val="61C1C4"/>
                </a:solidFill>
                <a:latin typeface="JetBrains Mono"/>
              </a:rPr>
              <a:t>Click</a:t>
            </a:r>
            <a:r>
              <a:rPr sz="1000" b="0">
                <a:solidFill>
                  <a:srgbClr val="8A8F8E"/>
                </a:solidFill>
                <a:latin typeface="JetBrains Mono"/>
              </a:rPr>
              <a:t>   ·   Where it is going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8575" y="64008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8A8F8E"/>
                </a:solidFill>
                <a:latin typeface="JetBrains Mono"/>
              </a:rPr>
              <a:t>13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937760" y="-6400800"/>
            <a:ext cx="10972800" cy="10972800"/>
          </a:xfrm>
          <a:prstGeom prst="ellipse">
            <a:avLst/>
          </a:prstGeom>
          <a:solidFill>
            <a:srgbClr val="61C1C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530352"/>
            <a:ext cx="610819" cy="384048"/>
          </a:xfrm>
          <a:prstGeom prst="roundRect">
            <a:avLst>
              <a:gd name="adj" fmla="val 50000"/>
            </a:avLst>
          </a:prstGeom>
          <a:solidFill>
            <a:srgbClr val="101818"/>
          </a:solidFill>
          <a:ln w="1270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" y="681228"/>
            <a:ext cx="82296" cy="82296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303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spc="180">
                <a:solidFill>
                  <a:srgbClr val="61C1C4"/>
                </a:solidFill>
                <a:latin typeface="JetBrains Mono"/>
              </a:rPr>
              <a:t>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51560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>
                <a:solidFill>
                  <a:srgbClr val="EAEBEA"/>
                </a:solidFill>
                <a:latin typeface="Inter"/>
              </a:rPr>
              <a:t>Builders who </a:t>
            </a:r>
            <a:r>
              <a:rPr sz="4000" b="1">
                <a:solidFill>
                  <a:srgbClr val="61C1C4"/>
                </a:solidFill>
                <a:latin typeface="Inter"/>
              </a:rPr>
              <a:t>dogfood their own product.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0312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B7BBBA"/>
                </a:solidFill>
                <a:latin typeface="Inter"/>
              </a:rPr>
              <a:t>UnClick is built using UnClick. The same Autopilot, memory, and safety gates we offer are what we ship with every day. That is the strongest proof the system 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52044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721608"/>
            <a:ext cx="4599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spc="120">
                <a:solidFill>
                  <a:srgbClr val="8A8F8E"/>
                </a:solidFill>
                <a:latin typeface="JetBrains Mono"/>
              </a:rPr>
              <a:t>FOUNDER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977639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86DDE0"/>
                </a:solidFill>
                <a:latin typeface="JetBrains Mono"/>
              </a:rPr>
              <a:t>[ Founder name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52628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8A8F8E"/>
                </a:solidFill>
                <a:latin typeface="Inter"/>
              </a:rPr>
              <a:t>[ one line on background and why you 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71032" y="352044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161818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8776" y="3721608"/>
            <a:ext cx="4599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spc="120">
                <a:solidFill>
                  <a:srgbClr val="8A8F8E"/>
                </a:solidFill>
                <a:latin typeface="JetBrains Mono"/>
              </a:rPr>
              <a:t>TEAM AND ADVISORS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3977639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86DDE0"/>
                </a:solidFill>
                <a:latin typeface="JetBrains Mono"/>
              </a:rPr>
              <a:t>[ key people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452628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8A8F8E"/>
                </a:solidFill>
                <a:latin typeface="Inter"/>
              </a:rPr>
              <a:t>[ notable experience or advisors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0667733" cy="41148"/>
          </a:xfrm>
          <a:prstGeom prst="rect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746150" y="6473952"/>
            <a:ext cx="80467" cy="135331"/>
          </a:xfrm>
          <a:custGeom>
            <a:avLst/>
            <a:gdLst/>
            <a:ahLst/>
            <a:cxnLst/>
            <a:rect l="l" t="t" r="r" b="b"/>
            <a:pathLst>
              <a:path w="44" h="74">
                <a:moveTo>
                  <a:pt x="0" y="0"/>
                </a:moveTo>
                <a:lnTo>
                  <a:pt x="0" y="62"/>
                </a:lnTo>
                <a:lnTo>
                  <a:pt x="15" y="47"/>
                </a:lnTo>
                <a:lnTo>
                  <a:pt x="28" y="74"/>
                </a:lnTo>
                <a:lnTo>
                  <a:pt x="36" y="70"/>
                </a:lnTo>
                <a:lnTo>
                  <a:pt x="23" y="43"/>
                </a:lnTo>
                <a:lnTo>
                  <a:pt x="44" y="43"/>
                </a:lnTo>
                <a:close/>
              </a:path>
            </a:pathLst>
          </a:cu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8329" y="6462979"/>
            <a:ext cx="51206" cy="40233"/>
          </a:xfrm>
          <a:prstGeom prst="roundRect">
            <a:avLst>
              <a:gd name="adj" fmla="val 35000"/>
            </a:avLst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9302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8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8446" y="6452006"/>
            <a:ext cx="10972" cy="10972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EAEBEA"/>
                </a:solidFill>
                <a:latin typeface="JetBrains Mono"/>
              </a:rPr>
              <a:t>Un</a:t>
            </a:r>
            <a:r>
              <a:rPr sz="1000" b="1">
                <a:solidFill>
                  <a:srgbClr val="61C1C4"/>
                </a:solidFill>
                <a:latin typeface="JetBrains Mono"/>
              </a:rPr>
              <a:t>Click</a:t>
            </a:r>
            <a:r>
              <a:rPr sz="1000" b="0">
                <a:solidFill>
                  <a:srgbClr val="8A8F8E"/>
                </a:solidFill>
                <a:latin typeface="JetBrains Mono"/>
              </a:rPr>
              <a:t>   ·   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8575" y="64008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8A8F8E"/>
                </a:solidFill>
                <a:latin typeface="JetBrains Mono"/>
              </a:rPr>
              <a:t>14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-2743200"/>
            <a:ext cx="11887200" cy="11887200"/>
          </a:xfrm>
          <a:prstGeom prst="ellipse">
            <a:avLst/>
          </a:prstGeom>
          <a:solidFill>
            <a:srgbClr val="61C1C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95528" y="1600200"/>
            <a:ext cx="201168" cy="338328"/>
          </a:xfrm>
          <a:custGeom>
            <a:avLst/>
            <a:gdLst/>
            <a:ahLst/>
            <a:cxnLst/>
            <a:rect l="l" t="t" r="r" b="b"/>
            <a:pathLst>
              <a:path w="44" h="74">
                <a:moveTo>
                  <a:pt x="0" y="0"/>
                </a:moveTo>
                <a:lnTo>
                  <a:pt x="0" y="62"/>
                </a:lnTo>
                <a:lnTo>
                  <a:pt x="15" y="47"/>
                </a:lnTo>
                <a:lnTo>
                  <a:pt x="28" y="74"/>
                </a:lnTo>
                <a:lnTo>
                  <a:pt x="36" y="70"/>
                </a:lnTo>
                <a:lnTo>
                  <a:pt x="23" y="43"/>
                </a:lnTo>
                <a:lnTo>
                  <a:pt x="44" y="43"/>
                </a:lnTo>
                <a:close/>
              </a:path>
            </a:pathLst>
          </a:cu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50976" y="1572768"/>
            <a:ext cx="128016" cy="100584"/>
          </a:xfrm>
          <a:prstGeom prst="roundRect">
            <a:avLst>
              <a:gd name="adj" fmla="val 35000"/>
            </a:avLst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" y="1604772"/>
            <a:ext cx="32004" cy="32004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604772"/>
            <a:ext cx="32004" cy="32004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1268" y="1545336"/>
            <a:ext cx="27432" cy="27432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536192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EAEBEA"/>
                </a:solidFill>
                <a:latin typeface="Inter"/>
              </a:rPr>
              <a:t>Un</a:t>
            </a:r>
            <a:r>
              <a:rPr sz="3000" b="1">
                <a:solidFill>
                  <a:srgbClr val="61C1C4"/>
                </a:solidFill>
                <a:latin typeface="Inter"/>
              </a:rPr>
              <a:t>Click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68880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b="1">
                <a:solidFill>
                  <a:srgbClr val="EAEBEA"/>
                </a:solidFill>
                <a:latin typeface="Inter"/>
              </a:rPr>
              <a:t>Where AI belongs. </a:t>
            </a:r>
            <a:r>
              <a:rPr sz="5600" b="1">
                <a:solidFill>
                  <a:srgbClr val="61C1C4"/>
                </a:solidFill>
                <a:latin typeface="Inter"/>
              </a:rPr>
              <a:t>Humans welcome.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8404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>
                <a:solidFill>
                  <a:srgbClr val="B7BBBA"/>
                </a:solidFill>
                <a:latin typeface="Inter"/>
              </a:rPr>
              <a:t>AI you can trust, that remembers you, and actually gets things done.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846320"/>
            <a:ext cx="2750515" cy="365760"/>
          </a:xfrm>
          <a:prstGeom prst="roundRect">
            <a:avLst>
              <a:gd name="adj" fmla="val 50000"/>
            </a:avLst>
          </a:prstGeom>
          <a:solidFill>
            <a:srgbClr val="101818"/>
          </a:solidFill>
          <a:ln w="1270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846320"/>
            <a:ext cx="275051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61C1C4"/>
                </a:solidFill>
                <a:latin typeface="JetBrains Mono"/>
              </a:rPr>
              <a:t>Let's talk  ·  [ your email 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1763" y="4846320"/>
            <a:ext cx="1404518" cy="365760"/>
          </a:xfrm>
          <a:prstGeom prst="roundRect">
            <a:avLst>
              <a:gd name="adj" fmla="val 50000"/>
            </a:avLst>
          </a:prstGeom>
          <a:solidFill>
            <a:srgbClr val="131414"/>
          </a:solidFill>
          <a:ln w="12700">
            <a:solidFill>
              <a:srgbClr val="2C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1763" y="4846320"/>
            <a:ext cx="140451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B7BBBA"/>
                </a:solidFill>
                <a:latin typeface="JetBrains Mono"/>
              </a:rPr>
              <a:t>unclick.world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1429714" cy="41148"/>
          </a:xfrm>
          <a:prstGeom prst="rect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746150" y="6473952"/>
            <a:ext cx="80467" cy="135331"/>
          </a:xfrm>
          <a:custGeom>
            <a:avLst/>
            <a:gdLst/>
            <a:ahLst/>
            <a:cxnLst/>
            <a:rect l="l" t="t" r="r" b="b"/>
            <a:pathLst>
              <a:path w="44" h="74">
                <a:moveTo>
                  <a:pt x="0" y="0"/>
                </a:moveTo>
                <a:lnTo>
                  <a:pt x="0" y="62"/>
                </a:lnTo>
                <a:lnTo>
                  <a:pt x="15" y="47"/>
                </a:lnTo>
                <a:lnTo>
                  <a:pt x="28" y="74"/>
                </a:lnTo>
                <a:lnTo>
                  <a:pt x="36" y="70"/>
                </a:lnTo>
                <a:lnTo>
                  <a:pt x="23" y="43"/>
                </a:lnTo>
                <a:lnTo>
                  <a:pt x="44" y="43"/>
                </a:lnTo>
                <a:close/>
              </a:path>
            </a:pathLst>
          </a:cu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8329" y="6462979"/>
            <a:ext cx="51206" cy="40233"/>
          </a:xfrm>
          <a:prstGeom prst="roundRect">
            <a:avLst>
              <a:gd name="adj" fmla="val 35000"/>
            </a:avLst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9302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8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8446" y="6452006"/>
            <a:ext cx="10972" cy="10972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EAEBEA"/>
                </a:solidFill>
                <a:latin typeface="JetBrains Mono"/>
              </a:rPr>
              <a:t>Un</a:t>
            </a:r>
            <a:r>
              <a:rPr sz="1000" b="1">
                <a:solidFill>
                  <a:srgbClr val="61C1C4"/>
                </a:solidFill>
                <a:latin typeface="JetBrains Mono"/>
              </a:rPr>
              <a:t>Click</a:t>
            </a:r>
            <a:r>
              <a:rPr sz="1000" b="0">
                <a:solidFill>
                  <a:srgbClr val="8A8F8E"/>
                </a:solidFill>
                <a:latin typeface="JetBrains Mono"/>
              </a:rPr>
              <a:t>   ·   Close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8575" y="64008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8A8F8E"/>
                </a:solidFill>
                <a:latin typeface="JetBrains Mono"/>
              </a:rPr>
              <a:t>15 /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937760" y="-6400800"/>
            <a:ext cx="10972800" cy="10972800"/>
          </a:xfrm>
          <a:prstGeom prst="ellipse">
            <a:avLst/>
          </a:prstGeom>
          <a:solidFill>
            <a:srgbClr val="61C1C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530352"/>
            <a:ext cx="3555187" cy="384048"/>
          </a:xfrm>
          <a:prstGeom prst="roundRect">
            <a:avLst>
              <a:gd name="adj" fmla="val 50000"/>
            </a:avLst>
          </a:prstGeom>
          <a:solidFill>
            <a:srgbClr val="101818"/>
          </a:solidFill>
          <a:ln w="12700">
            <a:solidFill>
              <a:srgbClr val="3F8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" y="681228"/>
            <a:ext cx="82296" cy="82296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303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spc="180">
                <a:solidFill>
                  <a:srgbClr val="61C1C4"/>
                </a:solidFill>
                <a:latin typeface="JetBrains Mono"/>
              </a:rPr>
              <a:t>APPENDIX  ·  THE WORDS IN PLAIN 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60120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600" b="1">
                <a:solidFill>
                  <a:srgbClr val="EAEBEA"/>
                </a:solidFill>
                <a:latin typeface="Inter"/>
              </a:rPr>
              <a:t>No jargon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20240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61C1C4"/>
                </a:solidFill>
                <a:latin typeface="Inter"/>
              </a:rPr>
              <a:t>UnClick  </a:t>
            </a:r>
            <a:r>
              <a:rPr sz="1300" b="0">
                <a:solidFill>
                  <a:srgbClr val="B7BBBA"/>
                </a:solidFill>
                <a:latin typeface="Inter"/>
              </a:rPr>
              <a:t>the whole platform. Memory, tools, and safe autonomy for any AI.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706624"/>
            <a:ext cx="5029200" cy="10972"/>
          </a:xfrm>
          <a:prstGeom prst="rect">
            <a:avLst/>
          </a:prstGeom>
          <a:solidFill>
            <a:srgbClr val="2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2472" y="1920240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61C1C4"/>
                </a:solidFill>
                <a:latin typeface="Inter"/>
              </a:rPr>
              <a:t>Memory  </a:t>
            </a:r>
            <a:r>
              <a:rPr sz="1300" b="0">
                <a:solidFill>
                  <a:srgbClr val="B7BBBA"/>
                </a:solidFill>
                <a:latin typeface="Inter"/>
              </a:rPr>
              <a:t>the shared notebook your AI never forgets, across every device.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62472" y="2706624"/>
            <a:ext cx="5029200" cy="10972"/>
          </a:xfrm>
          <a:prstGeom prst="rect">
            <a:avLst/>
          </a:prstGeom>
          <a:solidFill>
            <a:srgbClr val="2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852928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61C1C4"/>
                </a:solidFill>
                <a:latin typeface="Inter"/>
              </a:rPr>
              <a:t>Apps  </a:t>
            </a:r>
            <a:r>
              <a:rPr sz="1300" b="0">
                <a:solidFill>
                  <a:srgbClr val="B7BBBA"/>
                </a:solidFill>
                <a:latin typeface="Inter"/>
              </a:rPr>
              <a:t>the 450+ tools your AI can use to actually do things.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639312"/>
            <a:ext cx="5029200" cy="10972"/>
          </a:xfrm>
          <a:prstGeom prst="rect">
            <a:avLst/>
          </a:prstGeom>
          <a:solidFill>
            <a:srgbClr val="2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62472" y="2852928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61C1C4"/>
                </a:solidFill>
                <a:latin typeface="Inter"/>
              </a:rPr>
              <a:t>Connections  </a:t>
            </a:r>
            <a:r>
              <a:rPr sz="1300" b="0">
                <a:solidFill>
                  <a:srgbClr val="B7BBBA"/>
                </a:solidFill>
                <a:latin typeface="Inter"/>
              </a:rPr>
              <a:t>sign in once, your AI safely uses the rest.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62472" y="3639312"/>
            <a:ext cx="5029200" cy="10972"/>
          </a:xfrm>
          <a:prstGeom prst="rect">
            <a:avLst/>
          </a:prstGeom>
          <a:solidFill>
            <a:srgbClr val="2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785616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61C1C4"/>
                </a:solidFill>
                <a:latin typeface="Inter"/>
              </a:rPr>
              <a:t>Autopilot  </a:t>
            </a:r>
            <a:r>
              <a:rPr sz="1300" b="0">
                <a:solidFill>
                  <a:srgbClr val="B7BBBA"/>
                </a:solidFill>
                <a:latin typeface="Inter"/>
              </a:rPr>
              <a:t>the assembly line that plans, builds, checks, and proves work.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4572000"/>
            <a:ext cx="5029200" cy="10972"/>
          </a:xfrm>
          <a:prstGeom prst="rect">
            <a:avLst/>
          </a:prstGeom>
          <a:solidFill>
            <a:srgbClr val="2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62472" y="3785616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61C1C4"/>
                </a:solidFill>
                <a:latin typeface="Inter"/>
              </a:rPr>
              <a:t>Launchpad  </a:t>
            </a:r>
            <a:r>
              <a:rPr sz="1300" b="0">
                <a:solidFill>
                  <a:srgbClr val="B7BBBA"/>
                </a:solidFill>
                <a:latin typeface="Inter"/>
              </a:rPr>
              <a:t>the control desk, with the kill switch.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62472" y="4572000"/>
            <a:ext cx="5029200" cy="10972"/>
          </a:xfrm>
          <a:prstGeom prst="rect">
            <a:avLst/>
          </a:prstGeom>
          <a:solidFill>
            <a:srgbClr val="2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718304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61C1C4"/>
                </a:solidFill>
                <a:latin typeface="Inter"/>
              </a:rPr>
              <a:t>Boardroom  </a:t>
            </a:r>
            <a:r>
              <a:rPr sz="1300" b="0">
                <a:solidFill>
                  <a:srgbClr val="B7BBBA"/>
                </a:solidFill>
                <a:latin typeface="Inter"/>
              </a:rPr>
              <a:t>where the AI workers coordinate in the open.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5504688"/>
            <a:ext cx="5029200" cy="10972"/>
          </a:xfrm>
          <a:prstGeom prst="rect">
            <a:avLst/>
          </a:prstGeom>
          <a:solidFill>
            <a:srgbClr val="2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62472" y="4718304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61C1C4"/>
                </a:solidFill>
                <a:latin typeface="Inter"/>
              </a:rPr>
              <a:t>MCP  </a:t>
            </a:r>
            <a:r>
              <a:rPr sz="1300" b="0">
                <a:solidFill>
                  <a:srgbClr val="B7BBBA"/>
                </a:solidFill>
                <a:latin typeface="Inter"/>
              </a:rPr>
              <a:t>the universal adapter for AI tools. USB-C for AI.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62472" y="5504688"/>
            <a:ext cx="5029200" cy="10972"/>
          </a:xfrm>
          <a:prstGeom prst="rect">
            <a:avLst/>
          </a:prstGeom>
          <a:solidFill>
            <a:srgbClr val="2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746150" y="6473952"/>
            <a:ext cx="80467" cy="135331"/>
          </a:xfrm>
          <a:custGeom>
            <a:avLst/>
            <a:gdLst/>
            <a:ahLst/>
            <a:cxnLst/>
            <a:rect l="l" t="t" r="r" b="b"/>
            <a:pathLst>
              <a:path w="44" h="74">
                <a:moveTo>
                  <a:pt x="0" y="0"/>
                </a:moveTo>
                <a:lnTo>
                  <a:pt x="0" y="62"/>
                </a:lnTo>
                <a:lnTo>
                  <a:pt x="15" y="47"/>
                </a:lnTo>
                <a:lnTo>
                  <a:pt x="28" y="74"/>
                </a:lnTo>
                <a:lnTo>
                  <a:pt x="36" y="70"/>
                </a:lnTo>
                <a:lnTo>
                  <a:pt x="23" y="43"/>
                </a:lnTo>
                <a:lnTo>
                  <a:pt x="44" y="43"/>
                </a:lnTo>
                <a:close/>
              </a:path>
            </a:pathLst>
          </a:cu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8329" y="6462979"/>
            <a:ext cx="51206" cy="40233"/>
          </a:xfrm>
          <a:prstGeom prst="roundRect">
            <a:avLst>
              <a:gd name="adj" fmla="val 35000"/>
            </a:avLst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9302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1248" y="6475780"/>
            <a:ext cx="12801" cy="1280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8446" y="6452006"/>
            <a:ext cx="10972" cy="10972"/>
          </a:xfrm>
          <a:prstGeom prst="ellipse">
            <a:avLst/>
          </a:prstGeom>
          <a:solidFill>
            <a:srgbClr val="61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EAEBEA"/>
                </a:solidFill>
                <a:latin typeface="JetBrains Mono"/>
              </a:rPr>
              <a:t>Un</a:t>
            </a:r>
            <a:r>
              <a:rPr sz="1000" b="1">
                <a:solidFill>
                  <a:srgbClr val="61C1C4"/>
                </a:solidFill>
                <a:latin typeface="JetBrains Mono"/>
              </a:rPr>
              <a:t>Click</a:t>
            </a:r>
            <a:r>
              <a:rPr sz="1000" b="0">
                <a:solidFill>
                  <a:srgbClr val="8A8F8E"/>
                </a:solidFill>
                <a:latin typeface="JetBrains Mono"/>
              </a:rPr>
              <a:t>   ·   Appendix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88575" y="64008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>
                <a:solidFill>
                  <a:srgbClr val="8A8F8E"/>
                </a:solidFill>
                <a:latin typeface="JetBrains Mono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