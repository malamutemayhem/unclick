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0" y="-1097280"/>
            <a:ext cx="7772400" cy="6400800"/>
          </a:xfrm>
          <a:prstGeom prst="roundRect">
            <a:avLst>
              <a:gd name="adj" fmla="val 50000"/>
            </a:avLst>
          </a:prstGeom>
          <a:solidFill>
            <a:srgbClr val="0A2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498079" y="182880"/>
            <a:ext cx="5486400" cy="4754880"/>
          </a:xfrm>
          <a:prstGeom prst="roundRect">
            <a:avLst>
              <a:gd name="adj" fmla="val 50000"/>
            </a:avLst>
          </a:prstGeom>
          <a:solidFill>
            <a:srgbClr val="0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41248" y="731520"/>
            <a:ext cx="384048" cy="384048"/>
          </a:xfrm>
          <a:prstGeom prst="roundRect">
            <a:avLst>
              <a:gd name="adj" fmla="val 25000"/>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713232"/>
            <a:ext cx="384048" cy="420624"/>
          </a:xfrm>
          <a:prstGeom prst="rect">
            <a:avLst/>
          </a:prstGeom>
          <a:noFill/>
        </p:spPr>
        <p:txBody>
          <a:bodyPr wrap="square" anchor="ctr" lIns="0" rIns="0" tIns="0" bIns="0">
            <a:spAutoFit/>
          </a:bodyPr>
          <a:lstStyle/>
          <a:p>
            <a:pPr algn="ctr">
              <a:lnSpc>
                <a:spcPct val="106000"/>
              </a:lnSpc>
            </a:pPr>
            <a:r>
              <a:rPr sz="2000" b="1" i="0">
                <a:solidFill>
                  <a:srgbClr val="06202C"/>
                </a:solidFill>
                <a:latin typeface="Segoe UI"/>
              </a:rPr>
              <a:t>›</a:t>
            </a:r>
          </a:p>
        </p:txBody>
      </p:sp>
      <p:sp>
        <p:nvSpPr>
          <p:cNvPr id="7" name="TextBox 6"/>
          <p:cNvSpPr txBox="1"/>
          <p:nvPr/>
        </p:nvSpPr>
        <p:spPr>
          <a:xfrm>
            <a:off x="1353312" y="676656"/>
            <a:ext cx="4572000" cy="548640"/>
          </a:xfrm>
          <a:prstGeom prst="rect">
            <a:avLst/>
          </a:prstGeom>
          <a:noFill/>
        </p:spPr>
        <p:txBody>
          <a:bodyPr wrap="square" anchor="ctr" lIns="0" rIns="0" tIns="0" bIns="0">
            <a:spAutoFit/>
          </a:bodyPr>
          <a:lstStyle/>
          <a:p>
            <a:pPr algn="l">
              <a:lnSpc>
                <a:spcPct val="106000"/>
              </a:lnSpc>
            </a:pPr>
            <a:r>
              <a:rPr sz="3000" b="1" i="0">
                <a:solidFill>
                  <a:srgbClr val="FFFFFF"/>
                </a:solidFill>
                <a:latin typeface="Segoe UI"/>
              </a:rPr>
              <a:t>UnClick</a:t>
            </a:r>
          </a:p>
        </p:txBody>
      </p:sp>
      <p:sp>
        <p:nvSpPr>
          <p:cNvPr id="8" name="Rectangle 7"/>
          <p:cNvSpPr/>
          <p:nvPr/>
        </p:nvSpPr>
        <p:spPr>
          <a:xfrm>
            <a:off x="841248" y="1847088"/>
            <a:ext cx="256032" cy="32004"/>
          </a:xfrm>
          <a:prstGeom prst="rect">
            <a:avLst/>
          </a:prstGeom>
          <a:solidFill>
            <a:srgbClr val="86DA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1737360"/>
            <a:ext cx="8229600" cy="292608"/>
          </a:xfrm>
          <a:prstGeom prst="rect">
            <a:avLst/>
          </a:prstGeom>
          <a:noFill/>
        </p:spPr>
        <p:txBody>
          <a:bodyPr wrap="square" anchor="t" lIns="0" rIns="0" tIns="0" bIns="0">
            <a:spAutoFit/>
          </a:bodyPr>
          <a:lstStyle/>
          <a:p>
            <a:pPr algn="l">
              <a:lnSpc>
                <a:spcPct val="106000"/>
              </a:lnSpc>
            </a:pPr>
            <a:r>
              <a:rPr sz="1150" b="1" i="0">
                <a:solidFill>
                  <a:srgbClr val="86DADD"/>
                </a:solidFill>
                <a:latin typeface="Segoe UI"/>
              </a:rPr>
              <a:t>INVESTOR OVERVIEW  ·  2026</a:t>
            </a:r>
          </a:p>
        </p:txBody>
      </p:sp>
      <p:sp>
        <p:nvSpPr>
          <p:cNvPr id="10" name="TextBox 9"/>
          <p:cNvSpPr txBox="1"/>
          <p:nvPr/>
        </p:nvSpPr>
        <p:spPr>
          <a:xfrm>
            <a:off x="841248" y="2148840"/>
            <a:ext cx="10424160" cy="1828800"/>
          </a:xfrm>
          <a:prstGeom prst="rect">
            <a:avLst/>
          </a:prstGeom>
          <a:noFill/>
        </p:spPr>
        <p:txBody>
          <a:bodyPr wrap="square" anchor="t" lIns="0" rIns="0" tIns="0" bIns="0">
            <a:spAutoFit/>
          </a:bodyPr>
          <a:lstStyle/>
          <a:p>
            <a:pPr algn="l">
              <a:lnSpc>
                <a:spcPct val="100000"/>
              </a:lnSpc>
            </a:pPr>
            <a:r>
              <a:rPr sz="5800" b="1" i="0">
                <a:solidFill>
                  <a:srgbClr val="FFFFFF"/>
                </a:solidFill>
                <a:latin typeface="Segoe UI"/>
              </a:rPr>
              <a:t>The universal remote </a:t>
            </a:r>
            <a:r>
              <a:rPr sz="5800" b="1" i="0">
                <a:solidFill>
                  <a:srgbClr val="86DADD"/>
                </a:solidFill>
                <a:latin typeface="Segoe UI"/>
              </a:rPr>
              <a:t>for AI.</a:t>
            </a:r>
          </a:p>
        </p:txBody>
      </p:sp>
      <p:sp>
        <p:nvSpPr>
          <p:cNvPr id="11" name="TextBox 10"/>
          <p:cNvSpPr txBox="1"/>
          <p:nvPr/>
        </p:nvSpPr>
        <p:spPr>
          <a:xfrm>
            <a:off x="841248" y="3794760"/>
            <a:ext cx="10058400" cy="548640"/>
          </a:xfrm>
          <a:prstGeom prst="rect">
            <a:avLst/>
          </a:prstGeom>
          <a:noFill/>
        </p:spPr>
        <p:txBody>
          <a:bodyPr wrap="square" anchor="t" lIns="0" rIns="0" tIns="0" bIns="0">
            <a:spAutoFit/>
          </a:bodyPr>
          <a:lstStyle/>
          <a:p>
            <a:pPr algn="l">
              <a:lnSpc>
                <a:spcPct val="106000"/>
              </a:lnSpc>
            </a:pPr>
            <a:r>
              <a:rPr sz="2200" b="1" i="0">
                <a:solidFill>
                  <a:srgbClr val="86DADD"/>
                </a:solidFill>
                <a:latin typeface="Segoe UI"/>
              </a:rPr>
              <a:t>Where AI belongs. Humans welcome.</a:t>
            </a:r>
          </a:p>
        </p:txBody>
      </p:sp>
      <p:sp>
        <p:nvSpPr>
          <p:cNvPr id="12" name="TextBox 11"/>
          <p:cNvSpPr txBox="1"/>
          <p:nvPr/>
        </p:nvSpPr>
        <p:spPr>
          <a:xfrm>
            <a:off x="841248" y="4434840"/>
            <a:ext cx="8869680" cy="1097280"/>
          </a:xfrm>
          <a:prstGeom prst="rect">
            <a:avLst/>
          </a:prstGeom>
          <a:noFill/>
        </p:spPr>
        <p:txBody>
          <a:bodyPr wrap="square" anchor="t" lIns="0" rIns="0" tIns="0" bIns="0">
            <a:spAutoFit/>
          </a:bodyPr>
          <a:lstStyle/>
          <a:p>
            <a:pPr algn="l">
              <a:lnSpc>
                <a:spcPct val="130000"/>
              </a:lnSpc>
              <a:spcAft>
                <a:spcPts val="600"/>
              </a:spcAft>
            </a:pPr>
            <a:r>
              <a:rPr sz="1650" b="0">
                <a:solidFill>
                  <a:srgbClr val="BCD9DD"/>
                </a:solidFill>
                <a:latin typeface="Segoe UI"/>
              </a:rPr>
              <a:t>One install gives any AI agent every tool it needs, memory that remembers across every session and device, and built-in proof the work was done right.</a:t>
            </a:r>
          </a:p>
        </p:txBody>
      </p:sp>
      <p:sp>
        <p:nvSpPr>
          <p:cNvPr id="13" name="Rounded Rectangle 12"/>
          <p:cNvSpPr/>
          <p:nvPr/>
        </p:nvSpPr>
        <p:spPr>
          <a:xfrm>
            <a:off x="841248" y="5623560"/>
            <a:ext cx="4663440" cy="384048"/>
          </a:xfrm>
          <a:prstGeom prst="roundRect">
            <a:avLst>
              <a:gd name="adj" fmla="val 50000"/>
            </a:avLst>
          </a:prstGeom>
          <a:solidFill>
            <a:srgbClr val="103344"/>
          </a:solidFill>
          <a:ln w="12700">
            <a:solidFill>
              <a:srgbClr val="61C1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5623560"/>
            <a:ext cx="4663440" cy="384048"/>
          </a:xfrm>
          <a:prstGeom prst="rect">
            <a:avLst/>
          </a:prstGeom>
          <a:noFill/>
        </p:spPr>
        <p:txBody>
          <a:bodyPr wrap="square" anchor="ctr" lIns="0" rIns="0" tIns="0" bIns="0">
            <a:spAutoFit/>
          </a:bodyPr>
          <a:lstStyle/>
          <a:p>
            <a:pPr algn="ctr">
              <a:lnSpc>
                <a:spcPct val="106000"/>
              </a:lnSpc>
            </a:pPr>
            <a:r>
              <a:rPr sz="1150" b="1" i="0">
                <a:solidFill>
                  <a:srgbClr val="86DADD"/>
                </a:solidFill>
                <a:latin typeface="Segoe UI"/>
              </a:rPr>
              <a:t>unclick.world  ·  Built in Melbourne, Australia</a:t>
            </a:r>
          </a:p>
        </p:txBody>
      </p:sp>
      <p:sp>
        <p:nvSpPr>
          <p:cNvPr id="15" name="TextBox 14"/>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6F97A1"/>
                </a:solidFill>
                <a:latin typeface="Segoe UI"/>
              </a:rPr>
              <a:t>UnClick  ·  Where AI belongs. Humans welcome.</a:t>
            </a:r>
          </a:p>
        </p:txBody>
      </p:sp>
      <p:sp>
        <p:nvSpPr>
          <p:cNvPr id="16" name="TextBox 15"/>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6F97A1"/>
                </a:solidFill>
                <a:latin typeface="Consolas"/>
              </a:rPr>
              <a:t>01 / 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949440" y="-1371600"/>
            <a:ext cx="7315200" cy="6858000"/>
          </a:xfrm>
          <a:prstGeom prst="roundRect">
            <a:avLst>
              <a:gd name="adj" fmla="val 50000"/>
            </a:avLst>
          </a:prstGeom>
          <a:solidFill>
            <a:srgbClr val="0A2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1115568"/>
            <a:ext cx="256032" cy="32004"/>
          </a:xfrm>
          <a:prstGeom prst="rect">
            <a:avLst/>
          </a:prstGeom>
          <a:solidFill>
            <a:srgbClr val="86DA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005839"/>
            <a:ext cx="8229600" cy="292608"/>
          </a:xfrm>
          <a:prstGeom prst="rect">
            <a:avLst/>
          </a:prstGeom>
          <a:noFill/>
        </p:spPr>
        <p:txBody>
          <a:bodyPr wrap="square" anchor="t" lIns="0" rIns="0" tIns="0" bIns="0">
            <a:spAutoFit/>
          </a:bodyPr>
          <a:lstStyle/>
          <a:p>
            <a:pPr algn="l">
              <a:lnSpc>
                <a:spcPct val="106000"/>
              </a:lnSpc>
            </a:pPr>
            <a:r>
              <a:rPr sz="1150" b="1" i="0">
                <a:solidFill>
                  <a:srgbClr val="86DADD"/>
                </a:solidFill>
                <a:latin typeface="Segoe UI"/>
              </a:rPr>
              <a:t>THE BIG IDEA</a:t>
            </a:r>
          </a:p>
        </p:txBody>
      </p:sp>
      <p:sp>
        <p:nvSpPr>
          <p:cNvPr id="6" name="TextBox 5"/>
          <p:cNvSpPr txBox="1"/>
          <p:nvPr/>
        </p:nvSpPr>
        <p:spPr>
          <a:xfrm>
            <a:off x="841248" y="1554480"/>
            <a:ext cx="10424160" cy="2194560"/>
          </a:xfrm>
          <a:prstGeom prst="rect">
            <a:avLst/>
          </a:prstGeom>
          <a:noFill/>
        </p:spPr>
        <p:txBody>
          <a:bodyPr wrap="square" anchor="t" lIns="0" rIns="0" tIns="0" bIns="0">
            <a:spAutoFit/>
          </a:bodyPr>
          <a:lstStyle/>
          <a:p>
            <a:pPr algn="l">
              <a:lnSpc>
                <a:spcPct val="100000"/>
              </a:lnSpc>
            </a:pPr>
            <a:r>
              <a:rPr sz="5200" b="1" i="0">
                <a:solidFill>
                  <a:srgbClr val="FFFFFF"/>
                </a:solidFill>
                <a:latin typeface="Segoe UI"/>
              </a:rPr>
              <a:t>Let your AI stop </a:t>
            </a:r>
            <a:r>
              <a:rPr sz="5200" b="1" i="0">
                <a:solidFill>
                  <a:srgbClr val="86DADD"/>
                </a:solidFill>
                <a:latin typeface="Segoe UI"/>
              </a:rPr>
              <a:t>pretending to be human.</a:t>
            </a:r>
          </a:p>
        </p:txBody>
      </p:sp>
      <p:sp>
        <p:nvSpPr>
          <p:cNvPr id="7" name="TextBox 6"/>
          <p:cNvSpPr txBox="1"/>
          <p:nvPr/>
        </p:nvSpPr>
        <p:spPr>
          <a:xfrm>
            <a:off x="841248" y="3657600"/>
            <a:ext cx="9326880" cy="1463040"/>
          </a:xfrm>
          <a:prstGeom prst="rect">
            <a:avLst/>
          </a:prstGeom>
          <a:noFill/>
        </p:spPr>
        <p:txBody>
          <a:bodyPr wrap="square" anchor="t" lIns="0" rIns="0" tIns="0" bIns="0">
            <a:spAutoFit/>
          </a:bodyPr>
          <a:lstStyle/>
          <a:p>
            <a:pPr algn="l">
              <a:lnSpc>
                <a:spcPct val="132000"/>
              </a:lnSpc>
              <a:spcAft>
                <a:spcPts val="600"/>
              </a:spcAft>
            </a:pPr>
            <a:r>
              <a:rPr sz="1700" b="0">
                <a:solidFill>
                  <a:srgbClr val="BCD9DD"/>
                </a:solidFill>
                <a:latin typeface="Segoe UI"/>
              </a:rPr>
              <a:t>Today, AI agents fake their way through screens built for people. They click buttons, fill in forms, and forget everything the moment you close the tab. UnClick gives them real rails instead: tools to act, a memory that lasts, and a control tower that proves every job was done right.</a:t>
            </a:r>
          </a:p>
        </p:txBody>
      </p:sp>
      <p:sp>
        <p:nvSpPr>
          <p:cNvPr id="8" name="TextBox 7"/>
          <p:cNvSpPr txBox="1"/>
          <p:nvPr/>
        </p:nvSpPr>
        <p:spPr>
          <a:xfrm>
            <a:off x="841248" y="5623560"/>
            <a:ext cx="10058400" cy="457200"/>
          </a:xfrm>
          <a:prstGeom prst="rect">
            <a:avLst/>
          </a:prstGeom>
          <a:noFill/>
        </p:spPr>
        <p:txBody>
          <a:bodyPr wrap="square" anchor="t" lIns="0" rIns="0" tIns="0" bIns="0">
            <a:spAutoFit/>
          </a:bodyPr>
          <a:lstStyle/>
          <a:p>
            <a:pPr algn="l">
              <a:lnSpc>
                <a:spcPct val="106000"/>
              </a:lnSpc>
            </a:pPr>
            <a:r>
              <a:rPr sz="1800" b="1" i="0">
                <a:solidFill>
                  <a:srgbClr val="FFFFFF"/>
                </a:solidFill>
                <a:latin typeface="Segoe UI"/>
              </a:rPr>
              <a:t>Every tool. One install. Every AI app.</a:t>
            </a:r>
          </a:p>
        </p:txBody>
      </p:sp>
      <p:sp>
        <p:nvSpPr>
          <p:cNvPr id="9" name="TextBox 8"/>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6F97A1"/>
                </a:solidFill>
                <a:latin typeface="Segoe UI"/>
              </a:rPr>
              <a:t>UnClick  ·  Where AI belongs. Humans welcome.</a:t>
            </a:r>
          </a:p>
        </p:txBody>
      </p:sp>
      <p:sp>
        <p:nvSpPr>
          <p:cNvPr id="10" name="TextBox 9"/>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6F97A1"/>
                </a:solidFill>
                <a:latin typeface="Consolas"/>
              </a:rPr>
              <a:t>02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50292"/>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630936"/>
            <a:ext cx="256032" cy="32004"/>
          </a:xfrm>
          <a:prstGeom prst="rect">
            <a:avLst/>
          </a:prstGeom>
          <a:solidFill>
            <a:srgbClr val="2F9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521207"/>
            <a:ext cx="8229600" cy="292608"/>
          </a:xfrm>
          <a:prstGeom prst="rect">
            <a:avLst/>
          </a:prstGeom>
          <a:noFill/>
        </p:spPr>
        <p:txBody>
          <a:bodyPr wrap="square" anchor="t" lIns="0" rIns="0" tIns="0" bIns="0">
            <a:spAutoFit/>
          </a:bodyPr>
          <a:lstStyle/>
          <a:p>
            <a:pPr algn="l">
              <a:lnSpc>
                <a:spcPct val="106000"/>
              </a:lnSpc>
            </a:pPr>
            <a:r>
              <a:rPr sz="1150" b="1" i="0">
                <a:solidFill>
                  <a:srgbClr val="2F9499"/>
                </a:solidFill>
                <a:latin typeface="Segoe UI"/>
              </a:rPr>
              <a:t>THE PROBLEM</a:t>
            </a:r>
          </a:p>
        </p:txBody>
      </p:sp>
      <p:sp>
        <p:nvSpPr>
          <p:cNvPr id="6" name="TextBox 5"/>
          <p:cNvSpPr txBox="1"/>
          <p:nvPr/>
        </p:nvSpPr>
        <p:spPr>
          <a:xfrm>
            <a:off x="841248" y="960120"/>
            <a:ext cx="10424160" cy="914400"/>
          </a:xfrm>
          <a:prstGeom prst="rect">
            <a:avLst/>
          </a:prstGeom>
          <a:noFill/>
        </p:spPr>
        <p:txBody>
          <a:bodyPr wrap="square" anchor="t" lIns="0" rIns="0" tIns="0" bIns="0">
            <a:spAutoFit/>
          </a:bodyPr>
          <a:lstStyle/>
          <a:p>
            <a:pPr algn="l">
              <a:lnSpc>
                <a:spcPct val="106000"/>
              </a:lnSpc>
            </a:pPr>
            <a:r>
              <a:rPr sz="4200" b="1" i="0">
                <a:solidFill>
                  <a:srgbClr val="0D2A36"/>
                </a:solidFill>
                <a:latin typeface="Segoe UI"/>
              </a:rPr>
              <a:t>AI agents are powerful, but </a:t>
            </a:r>
            <a:r>
              <a:rPr sz="4200" b="1" i="0">
                <a:solidFill>
                  <a:srgbClr val="2F9499"/>
                </a:solidFill>
                <a:latin typeface="Segoe UI"/>
              </a:rPr>
              <a:t>homeless.</a:t>
            </a:r>
          </a:p>
        </p:txBody>
      </p:sp>
      <p:sp>
        <p:nvSpPr>
          <p:cNvPr id="7" name="TextBox 6"/>
          <p:cNvSpPr txBox="1"/>
          <p:nvPr/>
        </p:nvSpPr>
        <p:spPr>
          <a:xfrm>
            <a:off x="841248" y="1828800"/>
            <a:ext cx="9875520" cy="914400"/>
          </a:xfrm>
          <a:prstGeom prst="rect">
            <a:avLst/>
          </a:prstGeom>
          <a:noFill/>
        </p:spPr>
        <p:txBody>
          <a:bodyPr wrap="square" anchor="t" lIns="0" rIns="0" tIns="0" bIns="0">
            <a:spAutoFit/>
          </a:bodyPr>
          <a:lstStyle/>
          <a:p>
            <a:pPr algn="l">
              <a:lnSpc>
                <a:spcPct val="130000"/>
              </a:lnSpc>
              <a:spcAft>
                <a:spcPts val="600"/>
              </a:spcAft>
            </a:pPr>
            <a:r>
              <a:rPr sz="1650" b="0">
                <a:solidFill>
                  <a:srgbClr val="3C5763"/>
                </a:solidFill>
                <a:latin typeface="Segoe UI"/>
              </a:rPr>
              <a:t>Every AI tool reinvents the same missing layer: identity, memory, connections, a trustworthy toolset, and proof. Switch from Claude to ChatGPT and you start over from zero.</a:t>
            </a:r>
          </a:p>
        </p:txBody>
      </p:sp>
      <p:sp>
        <p:nvSpPr>
          <p:cNvPr id="8" name="Rounded Rectangle 7"/>
          <p:cNvSpPr/>
          <p:nvPr/>
        </p:nvSpPr>
        <p:spPr>
          <a:xfrm>
            <a:off x="841248" y="2971800"/>
            <a:ext cx="5074920" cy="265176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61288" y="3264408"/>
            <a:ext cx="4434840" cy="457200"/>
          </a:xfrm>
          <a:prstGeom prst="rect">
            <a:avLst/>
          </a:prstGeom>
          <a:noFill/>
        </p:spPr>
        <p:txBody>
          <a:bodyPr wrap="square" anchor="t" lIns="0" rIns="0" tIns="0" bIns="0">
            <a:spAutoFit/>
          </a:bodyPr>
          <a:lstStyle/>
          <a:p>
            <a:pPr algn="l">
              <a:lnSpc>
                <a:spcPct val="106000"/>
              </a:lnSpc>
            </a:pPr>
            <a:r>
              <a:rPr sz="2000" b="1" i="0">
                <a:solidFill>
                  <a:srgbClr val="0D2A36"/>
                </a:solidFill>
                <a:latin typeface="Segoe UI"/>
              </a:rPr>
              <a:t>The amnesia tax</a:t>
            </a:r>
          </a:p>
        </p:txBody>
      </p:sp>
      <p:sp>
        <p:nvSpPr>
          <p:cNvPr id="10" name="TextBox 9"/>
          <p:cNvSpPr txBox="1"/>
          <p:nvPr/>
        </p:nvSpPr>
        <p:spPr>
          <a:xfrm>
            <a:off x="1161288" y="3886200"/>
            <a:ext cx="4434840" cy="1554480"/>
          </a:xfrm>
          <a:prstGeom prst="rect">
            <a:avLst/>
          </a:prstGeom>
          <a:noFill/>
        </p:spPr>
        <p:txBody>
          <a:bodyPr wrap="square" anchor="t" lIns="0" rIns="0" tIns="0" bIns="0">
            <a:spAutoFit/>
          </a:bodyPr>
          <a:lstStyle/>
          <a:p>
            <a:pPr algn="l">
              <a:lnSpc>
                <a:spcPct val="128000"/>
              </a:lnSpc>
              <a:spcAft>
                <a:spcPts val="600"/>
              </a:spcAft>
            </a:pPr>
            <a:r>
              <a:rPr sz="1450" b="0">
                <a:solidFill>
                  <a:srgbClr val="3C5763"/>
                </a:solidFill>
                <a:latin typeface="Segoe UI"/>
              </a:rPr>
              <a:t>Every session starts from scratch. You re-explain your business, your preferences, your rules. Every time. Your agent made 200 decisions last week and remembers exactly none of them.</a:t>
            </a:r>
          </a:p>
        </p:txBody>
      </p:sp>
      <p:sp>
        <p:nvSpPr>
          <p:cNvPr id="11" name="Rounded Rectangle 10"/>
          <p:cNvSpPr/>
          <p:nvPr/>
        </p:nvSpPr>
        <p:spPr>
          <a:xfrm>
            <a:off x="6281928" y="2971800"/>
            <a:ext cx="5074920" cy="265176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01968" y="3264408"/>
            <a:ext cx="4434840" cy="457200"/>
          </a:xfrm>
          <a:prstGeom prst="rect">
            <a:avLst/>
          </a:prstGeom>
          <a:noFill/>
        </p:spPr>
        <p:txBody>
          <a:bodyPr wrap="square" anchor="t" lIns="0" rIns="0" tIns="0" bIns="0">
            <a:spAutoFit/>
          </a:bodyPr>
          <a:lstStyle/>
          <a:p>
            <a:pPr algn="l">
              <a:lnSpc>
                <a:spcPct val="106000"/>
              </a:lnSpc>
            </a:pPr>
            <a:r>
              <a:rPr sz="2000" b="1" i="0">
                <a:solidFill>
                  <a:srgbClr val="0D2A36"/>
                </a:solidFill>
                <a:latin typeface="Segoe UI"/>
              </a:rPr>
              <a:t>The wrong tool</a:t>
            </a:r>
          </a:p>
        </p:txBody>
      </p:sp>
      <p:sp>
        <p:nvSpPr>
          <p:cNvPr id="13" name="TextBox 12"/>
          <p:cNvSpPr txBox="1"/>
          <p:nvPr/>
        </p:nvSpPr>
        <p:spPr>
          <a:xfrm>
            <a:off x="6601968" y="3886200"/>
            <a:ext cx="4434840" cy="1554480"/>
          </a:xfrm>
          <a:prstGeom prst="rect">
            <a:avLst/>
          </a:prstGeom>
          <a:noFill/>
        </p:spPr>
        <p:txBody>
          <a:bodyPr wrap="square" anchor="t" lIns="0" rIns="0" tIns="0" bIns="0">
            <a:spAutoFit/>
          </a:bodyPr>
          <a:lstStyle/>
          <a:p>
            <a:pPr algn="l">
              <a:lnSpc>
                <a:spcPct val="128000"/>
              </a:lnSpc>
              <a:spcAft>
                <a:spcPts val="600"/>
              </a:spcAft>
            </a:pPr>
            <a:r>
              <a:rPr sz="1450" b="0">
                <a:solidFill>
                  <a:srgbClr val="3C5763"/>
                </a:solidFill>
                <a:latin typeface="Segoe UI"/>
              </a:rPr>
              <a:t>Asking your AI to work through a website built for people is like doing surgery with oven mitts. It can sort of work. It is just not the right tool for the job.</a:t>
            </a:r>
          </a:p>
        </p:txBody>
      </p:sp>
      <p:sp>
        <p:nvSpPr>
          <p:cNvPr id="14" name="TextBox 13"/>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7FA6B0"/>
                </a:solidFill>
                <a:latin typeface="Segoe UI"/>
              </a:rPr>
              <a:t>UnClick  ·  Where AI belongs. Humans welcome.</a:t>
            </a:r>
          </a:p>
        </p:txBody>
      </p:sp>
      <p:sp>
        <p:nvSpPr>
          <p:cNvPr id="15" name="TextBox 14"/>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7FA6B0"/>
                </a:solidFill>
                <a:latin typeface="Consolas"/>
              </a:rPr>
              <a:t>03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50292"/>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630936"/>
            <a:ext cx="256032" cy="32004"/>
          </a:xfrm>
          <a:prstGeom prst="rect">
            <a:avLst/>
          </a:prstGeom>
          <a:solidFill>
            <a:srgbClr val="2F9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521207"/>
            <a:ext cx="8229600" cy="292608"/>
          </a:xfrm>
          <a:prstGeom prst="rect">
            <a:avLst/>
          </a:prstGeom>
          <a:noFill/>
        </p:spPr>
        <p:txBody>
          <a:bodyPr wrap="square" anchor="t" lIns="0" rIns="0" tIns="0" bIns="0">
            <a:spAutoFit/>
          </a:bodyPr>
          <a:lstStyle/>
          <a:p>
            <a:pPr algn="l">
              <a:lnSpc>
                <a:spcPct val="106000"/>
              </a:lnSpc>
            </a:pPr>
            <a:r>
              <a:rPr sz="1150" b="1" i="0">
                <a:solidFill>
                  <a:srgbClr val="2F9499"/>
                </a:solidFill>
                <a:latin typeface="Segoe UI"/>
              </a:rPr>
              <a:t>WHY IT MATTERS</a:t>
            </a:r>
          </a:p>
        </p:txBody>
      </p:sp>
      <p:sp>
        <p:nvSpPr>
          <p:cNvPr id="6" name="TextBox 5"/>
          <p:cNvSpPr txBox="1"/>
          <p:nvPr/>
        </p:nvSpPr>
        <p:spPr>
          <a:xfrm>
            <a:off x="841248" y="960120"/>
            <a:ext cx="10424160" cy="914400"/>
          </a:xfrm>
          <a:prstGeom prst="rect">
            <a:avLst/>
          </a:prstGeom>
          <a:noFill/>
        </p:spPr>
        <p:txBody>
          <a:bodyPr wrap="square" anchor="t" lIns="0" rIns="0" tIns="0" bIns="0">
            <a:spAutoFit/>
          </a:bodyPr>
          <a:lstStyle/>
          <a:p>
            <a:pPr algn="l">
              <a:lnSpc>
                <a:spcPct val="106000"/>
              </a:lnSpc>
            </a:pPr>
            <a:r>
              <a:rPr sz="4000" b="1" i="0">
                <a:solidFill>
                  <a:srgbClr val="0D2A36"/>
                </a:solidFill>
                <a:latin typeface="Segoe UI"/>
              </a:rPr>
              <a:t>The old way is slow, costly, and blind.</a:t>
            </a:r>
          </a:p>
        </p:txBody>
      </p:sp>
      <p:sp>
        <p:nvSpPr>
          <p:cNvPr id="7" name="Rounded Rectangle 6"/>
          <p:cNvSpPr/>
          <p:nvPr/>
        </p:nvSpPr>
        <p:spPr>
          <a:xfrm>
            <a:off x="841248" y="2240280"/>
            <a:ext cx="4160520" cy="2743200"/>
          </a:xfrm>
          <a:prstGeom prst="roundRect">
            <a:avLst>
              <a:gd name="adj" fmla="val 9000"/>
            </a:avLst>
          </a:prstGeom>
          <a:solidFill>
            <a:srgbClr val="FDF1F0"/>
          </a:solidFill>
          <a:ln w="15240">
            <a:solidFill>
              <a:srgbClr val="EAC4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33856" y="2496312"/>
            <a:ext cx="3611879" cy="274320"/>
          </a:xfrm>
          <a:prstGeom prst="rect">
            <a:avLst/>
          </a:prstGeom>
          <a:noFill/>
        </p:spPr>
        <p:txBody>
          <a:bodyPr wrap="square" anchor="t" lIns="0" rIns="0" tIns="0" bIns="0">
            <a:spAutoFit/>
          </a:bodyPr>
          <a:lstStyle/>
          <a:p>
            <a:pPr algn="l">
              <a:lnSpc>
                <a:spcPct val="106000"/>
              </a:lnSpc>
            </a:pPr>
            <a:r>
              <a:rPr sz="1150" b="1" i="0">
                <a:solidFill>
                  <a:srgbClr val="D0534A"/>
                </a:solidFill>
                <a:latin typeface="Segoe UI"/>
              </a:rPr>
              <a:t>THE OLD WAY</a:t>
            </a:r>
          </a:p>
        </p:txBody>
      </p:sp>
      <p:sp>
        <p:nvSpPr>
          <p:cNvPr id="9" name="TextBox 8"/>
          <p:cNvSpPr txBox="1"/>
          <p:nvPr/>
        </p:nvSpPr>
        <p:spPr>
          <a:xfrm>
            <a:off x="1133856" y="2953512"/>
            <a:ext cx="3611879" cy="1097280"/>
          </a:xfrm>
          <a:prstGeom prst="rect">
            <a:avLst/>
          </a:prstGeom>
          <a:noFill/>
        </p:spPr>
        <p:txBody>
          <a:bodyPr wrap="square" anchor="t" lIns="0" rIns="0" tIns="0" bIns="0">
            <a:spAutoFit/>
          </a:bodyPr>
          <a:lstStyle/>
          <a:p>
            <a:pPr algn="l">
              <a:lnSpc>
                <a:spcPct val="125000"/>
              </a:lnSpc>
              <a:spcAft>
                <a:spcPts val="200"/>
              </a:spcAft>
            </a:pPr>
            <a:r>
              <a:rPr sz="1250" b="0">
                <a:solidFill>
                  <a:srgbClr val="0D2A36"/>
                </a:solidFill>
                <a:latin typeface="Consolas"/>
              </a:rPr>
              <a:t>Open browser → Navigate</a:t>
            </a:r>
          </a:p>
          <a:p>
            <a:pPr algn="l">
              <a:lnSpc>
                <a:spcPct val="125000"/>
              </a:lnSpc>
              <a:spcAft>
                <a:spcPts val="200"/>
              </a:spcAft>
            </a:pPr>
            <a:r>
              <a:rPr sz="1250" b="0">
                <a:solidFill>
                  <a:srgbClr val="0D2A36"/>
                </a:solidFill>
                <a:latin typeface="Consolas"/>
              </a:rPr>
              <a:t>→ Fill the form → Click submit</a:t>
            </a:r>
          </a:p>
          <a:p>
            <a:pPr algn="l">
              <a:lnSpc>
                <a:spcPct val="125000"/>
              </a:lnSpc>
              <a:spcAft>
                <a:spcPts val="200"/>
              </a:spcAft>
            </a:pPr>
            <a:r>
              <a:rPr sz="1250" b="0">
                <a:solidFill>
                  <a:srgbClr val="0D2A36"/>
                </a:solidFill>
                <a:latin typeface="Consolas"/>
              </a:rPr>
              <a:t>→ Wait → Read the screen</a:t>
            </a:r>
          </a:p>
        </p:txBody>
      </p:sp>
      <p:sp>
        <p:nvSpPr>
          <p:cNvPr id="10" name="TextBox 9"/>
          <p:cNvSpPr txBox="1"/>
          <p:nvPr/>
        </p:nvSpPr>
        <p:spPr>
          <a:xfrm>
            <a:off x="1133856" y="4206240"/>
            <a:ext cx="2011680" cy="457200"/>
          </a:xfrm>
          <a:prstGeom prst="rect">
            <a:avLst/>
          </a:prstGeom>
          <a:noFill/>
        </p:spPr>
        <p:txBody>
          <a:bodyPr wrap="square" anchor="t" lIns="0" rIns="0" tIns="0" bIns="0">
            <a:spAutoFit/>
          </a:bodyPr>
          <a:lstStyle/>
          <a:p>
            <a:pPr algn="l">
              <a:lnSpc>
                <a:spcPct val="106000"/>
              </a:lnSpc>
            </a:pPr>
            <a:r>
              <a:rPr sz="2200" b="1" i="0">
                <a:solidFill>
                  <a:srgbClr val="D0534A"/>
                </a:solidFill>
                <a:latin typeface="Consolas"/>
              </a:rPr>
              <a:t>~4,200ms</a:t>
            </a:r>
          </a:p>
        </p:txBody>
      </p:sp>
      <p:sp>
        <p:nvSpPr>
          <p:cNvPr id="11" name="TextBox 10"/>
          <p:cNvSpPr txBox="1"/>
          <p:nvPr/>
        </p:nvSpPr>
        <p:spPr>
          <a:xfrm>
            <a:off x="1133856" y="4617720"/>
            <a:ext cx="2194560" cy="274320"/>
          </a:xfrm>
          <a:prstGeom prst="rect">
            <a:avLst/>
          </a:prstGeom>
          <a:noFill/>
        </p:spPr>
        <p:txBody>
          <a:bodyPr wrap="square" anchor="t" lIns="0" rIns="0" tIns="0" bIns="0">
            <a:spAutoFit/>
          </a:bodyPr>
          <a:lstStyle/>
          <a:p>
            <a:pPr algn="l">
              <a:lnSpc>
                <a:spcPct val="106000"/>
              </a:lnSpc>
            </a:pPr>
            <a:r>
              <a:rPr sz="950" b="1" i="0">
                <a:solidFill>
                  <a:srgbClr val="6F8B95"/>
                </a:solidFill>
                <a:latin typeface="Segoe UI"/>
              </a:rPr>
              <a:t>PER ACTION</a:t>
            </a:r>
          </a:p>
        </p:txBody>
      </p:sp>
      <p:sp>
        <p:nvSpPr>
          <p:cNvPr id="12" name="TextBox 11"/>
          <p:cNvSpPr txBox="1"/>
          <p:nvPr/>
        </p:nvSpPr>
        <p:spPr>
          <a:xfrm>
            <a:off x="3035808" y="4206240"/>
            <a:ext cx="1828800" cy="457200"/>
          </a:xfrm>
          <a:prstGeom prst="rect">
            <a:avLst/>
          </a:prstGeom>
          <a:noFill/>
        </p:spPr>
        <p:txBody>
          <a:bodyPr wrap="square" anchor="t" lIns="0" rIns="0" tIns="0" bIns="0">
            <a:spAutoFit/>
          </a:bodyPr>
          <a:lstStyle/>
          <a:p>
            <a:pPr algn="l">
              <a:lnSpc>
                <a:spcPct val="106000"/>
              </a:lnSpc>
            </a:pPr>
            <a:r>
              <a:rPr sz="2200" b="1" i="0">
                <a:solidFill>
                  <a:srgbClr val="D0534A"/>
                </a:solidFill>
                <a:latin typeface="Consolas"/>
              </a:rPr>
              <a:t>~18,000</a:t>
            </a:r>
          </a:p>
        </p:txBody>
      </p:sp>
      <p:sp>
        <p:nvSpPr>
          <p:cNvPr id="13" name="TextBox 12"/>
          <p:cNvSpPr txBox="1"/>
          <p:nvPr/>
        </p:nvSpPr>
        <p:spPr>
          <a:xfrm>
            <a:off x="3035808" y="4617720"/>
            <a:ext cx="1828800" cy="274320"/>
          </a:xfrm>
          <a:prstGeom prst="rect">
            <a:avLst/>
          </a:prstGeom>
          <a:noFill/>
        </p:spPr>
        <p:txBody>
          <a:bodyPr wrap="square" anchor="t" lIns="0" rIns="0" tIns="0" bIns="0">
            <a:spAutoFit/>
          </a:bodyPr>
          <a:lstStyle/>
          <a:p>
            <a:pPr algn="l">
              <a:lnSpc>
                <a:spcPct val="106000"/>
              </a:lnSpc>
            </a:pPr>
            <a:r>
              <a:rPr sz="950" b="1" i="0">
                <a:solidFill>
                  <a:srgbClr val="6F8B95"/>
                </a:solidFill>
                <a:latin typeface="Segoe UI"/>
              </a:rPr>
              <a:t>TOKENS</a:t>
            </a:r>
          </a:p>
        </p:txBody>
      </p:sp>
      <p:sp>
        <p:nvSpPr>
          <p:cNvPr id="14" name="TextBox 13"/>
          <p:cNvSpPr txBox="1"/>
          <p:nvPr/>
        </p:nvSpPr>
        <p:spPr>
          <a:xfrm>
            <a:off x="5212080" y="2651760"/>
            <a:ext cx="1828800" cy="822960"/>
          </a:xfrm>
          <a:prstGeom prst="rect">
            <a:avLst/>
          </a:prstGeom>
          <a:noFill/>
        </p:spPr>
        <p:txBody>
          <a:bodyPr wrap="square" anchor="t" lIns="0" rIns="0" tIns="0" bIns="0">
            <a:spAutoFit/>
          </a:bodyPr>
          <a:lstStyle/>
          <a:p>
            <a:pPr algn="ctr">
              <a:lnSpc>
                <a:spcPct val="106000"/>
              </a:lnSpc>
            </a:pPr>
            <a:r>
              <a:rPr sz="4000" b="1" i="0">
                <a:solidFill>
                  <a:srgbClr val="2F9499"/>
                </a:solidFill>
                <a:latin typeface="Segoe UI"/>
              </a:rPr>
              <a:t>~110x</a:t>
            </a:r>
          </a:p>
        </p:txBody>
      </p:sp>
      <p:sp>
        <p:nvSpPr>
          <p:cNvPr id="15" name="TextBox 14"/>
          <p:cNvSpPr txBox="1"/>
          <p:nvPr/>
        </p:nvSpPr>
        <p:spPr>
          <a:xfrm>
            <a:off x="5120640" y="3429000"/>
            <a:ext cx="2011680" cy="731520"/>
          </a:xfrm>
          <a:prstGeom prst="rect">
            <a:avLst/>
          </a:prstGeom>
          <a:noFill/>
        </p:spPr>
        <p:txBody>
          <a:bodyPr wrap="square" anchor="t" lIns="0" rIns="0" tIns="0" bIns="0">
            <a:spAutoFit/>
          </a:bodyPr>
          <a:lstStyle/>
          <a:p>
            <a:pPr algn="ctr">
              <a:lnSpc>
                <a:spcPct val="110000"/>
              </a:lnSpc>
              <a:spcAft>
                <a:spcPts val="100"/>
              </a:spcAft>
            </a:pPr>
            <a:r>
              <a:rPr sz="1050" b="1">
                <a:solidFill>
                  <a:srgbClr val="6F8B95"/>
                </a:solidFill>
                <a:latin typeface="Segoe UI"/>
              </a:rPr>
              <a:t>faster</a:t>
            </a:r>
          </a:p>
          <a:p>
            <a:pPr algn="ctr">
              <a:lnSpc>
                <a:spcPct val="110000"/>
              </a:lnSpc>
              <a:spcAft>
                <a:spcPts val="100"/>
              </a:spcAft>
            </a:pPr>
            <a:r>
              <a:rPr sz="1050" b="0">
                <a:solidFill>
                  <a:srgbClr val="6F8B95"/>
                </a:solidFill>
                <a:latin typeface="Segoe UI"/>
              </a:rPr>
              <a:t>~150x fewer tokens</a:t>
            </a:r>
          </a:p>
        </p:txBody>
      </p:sp>
      <p:sp>
        <p:nvSpPr>
          <p:cNvPr id="16" name="Rounded Rectangle 15"/>
          <p:cNvSpPr/>
          <p:nvPr/>
        </p:nvSpPr>
        <p:spPr>
          <a:xfrm>
            <a:off x="7223760" y="2240280"/>
            <a:ext cx="4160520" cy="2743200"/>
          </a:xfrm>
          <a:prstGeom prst="roundRect">
            <a:avLst>
              <a:gd name="adj" fmla="val 9000"/>
            </a:avLst>
          </a:prstGeom>
          <a:solidFill>
            <a:srgbClr val="EAFAFB"/>
          </a:solidFill>
          <a:ln w="15240">
            <a:solidFill>
              <a:srgbClr val="9FDE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6368" y="2496312"/>
            <a:ext cx="3611879" cy="274320"/>
          </a:xfrm>
          <a:prstGeom prst="rect">
            <a:avLst/>
          </a:prstGeom>
          <a:noFill/>
        </p:spPr>
        <p:txBody>
          <a:bodyPr wrap="square" anchor="t" lIns="0" rIns="0" tIns="0" bIns="0">
            <a:spAutoFit/>
          </a:bodyPr>
          <a:lstStyle/>
          <a:p>
            <a:pPr algn="l">
              <a:lnSpc>
                <a:spcPct val="106000"/>
              </a:lnSpc>
            </a:pPr>
            <a:r>
              <a:rPr sz="1150" b="1" i="0">
                <a:solidFill>
                  <a:srgbClr val="2F9499"/>
                </a:solidFill>
                <a:latin typeface="Segoe UI"/>
              </a:rPr>
              <a:t>THE UNCLICK WAY</a:t>
            </a:r>
          </a:p>
        </p:txBody>
      </p:sp>
      <p:sp>
        <p:nvSpPr>
          <p:cNvPr id="18" name="TextBox 17"/>
          <p:cNvSpPr txBox="1"/>
          <p:nvPr/>
        </p:nvSpPr>
        <p:spPr>
          <a:xfrm>
            <a:off x="7516368" y="3017520"/>
            <a:ext cx="3611879" cy="914400"/>
          </a:xfrm>
          <a:prstGeom prst="rect">
            <a:avLst/>
          </a:prstGeom>
          <a:noFill/>
        </p:spPr>
        <p:txBody>
          <a:bodyPr wrap="square" anchor="t" lIns="0" rIns="0" tIns="0" bIns="0">
            <a:spAutoFit/>
          </a:bodyPr>
          <a:lstStyle/>
          <a:p>
            <a:pPr algn="l">
              <a:lnSpc>
                <a:spcPct val="130000"/>
              </a:lnSpc>
              <a:spcAft>
                <a:spcPts val="300"/>
              </a:spcAft>
            </a:pPr>
            <a:r>
              <a:rPr sz="1300" b="0">
                <a:solidFill>
                  <a:srgbClr val="0D2A36"/>
                </a:solidFill>
                <a:latin typeface="Consolas"/>
              </a:rPr>
              <a:t>POST /v1/schedule/events</a:t>
            </a:r>
          </a:p>
          <a:p>
            <a:pPr algn="l">
              <a:lnSpc>
                <a:spcPct val="130000"/>
              </a:lnSpc>
              <a:spcAft>
                <a:spcPts val="300"/>
              </a:spcAft>
            </a:pPr>
            <a:r>
              <a:rPr sz="1300" b="0">
                <a:solidFill>
                  <a:srgbClr val="0D2A36"/>
                </a:solidFill>
                <a:latin typeface="Consolas"/>
              </a:rPr>
              <a:t>→ </a:t>
            </a:r>
            <a:r>
              <a:rPr sz="1300" b="1">
                <a:solidFill>
                  <a:srgbClr val="0D2A36"/>
                </a:solidFill>
                <a:latin typeface="Consolas"/>
              </a:rPr>
              <a:t>201 Created</a:t>
            </a:r>
          </a:p>
        </p:txBody>
      </p:sp>
      <p:sp>
        <p:nvSpPr>
          <p:cNvPr id="19" name="TextBox 18"/>
          <p:cNvSpPr txBox="1"/>
          <p:nvPr/>
        </p:nvSpPr>
        <p:spPr>
          <a:xfrm>
            <a:off x="7516368" y="4206240"/>
            <a:ext cx="1828800" cy="457200"/>
          </a:xfrm>
          <a:prstGeom prst="rect">
            <a:avLst/>
          </a:prstGeom>
          <a:noFill/>
        </p:spPr>
        <p:txBody>
          <a:bodyPr wrap="square" anchor="t" lIns="0" rIns="0" tIns="0" bIns="0">
            <a:spAutoFit/>
          </a:bodyPr>
          <a:lstStyle/>
          <a:p>
            <a:pPr algn="l">
              <a:lnSpc>
                <a:spcPct val="106000"/>
              </a:lnSpc>
            </a:pPr>
            <a:r>
              <a:rPr sz="2200" b="1" i="0">
                <a:solidFill>
                  <a:srgbClr val="2F9499"/>
                </a:solidFill>
                <a:latin typeface="Consolas"/>
              </a:rPr>
              <a:t>~38ms</a:t>
            </a:r>
          </a:p>
        </p:txBody>
      </p:sp>
      <p:sp>
        <p:nvSpPr>
          <p:cNvPr id="20" name="TextBox 19"/>
          <p:cNvSpPr txBox="1"/>
          <p:nvPr/>
        </p:nvSpPr>
        <p:spPr>
          <a:xfrm>
            <a:off x="7516368" y="4617720"/>
            <a:ext cx="1828800" cy="274320"/>
          </a:xfrm>
          <a:prstGeom prst="rect">
            <a:avLst/>
          </a:prstGeom>
          <a:noFill/>
        </p:spPr>
        <p:txBody>
          <a:bodyPr wrap="square" anchor="t" lIns="0" rIns="0" tIns="0" bIns="0">
            <a:spAutoFit/>
          </a:bodyPr>
          <a:lstStyle/>
          <a:p>
            <a:pPr algn="l">
              <a:lnSpc>
                <a:spcPct val="106000"/>
              </a:lnSpc>
            </a:pPr>
            <a:r>
              <a:rPr sz="950" b="1" i="0">
                <a:solidFill>
                  <a:srgbClr val="6F8B95"/>
                </a:solidFill>
                <a:latin typeface="Segoe UI"/>
              </a:rPr>
              <a:t>PER ACTION</a:t>
            </a:r>
          </a:p>
        </p:txBody>
      </p:sp>
      <p:sp>
        <p:nvSpPr>
          <p:cNvPr id="21" name="TextBox 20"/>
          <p:cNvSpPr txBox="1"/>
          <p:nvPr/>
        </p:nvSpPr>
        <p:spPr>
          <a:xfrm>
            <a:off x="9144000" y="4206240"/>
            <a:ext cx="1828800" cy="457200"/>
          </a:xfrm>
          <a:prstGeom prst="rect">
            <a:avLst/>
          </a:prstGeom>
          <a:noFill/>
        </p:spPr>
        <p:txBody>
          <a:bodyPr wrap="square" anchor="t" lIns="0" rIns="0" tIns="0" bIns="0">
            <a:spAutoFit/>
          </a:bodyPr>
          <a:lstStyle/>
          <a:p>
            <a:pPr algn="l">
              <a:lnSpc>
                <a:spcPct val="106000"/>
              </a:lnSpc>
            </a:pPr>
            <a:r>
              <a:rPr sz="2200" b="1" i="0">
                <a:solidFill>
                  <a:srgbClr val="2F9499"/>
                </a:solidFill>
                <a:latin typeface="Consolas"/>
              </a:rPr>
              <a:t>~120</a:t>
            </a:r>
          </a:p>
        </p:txBody>
      </p:sp>
      <p:sp>
        <p:nvSpPr>
          <p:cNvPr id="22" name="TextBox 21"/>
          <p:cNvSpPr txBox="1"/>
          <p:nvPr/>
        </p:nvSpPr>
        <p:spPr>
          <a:xfrm>
            <a:off x="9144000" y="4617720"/>
            <a:ext cx="1828800" cy="274320"/>
          </a:xfrm>
          <a:prstGeom prst="rect">
            <a:avLst/>
          </a:prstGeom>
          <a:noFill/>
        </p:spPr>
        <p:txBody>
          <a:bodyPr wrap="square" anchor="t" lIns="0" rIns="0" tIns="0" bIns="0">
            <a:spAutoFit/>
          </a:bodyPr>
          <a:lstStyle/>
          <a:p>
            <a:pPr algn="l">
              <a:lnSpc>
                <a:spcPct val="106000"/>
              </a:lnSpc>
            </a:pPr>
            <a:r>
              <a:rPr sz="950" b="1" i="0">
                <a:solidFill>
                  <a:srgbClr val="6F8B95"/>
                </a:solidFill>
                <a:latin typeface="Segoe UI"/>
              </a:rPr>
              <a:t>TOKENS</a:t>
            </a:r>
          </a:p>
        </p:txBody>
      </p:sp>
      <p:sp>
        <p:nvSpPr>
          <p:cNvPr id="23" name="TextBox 22"/>
          <p:cNvSpPr txBox="1"/>
          <p:nvPr/>
        </p:nvSpPr>
        <p:spPr>
          <a:xfrm>
            <a:off x="841248" y="5440680"/>
            <a:ext cx="10424160" cy="731520"/>
          </a:xfrm>
          <a:prstGeom prst="rect">
            <a:avLst/>
          </a:prstGeom>
          <a:noFill/>
        </p:spPr>
        <p:txBody>
          <a:bodyPr wrap="square" anchor="t" lIns="0" rIns="0" tIns="0" bIns="0">
            <a:spAutoFit/>
          </a:bodyPr>
          <a:lstStyle/>
          <a:p>
            <a:pPr algn="l">
              <a:lnSpc>
                <a:spcPct val="125000"/>
              </a:lnSpc>
              <a:spcAft>
                <a:spcPts val="600"/>
              </a:spcAft>
            </a:pPr>
            <a:r>
              <a:rPr sz="1250" b="0">
                <a:solidFill>
                  <a:srgbClr val="6F8B95"/>
                </a:solidFill>
                <a:latin typeface="Segoe UI"/>
              </a:rPr>
              <a:t>Same job. One path is built for humans. The other is built for agents. Across thousands of actions, that gap is the difference between an agent that is a demo and one that is a business.</a:t>
            </a:r>
          </a:p>
        </p:txBody>
      </p:sp>
      <p:sp>
        <p:nvSpPr>
          <p:cNvPr id="24" name="TextBox 23"/>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7FA6B0"/>
                </a:solidFill>
                <a:latin typeface="Segoe UI"/>
              </a:rPr>
              <a:t>UnClick  ·  Where AI belongs. Humans welcome.</a:t>
            </a:r>
          </a:p>
        </p:txBody>
      </p:sp>
      <p:sp>
        <p:nvSpPr>
          <p:cNvPr id="25" name="TextBox 24"/>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7FA6B0"/>
                </a:solidFill>
                <a:latin typeface="Consolas"/>
              </a:rPr>
              <a:t>04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50292"/>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630936"/>
            <a:ext cx="256032" cy="32004"/>
          </a:xfrm>
          <a:prstGeom prst="rect">
            <a:avLst/>
          </a:prstGeom>
          <a:solidFill>
            <a:srgbClr val="2F9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521207"/>
            <a:ext cx="8229600" cy="292608"/>
          </a:xfrm>
          <a:prstGeom prst="rect">
            <a:avLst/>
          </a:prstGeom>
          <a:noFill/>
        </p:spPr>
        <p:txBody>
          <a:bodyPr wrap="square" anchor="t" lIns="0" rIns="0" tIns="0" bIns="0">
            <a:spAutoFit/>
          </a:bodyPr>
          <a:lstStyle/>
          <a:p>
            <a:pPr algn="l">
              <a:lnSpc>
                <a:spcPct val="106000"/>
              </a:lnSpc>
            </a:pPr>
            <a:r>
              <a:rPr sz="1150" b="1" i="0">
                <a:solidFill>
                  <a:srgbClr val="2F9499"/>
                </a:solidFill>
                <a:latin typeface="Segoe UI"/>
              </a:rPr>
              <a:t>WHY NOW</a:t>
            </a:r>
          </a:p>
        </p:txBody>
      </p:sp>
      <p:sp>
        <p:nvSpPr>
          <p:cNvPr id="6" name="TextBox 5"/>
          <p:cNvSpPr txBox="1"/>
          <p:nvPr/>
        </p:nvSpPr>
        <p:spPr>
          <a:xfrm>
            <a:off x="841248" y="960120"/>
            <a:ext cx="10424160" cy="914400"/>
          </a:xfrm>
          <a:prstGeom prst="rect">
            <a:avLst/>
          </a:prstGeom>
          <a:noFill/>
        </p:spPr>
        <p:txBody>
          <a:bodyPr wrap="square" anchor="t" lIns="0" rIns="0" tIns="0" bIns="0">
            <a:spAutoFit/>
          </a:bodyPr>
          <a:lstStyle/>
          <a:p>
            <a:pPr algn="l">
              <a:lnSpc>
                <a:spcPct val="106000"/>
              </a:lnSpc>
            </a:pPr>
            <a:r>
              <a:rPr sz="4000" b="1" i="0">
                <a:solidFill>
                  <a:srgbClr val="0D2A36"/>
                </a:solidFill>
                <a:latin typeface="Segoe UI"/>
              </a:rPr>
              <a:t>The agent wave is here. The rails are not, </a:t>
            </a:r>
            <a:r>
              <a:rPr sz="4000" b="1" i="0">
                <a:solidFill>
                  <a:srgbClr val="2F9499"/>
                </a:solidFill>
                <a:latin typeface="Segoe UI"/>
              </a:rPr>
              <a:t>yet.</a:t>
            </a:r>
          </a:p>
        </p:txBody>
      </p:sp>
      <p:sp>
        <p:nvSpPr>
          <p:cNvPr id="7" name="Rounded Rectangle 6"/>
          <p:cNvSpPr/>
          <p:nvPr/>
        </p:nvSpPr>
        <p:spPr>
          <a:xfrm>
            <a:off x="841248" y="1874519"/>
            <a:ext cx="5074920" cy="1627632"/>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33856" y="2093976"/>
            <a:ext cx="4526280" cy="365760"/>
          </a:xfrm>
          <a:prstGeom prst="rect">
            <a:avLst/>
          </a:prstGeom>
          <a:noFill/>
        </p:spPr>
        <p:txBody>
          <a:bodyPr wrap="square" anchor="t" lIns="0" rIns="0" tIns="0" bIns="0">
            <a:spAutoFit/>
          </a:bodyPr>
          <a:lstStyle/>
          <a:p>
            <a:pPr algn="l">
              <a:lnSpc>
                <a:spcPct val="106000"/>
              </a:lnSpc>
            </a:pPr>
            <a:r>
              <a:rPr sz="1600" b="1" i="0">
                <a:solidFill>
                  <a:srgbClr val="2F9499"/>
                </a:solidFill>
                <a:latin typeface="Segoe UI"/>
              </a:rPr>
              <a:t>Agents are exploding</a:t>
            </a:r>
          </a:p>
        </p:txBody>
      </p:sp>
      <p:sp>
        <p:nvSpPr>
          <p:cNvPr id="9" name="TextBox 8"/>
          <p:cNvSpPr txBox="1"/>
          <p:nvPr/>
        </p:nvSpPr>
        <p:spPr>
          <a:xfrm>
            <a:off x="1133856" y="2532887"/>
            <a:ext cx="4526280" cy="850392"/>
          </a:xfrm>
          <a:prstGeom prst="rect">
            <a:avLst/>
          </a:prstGeom>
          <a:noFill/>
        </p:spPr>
        <p:txBody>
          <a:bodyPr wrap="square" anchor="t" lIns="0" rIns="0" tIns="0" bIns="0">
            <a:spAutoFit/>
          </a:bodyPr>
          <a:lstStyle/>
          <a:p>
            <a:pPr algn="l">
              <a:lnSpc>
                <a:spcPct val="122000"/>
              </a:lnSpc>
              <a:spcAft>
                <a:spcPts val="600"/>
              </a:spcAft>
            </a:pPr>
            <a:r>
              <a:rPr sz="1250" b="0">
                <a:solidFill>
                  <a:srgbClr val="3C5763"/>
                </a:solidFill>
                <a:latin typeface="Segoe UI"/>
              </a:rPr>
              <a:t>The world is shipping AI agents far faster than the infrastructure that makes them actually useful. The gap is the opportunity.</a:t>
            </a:r>
          </a:p>
        </p:txBody>
      </p:sp>
      <p:sp>
        <p:nvSpPr>
          <p:cNvPr id="10" name="Rounded Rectangle 9"/>
          <p:cNvSpPr/>
          <p:nvPr/>
        </p:nvSpPr>
        <p:spPr>
          <a:xfrm>
            <a:off x="6281928" y="1874519"/>
            <a:ext cx="5074920" cy="1627632"/>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74536" y="2093976"/>
            <a:ext cx="4526280" cy="365760"/>
          </a:xfrm>
          <a:prstGeom prst="rect">
            <a:avLst/>
          </a:prstGeom>
          <a:noFill/>
        </p:spPr>
        <p:txBody>
          <a:bodyPr wrap="square" anchor="t" lIns="0" rIns="0" tIns="0" bIns="0">
            <a:spAutoFit/>
          </a:bodyPr>
          <a:lstStyle/>
          <a:p>
            <a:pPr algn="l">
              <a:lnSpc>
                <a:spcPct val="106000"/>
              </a:lnSpc>
            </a:pPr>
            <a:r>
              <a:rPr sz="1600" b="1" i="0">
                <a:solidFill>
                  <a:srgbClr val="2F9499"/>
                </a:solidFill>
                <a:latin typeface="Segoe UI"/>
              </a:rPr>
              <a:t>MCP became the standard</a:t>
            </a:r>
          </a:p>
        </p:txBody>
      </p:sp>
      <p:sp>
        <p:nvSpPr>
          <p:cNvPr id="12" name="TextBox 11"/>
          <p:cNvSpPr txBox="1"/>
          <p:nvPr/>
        </p:nvSpPr>
        <p:spPr>
          <a:xfrm>
            <a:off x="6574536" y="2532887"/>
            <a:ext cx="4526280" cy="850392"/>
          </a:xfrm>
          <a:prstGeom prst="rect">
            <a:avLst/>
          </a:prstGeom>
          <a:noFill/>
        </p:spPr>
        <p:txBody>
          <a:bodyPr wrap="square" anchor="t" lIns="0" rIns="0" tIns="0" bIns="0">
            <a:spAutoFit/>
          </a:bodyPr>
          <a:lstStyle/>
          <a:p>
            <a:pPr algn="l">
              <a:lnSpc>
                <a:spcPct val="122000"/>
              </a:lnSpc>
              <a:spcAft>
                <a:spcPts val="600"/>
              </a:spcAft>
            </a:pPr>
            <a:r>
              <a:rPr sz="1250" b="0">
                <a:solidFill>
                  <a:srgbClr val="3C5763"/>
                </a:solidFill>
                <a:latin typeface="Segoe UI"/>
              </a:rPr>
              <a:t>Model Context Protocol is the USB-C for AI, now native in Claude, ChatGPT, Cursor and Copilot. One plug fits every agent, and UnClick speaks it.</a:t>
            </a:r>
          </a:p>
        </p:txBody>
      </p:sp>
      <p:sp>
        <p:nvSpPr>
          <p:cNvPr id="13" name="Rounded Rectangle 12"/>
          <p:cNvSpPr/>
          <p:nvPr/>
        </p:nvSpPr>
        <p:spPr>
          <a:xfrm>
            <a:off x="841248" y="3794760"/>
            <a:ext cx="5074920" cy="1627632"/>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33856" y="4014216"/>
            <a:ext cx="4526280" cy="365760"/>
          </a:xfrm>
          <a:prstGeom prst="rect">
            <a:avLst/>
          </a:prstGeom>
          <a:noFill/>
        </p:spPr>
        <p:txBody>
          <a:bodyPr wrap="square" anchor="t" lIns="0" rIns="0" tIns="0" bIns="0">
            <a:spAutoFit/>
          </a:bodyPr>
          <a:lstStyle/>
          <a:p>
            <a:pPr algn="l">
              <a:lnSpc>
                <a:spcPct val="106000"/>
              </a:lnSpc>
            </a:pPr>
            <a:r>
              <a:rPr sz="1600" b="1" i="0">
                <a:solidFill>
                  <a:srgbClr val="2F9499"/>
                </a:solidFill>
                <a:latin typeface="Segoe UI"/>
              </a:rPr>
              <a:t>Holding passwords went radioactive</a:t>
            </a:r>
          </a:p>
        </p:txBody>
      </p:sp>
      <p:sp>
        <p:nvSpPr>
          <p:cNvPr id="15" name="TextBox 14"/>
          <p:cNvSpPr txBox="1"/>
          <p:nvPr/>
        </p:nvSpPr>
        <p:spPr>
          <a:xfrm>
            <a:off x="1133856" y="4453128"/>
            <a:ext cx="4526280" cy="850392"/>
          </a:xfrm>
          <a:prstGeom prst="rect">
            <a:avLst/>
          </a:prstGeom>
          <a:noFill/>
        </p:spPr>
        <p:txBody>
          <a:bodyPr wrap="square" anchor="t" lIns="0" rIns="0" tIns="0" bIns="0">
            <a:spAutoFit/>
          </a:bodyPr>
          <a:lstStyle/>
          <a:p>
            <a:pPr algn="l">
              <a:lnSpc>
                <a:spcPct val="122000"/>
              </a:lnSpc>
              <a:spcAft>
                <a:spcPts val="600"/>
              </a:spcAft>
            </a:pPr>
            <a:r>
              <a:rPr sz="1250" b="0">
                <a:solidFill>
                  <a:srgbClr val="3C5763"/>
                </a:solidFill>
                <a:latin typeface="Segoe UI"/>
              </a:rPr>
              <a:t>After Amazon v. Perplexity (March 2026), brokering user credentials in the cloud became a legal minefield. UnClick's hold-nothing design is suddenly the safe one.</a:t>
            </a:r>
          </a:p>
        </p:txBody>
      </p:sp>
      <p:sp>
        <p:nvSpPr>
          <p:cNvPr id="16" name="Rounded Rectangle 15"/>
          <p:cNvSpPr/>
          <p:nvPr/>
        </p:nvSpPr>
        <p:spPr>
          <a:xfrm>
            <a:off x="6281928" y="3794760"/>
            <a:ext cx="5074920" cy="1627632"/>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74536" y="4014216"/>
            <a:ext cx="4526280" cy="365760"/>
          </a:xfrm>
          <a:prstGeom prst="rect">
            <a:avLst/>
          </a:prstGeom>
          <a:noFill/>
        </p:spPr>
        <p:txBody>
          <a:bodyPr wrap="square" anchor="t" lIns="0" rIns="0" tIns="0" bIns="0">
            <a:spAutoFit/>
          </a:bodyPr>
          <a:lstStyle/>
          <a:p>
            <a:pPr algn="l">
              <a:lnSpc>
                <a:spcPct val="106000"/>
              </a:lnSpc>
            </a:pPr>
            <a:r>
              <a:rPr sz="1600" b="1" i="0">
                <a:solidFill>
                  <a:srgbClr val="2F9499"/>
                </a:solidFill>
                <a:latin typeface="Segoe UI"/>
              </a:rPr>
              <a:t>The world moved to signed mandates</a:t>
            </a:r>
          </a:p>
        </p:txBody>
      </p:sp>
      <p:sp>
        <p:nvSpPr>
          <p:cNvPr id="18" name="TextBox 17"/>
          <p:cNvSpPr txBox="1"/>
          <p:nvPr/>
        </p:nvSpPr>
        <p:spPr>
          <a:xfrm>
            <a:off x="6574536" y="4453128"/>
            <a:ext cx="4526280" cy="850392"/>
          </a:xfrm>
          <a:prstGeom prst="rect">
            <a:avLst/>
          </a:prstGeom>
          <a:noFill/>
        </p:spPr>
        <p:txBody>
          <a:bodyPr wrap="square" anchor="t" lIns="0" rIns="0" tIns="0" bIns="0">
            <a:spAutoFit/>
          </a:bodyPr>
          <a:lstStyle/>
          <a:p>
            <a:pPr algn="l">
              <a:lnSpc>
                <a:spcPct val="122000"/>
              </a:lnSpc>
              <a:spcAft>
                <a:spcPts val="600"/>
              </a:spcAft>
            </a:pPr>
            <a:r>
              <a:rPr sz="1250" b="0">
                <a:solidFill>
                  <a:srgbClr val="3C5763"/>
                </a:solidFill>
                <a:latin typeface="Segoe UI"/>
              </a:rPr>
              <a:t>Cloudflare, Visa, Mastercard and Google all shifted to user-issued, signed agent permissions. UnClick is already built that exact shape.</a:t>
            </a:r>
          </a:p>
        </p:txBody>
      </p:sp>
      <p:sp>
        <p:nvSpPr>
          <p:cNvPr id="19" name="TextBox 18"/>
          <p:cNvSpPr txBox="1"/>
          <p:nvPr/>
        </p:nvSpPr>
        <p:spPr>
          <a:xfrm>
            <a:off x="841248" y="5623560"/>
            <a:ext cx="10424160" cy="457200"/>
          </a:xfrm>
          <a:prstGeom prst="rect">
            <a:avLst/>
          </a:prstGeom>
          <a:noFill/>
        </p:spPr>
        <p:txBody>
          <a:bodyPr wrap="square" anchor="t" lIns="0" rIns="0" tIns="0" bIns="0">
            <a:spAutoFit/>
          </a:bodyPr>
          <a:lstStyle/>
          <a:p>
            <a:pPr algn="l">
              <a:lnSpc>
                <a:spcPct val="106000"/>
              </a:lnSpc>
            </a:pPr>
            <a:r>
              <a:rPr sz="1600" b="1" i="0">
                <a:solidFill>
                  <a:srgbClr val="0D2A36"/>
                </a:solidFill>
                <a:latin typeface="Segoe UI"/>
              </a:rPr>
              <a:t>We ride the standard at the precise moment it consolidates.</a:t>
            </a:r>
          </a:p>
        </p:txBody>
      </p:sp>
      <p:sp>
        <p:nvSpPr>
          <p:cNvPr id="20" name="TextBox 19"/>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7FA6B0"/>
                </a:solidFill>
                <a:latin typeface="Segoe UI"/>
              </a:rPr>
              <a:t>UnClick  ·  Where AI belongs. Humans welcome.</a:t>
            </a:r>
          </a:p>
        </p:txBody>
      </p:sp>
      <p:sp>
        <p:nvSpPr>
          <p:cNvPr id="21" name="TextBox 20"/>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7FA6B0"/>
                </a:solidFill>
                <a:latin typeface="Consolas"/>
              </a:rPr>
              <a:t>05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50292"/>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630936"/>
            <a:ext cx="256032" cy="32004"/>
          </a:xfrm>
          <a:prstGeom prst="rect">
            <a:avLst/>
          </a:prstGeom>
          <a:solidFill>
            <a:srgbClr val="2F9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521207"/>
            <a:ext cx="8229600" cy="292608"/>
          </a:xfrm>
          <a:prstGeom prst="rect">
            <a:avLst/>
          </a:prstGeom>
          <a:noFill/>
        </p:spPr>
        <p:txBody>
          <a:bodyPr wrap="square" anchor="t" lIns="0" rIns="0" tIns="0" bIns="0">
            <a:spAutoFit/>
          </a:bodyPr>
          <a:lstStyle/>
          <a:p>
            <a:pPr algn="l">
              <a:lnSpc>
                <a:spcPct val="106000"/>
              </a:lnSpc>
            </a:pPr>
            <a:r>
              <a:rPr sz="1150" b="1" i="0">
                <a:solidFill>
                  <a:srgbClr val="2F9499"/>
                </a:solidFill>
                <a:latin typeface="Segoe UI"/>
              </a:rPr>
              <a:t>THE SOLUTION  ·  HELICOPTER VIEW</a:t>
            </a:r>
          </a:p>
        </p:txBody>
      </p:sp>
      <p:sp>
        <p:nvSpPr>
          <p:cNvPr id="6" name="TextBox 5"/>
          <p:cNvSpPr txBox="1"/>
          <p:nvPr/>
        </p:nvSpPr>
        <p:spPr>
          <a:xfrm>
            <a:off x="841248" y="914400"/>
            <a:ext cx="10515600" cy="914400"/>
          </a:xfrm>
          <a:prstGeom prst="rect">
            <a:avLst/>
          </a:prstGeom>
          <a:noFill/>
        </p:spPr>
        <p:txBody>
          <a:bodyPr wrap="square" anchor="t" lIns="0" rIns="0" tIns="0" bIns="0">
            <a:spAutoFit/>
          </a:bodyPr>
          <a:lstStyle/>
          <a:p>
            <a:pPr algn="ctr">
              <a:lnSpc>
                <a:spcPct val="106000"/>
              </a:lnSpc>
            </a:pPr>
            <a:r>
              <a:rPr sz="3800" b="1" i="0">
                <a:solidFill>
                  <a:srgbClr val="0D2A36"/>
                </a:solidFill>
                <a:latin typeface="Segoe UI"/>
              </a:rPr>
              <a:t>UnClick is the </a:t>
            </a:r>
            <a:r>
              <a:rPr sz="3800" b="1" i="0">
                <a:solidFill>
                  <a:srgbClr val="2F9499"/>
                </a:solidFill>
                <a:latin typeface="Segoe UI"/>
              </a:rPr>
              <a:t>rails</a:t>
            </a:r>
            <a:r>
              <a:rPr sz="3800" b="1" i="0">
                <a:solidFill>
                  <a:srgbClr val="0D2A36"/>
                </a:solidFill>
                <a:latin typeface="Segoe UI"/>
              </a:rPr>
              <a:t> your agent plugs into.</a:t>
            </a:r>
          </a:p>
        </p:txBody>
      </p:sp>
      <p:sp>
        <p:nvSpPr>
          <p:cNvPr id="7" name="TextBox 6"/>
          <p:cNvSpPr txBox="1"/>
          <p:nvPr/>
        </p:nvSpPr>
        <p:spPr>
          <a:xfrm>
            <a:off x="841248" y="1691640"/>
            <a:ext cx="10515600" cy="457200"/>
          </a:xfrm>
          <a:prstGeom prst="rect">
            <a:avLst/>
          </a:prstGeom>
          <a:noFill/>
        </p:spPr>
        <p:txBody>
          <a:bodyPr wrap="square" anchor="t" lIns="0" rIns="0" tIns="0" bIns="0">
            <a:spAutoFit/>
          </a:bodyPr>
          <a:lstStyle/>
          <a:p>
            <a:pPr algn="ctr">
              <a:lnSpc>
                <a:spcPct val="106000"/>
              </a:lnSpc>
            </a:pPr>
            <a:r>
              <a:rPr sz="1550" b="0" i="0">
                <a:solidFill>
                  <a:srgbClr val="3C5763"/>
                </a:solidFill>
                <a:latin typeface="Segoe UI"/>
              </a:rPr>
              <a:t>One npm install. Five superpowers. Works behind every AI app you already use.</a:t>
            </a:r>
          </a:p>
        </p:txBody>
      </p:sp>
      <p:sp>
        <p:nvSpPr>
          <p:cNvPr id="8" name="Rounded Rectangle 7"/>
          <p:cNvSpPr/>
          <p:nvPr/>
        </p:nvSpPr>
        <p:spPr>
          <a:xfrm>
            <a:off x="4544568" y="2286000"/>
            <a:ext cx="3108960" cy="566928"/>
          </a:xfrm>
          <a:prstGeom prst="roundRect">
            <a:avLst>
              <a:gd name="adj" fmla="val 25000"/>
            </a:avLst>
          </a:prstGeom>
          <a:solidFill>
            <a:srgbClr val="0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2286000"/>
            <a:ext cx="3108960" cy="566928"/>
          </a:xfrm>
          <a:prstGeom prst="rect">
            <a:avLst/>
          </a:prstGeom>
          <a:noFill/>
        </p:spPr>
        <p:txBody>
          <a:bodyPr wrap="square" anchor="ctr" lIns="0" rIns="0" tIns="0" bIns="0">
            <a:spAutoFit/>
          </a:bodyPr>
          <a:lstStyle/>
          <a:p>
            <a:pPr algn="ctr">
              <a:lnSpc>
                <a:spcPct val="106000"/>
              </a:lnSpc>
            </a:pPr>
            <a:r>
              <a:rPr sz="1500" b="1" i="0">
                <a:solidFill>
                  <a:srgbClr val="FFFFFF"/>
                </a:solidFill>
                <a:latin typeface="Segoe UI"/>
              </a:rPr>
              <a:t>◆  UnClick · one install</a:t>
            </a:r>
          </a:p>
        </p:txBody>
      </p:sp>
      <p:sp>
        <p:nvSpPr>
          <p:cNvPr id="10" name="Rounded Rectangle 9"/>
          <p:cNvSpPr/>
          <p:nvPr/>
        </p:nvSpPr>
        <p:spPr>
          <a:xfrm>
            <a:off x="920343" y="3200400"/>
            <a:ext cx="1938528" cy="210312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20343" y="3200400"/>
            <a:ext cx="1938528" cy="54864"/>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633575" y="3456432"/>
            <a:ext cx="512064" cy="512064"/>
          </a:xfrm>
          <a:prstGeom prst="roundRect">
            <a:avLst>
              <a:gd name="adj" fmla="val 25000"/>
            </a:avLst>
          </a:prstGeom>
          <a:solidFill>
            <a:srgbClr val="E4F5F5"/>
          </a:solidFill>
          <a:ln w="12700">
            <a:solidFill>
              <a:srgbClr val="BFE8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0343" y="3511296"/>
            <a:ext cx="1938528" cy="402336"/>
          </a:xfrm>
          <a:prstGeom prst="rect">
            <a:avLst/>
          </a:prstGeom>
          <a:noFill/>
        </p:spPr>
        <p:txBody>
          <a:bodyPr wrap="square" anchor="ctr" lIns="0" rIns="0" tIns="0" bIns="0">
            <a:spAutoFit/>
          </a:bodyPr>
          <a:lstStyle/>
          <a:p>
            <a:pPr algn="ctr">
              <a:lnSpc>
                <a:spcPct val="106000"/>
              </a:lnSpc>
            </a:pPr>
            <a:r>
              <a:rPr sz="1800" b="1" i="0">
                <a:solidFill>
                  <a:srgbClr val="2F9499"/>
                </a:solidFill>
                <a:latin typeface="Segoe UI"/>
              </a:rPr>
              <a:t>◧</a:t>
            </a:r>
          </a:p>
        </p:txBody>
      </p:sp>
      <p:sp>
        <p:nvSpPr>
          <p:cNvPr id="14" name="TextBox 13"/>
          <p:cNvSpPr txBox="1"/>
          <p:nvPr/>
        </p:nvSpPr>
        <p:spPr>
          <a:xfrm>
            <a:off x="920343" y="4114800"/>
            <a:ext cx="1938528" cy="365760"/>
          </a:xfrm>
          <a:prstGeom prst="rect">
            <a:avLst/>
          </a:prstGeom>
          <a:noFill/>
        </p:spPr>
        <p:txBody>
          <a:bodyPr wrap="square" anchor="t" lIns="0" rIns="0" tIns="0" bIns="0">
            <a:spAutoFit/>
          </a:bodyPr>
          <a:lstStyle/>
          <a:p>
            <a:pPr algn="ctr">
              <a:lnSpc>
                <a:spcPct val="106000"/>
              </a:lnSpc>
            </a:pPr>
            <a:r>
              <a:rPr sz="1500" b="1" i="0">
                <a:solidFill>
                  <a:srgbClr val="0D2A36"/>
                </a:solidFill>
                <a:latin typeface="Segoe UI"/>
              </a:rPr>
              <a:t>Apps</a:t>
            </a:r>
          </a:p>
        </p:txBody>
      </p:sp>
      <p:sp>
        <p:nvSpPr>
          <p:cNvPr id="15" name="TextBox 14"/>
          <p:cNvSpPr txBox="1"/>
          <p:nvPr/>
        </p:nvSpPr>
        <p:spPr>
          <a:xfrm>
            <a:off x="1066647" y="4498848"/>
            <a:ext cx="1645920" cy="731520"/>
          </a:xfrm>
          <a:prstGeom prst="rect">
            <a:avLst/>
          </a:prstGeom>
          <a:noFill/>
        </p:spPr>
        <p:txBody>
          <a:bodyPr wrap="square" anchor="t" lIns="0" rIns="0" tIns="0" bIns="0">
            <a:spAutoFit/>
          </a:bodyPr>
          <a:lstStyle/>
          <a:p>
            <a:pPr algn="ctr">
              <a:lnSpc>
                <a:spcPct val="115000"/>
              </a:lnSpc>
              <a:spcAft>
                <a:spcPts val="600"/>
              </a:spcAft>
            </a:pPr>
            <a:r>
              <a:rPr sz="1100" b="0">
                <a:solidFill>
                  <a:srgbClr val="6F8B95"/>
                </a:solidFill>
                <a:latin typeface="Segoe UI"/>
              </a:rPr>
              <a:t>Every tool, ready to call.</a:t>
            </a:r>
          </a:p>
        </p:txBody>
      </p:sp>
      <p:sp>
        <p:nvSpPr>
          <p:cNvPr id="16" name="Rounded Rectangle 15"/>
          <p:cNvSpPr/>
          <p:nvPr/>
        </p:nvSpPr>
        <p:spPr>
          <a:xfrm>
            <a:off x="3023463" y="3200400"/>
            <a:ext cx="1938528" cy="210312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23463" y="3200400"/>
            <a:ext cx="1938528" cy="54864"/>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736695" y="3456432"/>
            <a:ext cx="512064" cy="512064"/>
          </a:xfrm>
          <a:prstGeom prst="roundRect">
            <a:avLst>
              <a:gd name="adj" fmla="val 25000"/>
            </a:avLst>
          </a:prstGeom>
          <a:solidFill>
            <a:srgbClr val="E4F5F5"/>
          </a:solidFill>
          <a:ln w="12700">
            <a:solidFill>
              <a:srgbClr val="BFE8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23463" y="3511296"/>
            <a:ext cx="1938528" cy="402336"/>
          </a:xfrm>
          <a:prstGeom prst="rect">
            <a:avLst/>
          </a:prstGeom>
          <a:noFill/>
        </p:spPr>
        <p:txBody>
          <a:bodyPr wrap="square" anchor="ctr" lIns="0" rIns="0" tIns="0" bIns="0">
            <a:spAutoFit/>
          </a:bodyPr>
          <a:lstStyle/>
          <a:p>
            <a:pPr algn="ctr">
              <a:lnSpc>
                <a:spcPct val="106000"/>
              </a:lnSpc>
            </a:pPr>
            <a:r>
              <a:rPr sz="1800" b="1" i="0">
                <a:solidFill>
                  <a:srgbClr val="2F9499"/>
                </a:solidFill>
                <a:latin typeface="Segoe UI"/>
              </a:rPr>
              <a:t>◧</a:t>
            </a:r>
          </a:p>
        </p:txBody>
      </p:sp>
      <p:sp>
        <p:nvSpPr>
          <p:cNvPr id="20" name="TextBox 19"/>
          <p:cNvSpPr txBox="1"/>
          <p:nvPr/>
        </p:nvSpPr>
        <p:spPr>
          <a:xfrm>
            <a:off x="3023463" y="4114800"/>
            <a:ext cx="1938528" cy="365760"/>
          </a:xfrm>
          <a:prstGeom prst="rect">
            <a:avLst/>
          </a:prstGeom>
          <a:noFill/>
        </p:spPr>
        <p:txBody>
          <a:bodyPr wrap="square" anchor="t" lIns="0" rIns="0" tIns="0" bIns="0">
            <a:spAutoFit/>
          </a:bodyPr>
          <a:lstStyle/>
          <a:p>
            <a:pPr algn="ctr">
              <a:lnSpc>
                <a:spcPct val="106000"/>
              </a:lnSpc>
            </a:pPr>
            <a:r>
              <a:rPr sz="1500" b="1" i="0">
                <a:solidFill>
                  <a:srgbClr val="0D2A36"/>
                </a:solidFill>
                <a:latin typeface="Segoe UI"/>
              </a:rPr>
              <a:t>Memory</a:t>
            </a:r>
          </a:p>
        </p:txBody>
      </p:sp>
      <p:sp>
        <p:nvSpPr>
          <p:cNvPr id="21" name="TextBox 20"/>
          <p:cNvSpPr txBox="1"/>
          <p:nvPr/>
        </p:nvSpPr>
        <p:spPr>
          <a:xfrm>
            <a:off x="3169767" y="4498848"/>
            <a:ext cx="1645920" cy="731520"/>
          </a:xfrm>
          <a:prstGeom prst="rect">
            <a:avLst/>
          </a:prstGeom>
          <a:noFill/>
        </p:spPr>
        <p:txBody>
          <a:bodyPr wrap="square" anchor="t" lIns="0" rIns="0" tIns="0" bIns="0">
            <a:spAutoFit/>
          </a:bodyPr>
          <a:lstStyle/>
          <a:p>
            <a:pPr algn="ctr">
              <a:lnSpc>
                <a:spcPct val="115000"/>
              </a:lnSpc>
              <a:spcAft>
                <a:spcPts val="600"/>
              </a:spcAft>
            </a:pPr>
            <a:r>
              <a:rPr sz="1100" b="0">
                <a:solidFill>
                  <a:srgbClr val="6F8B95"/>
                </a:solidFill>
                <a:latin typeface="Segoe UI"/>
              </a:rPr>
              <a:t>Remembers across every session and device.</a:t>
            </a:r>
          </a:p>
        </p:txBody>
      </p:sp>
      <p:sp>
        <p:nvSpPr>
          <p:cNvPr id="22" name="Rounded Rectangle 21"/>
          <p:cNvSpPr/>
          <p:nvPr/>
        </p:nvSpPr>
        <p:spPr>
          <a:xfrm>
            <a:off x="5126583" y="3200400"/>
            <a:ext cx="1938528" cy="210312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583" y="3200400"/>
            <a:ext cx="1938528" cy="54864"/>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839815" y="3456432"/>
            <a:ext cx="512064" cy="512064"/>
          </a:xfrm>
          <a:prstGeom prst="roundRect">
            <a:avLst>
              <a:gd name="adj" fmla="val 25000"/>
            </a:avLst>
          </a:prstGeom>
          <a:solidFill>
            <a:srgbClr val="E4F5F5"/>
          </a:solidFill>
          <a:ln w="12700">
            <a:solidFill>
              <a:srgbClr val="BFE8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26583" y="3511296"/>
            <a:ext cx="1938528" cy="402336"/>
          </a:xfrm>
          <a:prstGeom prst="rect">
            <a:avLst/>
          </a:prstGeom>
          <a:noFill/>
        </p:spPr>
        <p:txBody>
          <a:bodyPr wrap="square" anchor="ctr" lIns="0" rIns="0" tIns="0" bIns="0">
            <a:spAutoFit/>
          </a:bodyPr>
          <a:lstStyle/>
          <a:p>
            <a:pPr algn="ctr">
              <a:lnSpc>
                <a:spcPct val="106000"/>
              </a:lnSpc>
            </a:pPr>
            <a:r>
              <a:rPr sz="1800" b="1" i="0">
                <a:solidFill>
                  <a:srgbClr val="2F9499"/>
                </a:solidFill>
                <a:latin typeface="Segoe UI"/>
              </a:rPr>
              <a:t>◧</a:t>
            </a:r>
          </a:p>
        </p:txBody>
      </p:sp>
      <p:sp>
        <p:nvSpPr>
          <p:cNvPr id="26" name="TextBox 25"/>
          <p:cNvSpPr txBox="1"/>
          <p:nvPr/>
        </p:nvSpPr>
        <p:spPr>
          <a:xfrm>
            <a:off x="5126583" y="4114800"/>
            <a:ext cx="1938528" cy="365760"/>
          </a:xfrm>
          <a:prstGeom prst="rect">
            <a:avLst/>
          </a:prstGeom>
          <a:noFill/>
        </p:spPr>
        <p:txBody>
          <a:bodyPr wrap="square" anchor="t" lIns="0" rIns="0" tIns="0" bIns="0">
            <a:spAutoFit/>
          </a:bodyPr>
          <a:lstStyle/>
          <a:p>
            <a:pPr algn="ctr">
              <a:lnSpc>
                <a:spcPct val="106000"/>
              </a:lnSpc>
            </a:pPr>
            <a:r>
              <a:rPr sz="1500" b="1" i="0">
                <a:solidFill>
                  <a:srgbClr val="0D2A36"/>
                </a:solidFill>
                <a:latin typeface="Segoe UI"/>
              </a:rPr>
              <a:t>Connections</a:t>
            </a:r>
          </a:p>
        </p:txBody>
      </p:sp>
      <p:sp>
        <p:nvSpPr>
          <p:cNvPr id="27" name="TextBox 26"/>
          <p:cNvSpPr txBox="1"/>
          <p:nvPr/>
        </p:nvSpPr>
        <p:spPr>
          <a:xfrm>
            <a:off x="5272887" y="4498848"/>
            <a:ext cx="1645920" cy="731520"/>
          </a:xfrm>
          <a:prstGeom prst="rect">
            <a:avLst/>
          </a:prstGeom>
          <a:noFill/>
        </p:spPr>
        <p:txBody>
          <a:bodyPr wrap="square" anchor="t" lIns="0" rIns="0" tIns="0" bIns="0">
            <a:spAutoFit/>
          </a:bodyPr>
          <a:lstStyle/>
          <a:p>
            <a:pPr algn="ctr">
              <a:lnSpc>
                <a:spcPct val="115000"/>
              </a:lnSpc>
              <a:spcAft>
                <a:spcPts val="600"/>
              </a:spcAft>
            </a:pPr>
            <a:r>
              <a:rPr sz="1100" b="0">
                <a:solidFill>
                  <a:srgbClr val="6F8B95"/>
                </a:solidFill>
                <a:latin typeface="Segoe UI"/>
              </a:rPr>
              <a:t>Sign in once. Every agent inherits.</a:t>
            </a:r>
          </a:p>
        </p:txBody>
      </p:sp>
      <p:sp>
        <p:nvSpPr>
          <p:cNvPr id="28" name="Rounded Rectangle 27"/>
          <p:cNvSpPr/>
          <p:nvPr/>
        </p:nvSpPr>
        <p:spPr>
          <a:xfrm>
            <a:off x="7229703" y="3200400"/>
            <a:ext cx="1938528" cy="210312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29703" y="3200400"/>
            <a:ext cx="1938528" cy="54864"/>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42935" y="3456432"/>
            <a:ext cx="512064" cy="512064"/>
          </a:xfrm>
          <a:prstGeom prst="roundRect">
            <a:avLst>
              <a:gd name="adj" fmla="val 25000"/>
            </a:avLst>
          </a:prstGeom>
          <a:solidFill>
            <a:srgbClr val="E4F5F5"/>
          </a:solidFill>
          <a:ln w="12700">
            <a:solidFill>
              <a:srgbClr val="BFE8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9703" y="3511296"/>
            <a:ext cx="1938528" cy="402336"/>
          </a:xfrm>
          <a:prstGeom prst="rect">
            <a:avLst/>
          </a:prstGeom>
          <a:noFill/>
        </p:spPr>
        <p:txBody>
          <a:bodyPr wrap="square" anchor="ctr" lIns="0" rIns="0" tIns="0" bIns="0">
            <a:spAutoFit/>
          </a:bodyPr>
          <a:lstStyle/>
          <a:p>
            <a:pPr algn="ctr">
              <a:lnSpc>
                <a:spcPct val="106000"/>
              </a:lnSpc>
            </a:pPr>
            <a:r>
              <a:rPr sz="1800" b="1" i="0">
                <a:solidFill>
                  <a:srgbClr val="2F9499"/>
                </a:solidFill>
                <a:latin typeface="Segoe UI"/>
              </a:rPr>
              <a:t>◧</a:t>
            </a:r>
          </a:p>
        </p:txBody>
      </p:sp>
      <p:sp>
        <p:nvSpPr>
          <p:cNvPr id="32" name="TextBox 31"/>
          <p:cNvSpPr txBox="1"/>
          <p:nvPr/>
        </p:nvSpPr>
        <p:spPr>
          <a:xfrm>
            <a:off x="7229703" y="4114800"/>
            <a:ext cx="1938528" cy="365760"/>
          </a:xfrm>
          <a:prstGeom prst="rect">
            <a:avLst/>
          </a:prstGeom>
          <a:noFill/>
        </p:spPr>
        <p:txBody>
          <a:bodyPr wrap="square" anchor="t" lIns="0" rIns="0" tIns="0" bIns="0">
            <a:spAutoFit/>
          </a:bodyPr>
          <a:lstStyle/>
          <a:p>
            <a:pPr algn="ctr">
              <a:lnSpc>
                <a:spcPct val="106000"/>
              </a:lnSpc>
            </a:pPr>
            <a:r>
              <a:rPr sz="1500" b="1" i="0">
                <a:solidFill>
                  <a:srgbClr val="0D2A36"/>
                </a:solidFill>
                <a:latin typeface="Segoe UI"/>
              </a:rPr>
              <a:t>AutoPilot</a:t>
            </a:r>
          </a:p>
        </p:txBody>
      </p:sp>
      <p:sp>
        <p:nvSpPr>
          <p:cNvPr id="33" name="TextBox 32"/>
          <p:cNvSpPr txBox="1"/>
          <p:nvPr/>
        </p:nvSpPr>
        <p:spPr>
          <a:xfrm>
            <a:off x="7376007" y="4498848"/>
            <a:ext cx="1645920" cy="731520"/>
          </a:xfrm>
          <a:prstGeom prst="rect">
            <a:avLst/>
          </a:prstGeom>
          <a:noFill/>
        </p:spPr>
        <p:txBody>
          <a:bodyPr wrap="square" anchor="t" lIns="0" rIns="0" tIns="0" bIns="0">
            <a:spAutoFit/>
          </a:bodyPr>
          <a:lstStyle/>
          <a:p>
            <a:pPr algn="ctr">
              <a:lnSpc>
                <a:spcPct val="115000"/>
              </a:lnSpc>
              <a:spcAft>
                <a:spcPts val="600"/>
              </a:spcAft>
            </a:pPr>
            <a:r>
              <a:rPr sz="1100" b="0">
                <a:solidFill>
                  <a:srgbClr val="6F8B95"/>
                </a:solidFill>
                <a:latin typeface="Segoe UI"/>
              </a:rPr>
              <a:t>Plans, routes, builds and checks the work.</a:t>
            </a:r>
          </a:p>
        </p:txBody>
      </p:sp>
      <p:sp>
        <p:nvSpPr>
          <p:cNvPr id="34" name="Rounded Rectangle 33"/>
          <p:cNvSpPr/>
          <p:nvPr/>
        </p:nvSpPr>
        <p:spPr>
          <a:xfrm>
            <a:off x="9332823" y="3200400"/>
            <a:ext cx="1938528" cy="210312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332823" y="3200400"/>
            <a:ext cx="1938528" cy="54864"/>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046055" y="3456432"/>
            <a:ext cx="512064" cy="512064"/>
          </a:xfrm>
          <a:prstGeom prst="roundRect">
            <a:avLst>
              <a:gd name="adj" fmla="val 25000"/>
            </a:avLst>
          </a:prstGeom>
          <a:solidFill>
            <a:srgbClr val="E4F5F5"/>
          </a:solidFill>
          <a:ln w="12700">
            <a:solidFill>
              <a:srgbClr val="BFE8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32823" y="3511296"/>
            <a:ext cx="1938528" cy="402336"/>
          </a:xfrm>
          <a:prstGeom prst="rect">
            <a:avLst/>
          </a:prstGeom>
          <a:noFill/>
        </p:spPr>
        <p:txBody>
          <a:bodyPr wrap="square" anchor="ctr" lIns="0" rIns="0" tIns="0" bIns="0">
            <a:spAutoFit/>
          </a:bodyPr>
          <a:lstStyle/>
          <a:p>
            <a:pPr algn="ctr">
              <a:lnSpc>
                <a:spcPct val="106000"/>
              </a:lnSpc>
            </a:pPr>
            <a:r>
              <a:rPr sz="1800" b="1" i="0">
                <a:solidFill>
                  <a:srgbClr val="2F9499"/>
                </a:solidFill>
                <a:latin typeface="Segoe UI"/>
              </a:rPr>
              <a:t>◧</a:t>
            </a:r>
          </a:p>
        </p:txBody>
      </p:sp>
      <p:sp>
        <p:nvSpPr>
          <p:cNvPr id="38" name="TextBox 37"/>
          <p:cNvSpPr txBox="1"/>
          <p:nvPr/>
        </p:nvSpPr>
        <p:spPr>
          <a:xfrm>
            <a:off x="9332823" y="4114800"/>
            <a:ext cx="1938528" cy="365760"/>
          </a:xfrm>
          <a:prstGeom prst="rect">
            <a:avLst/>
          </a:prstGeom>
          <a:noFill/>
        </p:spPr>
        <p:txBody>
          <a:bodyPr wrap="square" anchor="t" lIns="0" rIns="0" tIns="0" bIns="0">
            <a:spAutoFit/>
          </a:bodyPr>
          <a:lstStyle/>
          <a:p>
            <a:pPr algn="ctr">
              <a:lnSpc>
                <a:spcPct val="106000"/>
              </a:lnSpc>
            </a:pPr>
            <a:r>
              <a:rPr sz="1500" b="1" i="0">
                <a:solidFill>
                  <a:srgbClr val="0D2A36"/>
                </a:solidFill>
                <a:latin typeface="Segoe UI"/>
              </a:rPr>
              <a:t>XPass</a:t>
            </a:r>
          </a:p>
        </p:txBody>
      </p:sp>
      <p:sp>
        <p:nvSpPr>
          <p:cNvPr id="39" name="TextBox 38"/>
          <p:cNvSpPr txBox="1"/>
          <p:nvPr/>
        </p:nvSpPr>
        <p:spPr>
          <a:xfrm>
            <a:off x="9479127" y="4498848"/>
            <a:ext cx="1645920" cy="731520"/>
          </a:xfrm>
          <a:prstGeom prst="rect">
            <a:avLst/>
          </a:prstGeom>
          <a:noFill/>
        </p:spPr>
        <p:txBody>
          <a:bodyPr wrap="square" anchor="t" lIns="0" rIns="0" tIns="0" bIns="0">
            <a:spAutoFit/>
          </a:bodyPr>
          <a:lstStyle/>
          <a:p>
            <a:pPr algn="ctr">
              <a:lnSpc>
                <a:spcPct val="115000"/>
              </a:lnSpc>
              <a:spcAft>
                <a:spcPts val="600"/>
              </a:spcAft>
            </a:pPr>
            <a:r>
              <a:rPr sz="1100" b="0">
                <a:solidFill>
                  <a:srgbClr val="6F8B95"/>
                </a:solidFill>
                <a:latin typeface="Segoe UI"/>
              </a:rPr>
              <a:t>Proves the work before it ships.</a:t>
            </a:r>
          </a:p>
        </p:txBody>
      </p:sp>
      <p:sp>
        <p:nvSpPr>
          <p:cNvPr id="40" name="TextBox 39"/>
          <p:cNvSpPr txBox="1"/>
          <p:nvPr/>
        </p:nvSpPr>
        <p:spPr>
          <a:xfrm>
            <a:off x="841248" y="5623560"/>
            <a:ext cx="10515600" cy="457200"/>
          </a:xfrm>
          <a:prstGeom prst="rect">
            <a:avLst/>
          </a:prstGeom>
          <a:noFill/>
        </p:spPr>
        <p:txBody>
          <a:bodyPr wrap="square" anchor="t" lIns="0" rIns="0" tIns="0" bIns="0">
            <a:spAutoFit/>
          </a:bodyPr>
          <a:lstStyle/>
          <a:p>
            <a:pPr algn="ctr">
              <a:lnSpc>
                <a:spcPct val="106000"/>
              </a:lnSpc>
            </a:pPr>
            <a:r>
              <a:rPr sz="1250" b="0" i="0">
                <a:solidFill>
                  <a:srgbClr val="6F8B95"/>
                </a:solidFill>
                <a:latin typeface="Segoe UI"/>
              </a:rPr>
              <a:t>Sits behind Claude, ChatGPT, Cursor, Copilot and every MCP client. We do not compete with them. We make all of them better.</a:t>
            </a:r>
          </a:p>
        </p:txBody>
      </p:sp>
      <p:sp>
        <p:nvSpPr>
          <p:cNvPr id="41" name="TextBox 40"/>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7FA6B0"/>
                </a:solidFill>
                <a:latin typeface="Segoe UI"/>
              </a:rPr>
              <a:t>UnClick  ·  Where AI belongs. Humans welcome.</a:t>
            </a:r>
          </a:p>
        </p:txBody>
      </p:sp>
      <p:sp>
        <p:nvSpPr>
          <p:cNvPr id="42" name="TextBox 41"/>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7FA6B0"/>
                </a:solidFill>
                <a:latin typeface="Consolas"/>
              </a:rPr>
              <a:t>06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50292"/>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630936"/>
            <a:ext cx="256032" cy="32004"/>
          </a:xfrm>
          <a:prstGeom prst="rect">
            <a:avLst/>
          </a:prstGeom>
          <a:solidFill>
            <a:srgbClr val="2F9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521207"/>
            <a:ext cx="8229600" cy="292608"/>
          </a:xfrm>
          <a:prstGeom prst="rect">
            <a:avLst/>
          </a:prstGeom>
          <a:noFill/>
        </p:spPr>
        <p:txBody>
          <a:bodyPr wrap="square" anchor="t" lIns="0" rIns="0" tIns="0" bIns="0">
            <a:spAutoFit/>
          </a:bodyPr>
          <a:lstStyle/>
          <a:p>
            <a:pPr algn="l">
              <a:lnSpc>
                <a:spcPct val="106000"/>
              </a:lnSpc>
            </a:pPr>
            <a:r>
              <a:rPr sz="1150" b="1" i="0">
                <a:solidFill>
                  <a:srgbClr val="2F9499"/>
                </a:solidFill>
                <a:latin typeface="Segoe UI"/>
              </a:rPr>
              <a:t>PILLAR 1  ·  APPS</a:t>
            </a:r>
          </a:p>
        </p:txBody>
      </p:sp>
      <p:sp>
        <p:nvSpPr>
          <p:cNvPr id="6" name="TextBox 5"/>
          <p:cNvSpPr txBox="1"/>
          <p:nvPr/>
        </p:nvSpPr>
        <p:spPr>
          <a:xfrm>
            <a:off x="841248" y="960120"/>
            <a:ext cx="10424160" cy="914400"/>
          </a:xfrm>
          <a:prstGeom prst="rect">
            <a:avLst/>
          </a:prstGeom>
          <a:noFill/>
        </p:spPr>
        <p:txBody>
          <a:bodyPr wrap="square" anchor="t" lIns="0" rIns="0" tIns="0" bIns="0">
            <a:spAutoFit/>
          </a:bodyPr>
          <a:lstStyle/>
          <a:p>
            <a:pPr algn="l">
              <a:lnSpc>
                <a:spcPct val="106000"/>
              </a:lnSpc>
            </a:pPr>
            <a:r>
              <a:rPr sz="4200" b="1" i="0">
                <a:solidFill>
                  <a:srgbClr val="0D2A36"/>
                </a:solidFill>
                <a:latin typeface="Segoe UI"/>
              </a:rPr>
              <a:t>An </a:t>
            </a:r>
            <a:r>
              <a:rPr sz="4200" b="1" i="0">
                <a:solidFill>
                  <a:srgbClr val="2F9499"/>
                </a:solidFill>
                <a:latin typeface="Segoe UI"/>
              </a:rPr>
              <a:t>app store</a:t>
            </a:r>
            <a:r>
              <a:rPr sz="4200" b="1" i="0">
                <a:solidFill>
                  <a:srgbClr val="0D2A36"/>
                </a:solidFill>
                <a:latin typeface="Segoe UI"/>
              </a:rPr>
              <a:t> for AI agents.</a:t>
            </a:r>
          </a:p>
        </p:txBody>
      </p:sp>
      <p:sp>
        <p:nvSpPr>
          <p:cNvPr id="7" name="TextBox 6"/>
          <p:cNvSpPr txBox="1"/>
          <p:nvPr/>
        </p:nvSpPr>
        <p:spPr>
          <a:xfrm>
            <a:off x="841248" y="1828800"/>
            <a:ext cx="9966960" cy="914400"/>
          </a:xfrm>
          <a:prstGeom prst="rect">
            <a:avLst/>
          </a:prstGeom>
          <a:noFill/>
        </p:spPr>
        <p:txBody>
          <a:bodyPr wrap="square" anchor="t" lIns="0" rIns="0" tIns="0" bIns="0">
            <a:spAutoFit/>
          </a:bodyPr>
          <a:lstStyle/>
          <a:p>
            <a:pPr algn="l">
              <a:lnSpc>
                <a:spcPct val="130000"/>
              </a:lnSpc>
              <a:spcAft>
                <a:spcPts val="600"/>
              </a:spcAft>
            </a:pPr>
            <a:r>
              <a:rPr sz="1600" b="0">
                <a:solidFill>
                  <a:srgbClr val="3C5763"/>
                </a:solidFill>
                <a:latin typeface="Segoe UI"/>
              </a:rPr>
              <a:t>One install, and your agent can actually do things: send an email, charge a card on Stripe, post to Slack, open a GitHub pull request, check the weather, read the news. No more wiring up six servers by hand.</a:t>
            </a:r>
          </a:p>
        </p:txBody>
      </p:sp>
      <p:sp>
        <p:nvSpPr>
          <p:cNvPr id="8" name="Rounded Rectangle 7"/>
          <p:cNvSpPr/>
          <p:nvPr/>
        </p:nvSpPr>
        <p:spPr>
          <a:xfrm>
            <a:off x="841248" y="3200400"/>
            <a:ext cx="2487168" cy="155448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493008"/>
            <a:ext cx="2487168" cy="731520"/>
          </a:xfrm>
          <a:prstGeom prst="rect">
            <a:avLst/>
          </a:prstGeom>
          <a:noFill/>
        </p:spPr>
        <p:txBody>
          <a:bodyPr wrap="square" anchor="t" lIns="0" rIns="0" tIns="0" bIns="0">
            <a:spAutoFit/>
          </a:bodyPr>
          <a:lstStyle/>
          <a:p>
            <a:pPr algn="ctr">
              <a:lnSpc>
                <a:spcPct val="106000"/>
              </a:lnSpc>
            </a:pPr>
            <a:r>
              <a:rPr sz="4000" b="1" i="0">
                <a:solidFill>
                  <a:srgbClr val="2F9499"/>
                </a:solidFill>
                <a:latin typeface="Consolas"/>
              </a:rPr>
              <a:t>450+</a:t>
            </a:r>
          </a:p>
        </p:txBody>
      </p:sp>
      <p:sp>
        <p:nvSpPr>
          <p:cNvPr id="10" name="TextBox 9"/>
          <p:cNvSpPr txBox="1"/>
          <p:nvPr/>
        </p:nvSpPr>
        <p:spPr>
          <a:xfrm>
            <a:off x="841248" y="4251960"/>
            <a:ext cx="2487168" cy="365760"/>
          </a:xfrm>
          <a:prstGeom prst="rect">
            <a:avLst/>
          </a:prstGeom>
          <a:noFill/>
        </p:spPr>
        <p:txBody>
          <a:bodyPr wrap="square" anchor="t" lIns="0" rIns="0" tIns="0" bIns="0">
            <a:spAutoFit/>
          </a:bodyPr>
          <a:lstStyle/>
          <a:p>
            <a:pPr algn="ctr">
              <a:lnSpc>
                <a:spcPct val="106000"/>
              </a:lnSpc>
            </a:pPr>
            <a:r>
              <a:rPr sz="1200" b="1" i="0">
                <a:solidFill>
                  <a:srgbClr val="6F8B95"/>
                </a:solidFill>
                <a:latin typeface="Segoe UI"/>
              </a:rPr>
              <a:t>Callable endpoints</a:t>
            </a:r>
          </a:p>
        </p:txBody>
      </p:sp>
      <p:sp>
        <p:nvSpPr>
          <p:cNvPr id="11" name="Rounded Rectangle 10"/>
          <p:cNvSpPr/>
          <p:nvPr/>
        </p:nvSpPr>
        <p:spPr>
          <a:xfrm>
            <a:off x="3493008" y="3200400"/>
            <a:ext cx="2487168" cy="155448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93008" y="3493008"/>
            <a:ext cx="2487168" cy="731520"/>
          </a:xfrm>
          <a:prstGeom prst="rect">
            <a:avLst/>
          </a:prstGeom>
          <a:noFill/>
        </p:spPr>
        <p:txBody>
          <a:bodyPr wrap="square" anchor="t" lIns="0" rIns="0" tIns="0" bIns="0">
            <a:spAutoFit/>
          </a:bodyPr>
          <a:lstStyle/>
          <a:p>
            <a:pPr algn="ctr">
              <a:lnSpc>
                <a:spcPct val="106000"/>
              </a:lnSpc>
            </a:pPr>
            <a:r>
              <a:rPr sz="4000" b="1" i="0">
                <a:solidFill>
                  <a:srgbClr val="2F9499"/>
                </a:solidFill>
                <a:latin typeface="Consolas"/>
              </a:rPr>
              <a:t>178+</a:t>
            </a:r>
          </a:p>
        </p:txBody>
      </p:sp>
      <p:sp>
        <p:nvSpPr>
          <p:cNvPr id="13" name="TextBox 12"/>
          <p:cNvSpPr txBox="1"/>
          <p:nvPr/>
        </p:nvSpPr>
        <p:spPr>
          <a:xfrm>
            <a:off x="3493008" y="4251960"/>
            <a:ext cx="2487168" cy="365760"/>
          </a:xfrm>
          <a:prstGeom prst="rect">
            <a:avLst/>
          </a:prstGeom>
          <a:noFill/>
        </p:spPr>
        <p:txBody>
          <a:bodyPr wrap="square" anchor="t" lIns="0" rIns="0" tIns="0" bIns="0">
            <a:spAutoFit/>
          </a:bodyPr>
          <a:lstStyle/>
          <a:p>
            <a:pPr algn="ctr">
              <a:lnSpc>
                <a:spcPct val="106000"/>
              </a:lnSpc>
            </a:pPr>
            <a:r>
              <a:rPr sz="1200" b="1" i="0">
                <a:solidFill>
                  <a:srgbClr val="6F8B95"/>
                </a:solidFill>
                <a:latin typeface="Segoe UI"/>
              </a:rPr>
              <a:t>Tools</a:t>
            </a:r>
          </a:p>
        </p:txBody>
      </p:sp>
      <p:sp>
        <p:nvSpPr>
          <p:cNvPr id="14" name="Rounded Rectangle 13"/>
          <p:cNvSpPr/>
          <p:nvPr/>
        </p:nvSpPr>
        <p:spPr>
          <a:xfrm>
            <a:off x="6144768" y="3200400"/>
            <a:ext cx="2487168" cy="155448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44768" y="3493008"/>
            <a:ext cx="2487168" cy="731520"/>
          </a:xfrm>
          <a:prstGeom prst="rect">
            <a:avLst/>
          </a:prstGeom>
          <a:noFill/>
        </p:spPr>
        <p:txBody>
          <a:bodyPr wrap="square" anchor="t" lIns="0" rIns="0" tIns="0" bIns="0">
            <a:spAutoFit/>
          </a:bodyPr>
          <a:lstStyle/>
          <a:p>
            <a:pPr algn="ctr">
              <a:lnSpc>
                <a:spcPct val="106000"/>
              </a:lnSpc>
            </a:pPr>
            <a:r>
              <a:rPr sz="4000" b="1" i="0">
                <a:solidFill>
                  <a:srgbClr val="2F9499"/>
                </a:solidFill>
                <a:latin typeface="Consolas"/>
              </a:rPr>
              <a:t>60+</a:t>
            </a:r>
          </a:p>
        </p:txBody>
      </p:sp>
      <p:sp>
        <p:nvSpPr>
          <p:cNvPr id="16" name="TextBox 15"/>
          <p:cNvSpPr txBox="1"/>
          <p:nvPr/>
        </p:nvSpPr>
        <p:spPr>
          <a:xfrm>
            <a:off x="6144768" y="4251960"/>
            <a:ext cx="2487168" cy="365760"/>
          </a:xfrm>
          <a:prstGeom prst="rect">
            <a:avLst/>
          </a:prstGeom>
          <a:noFill/>
        </p:spPr>
        <p:txBody>
          <a:bodyPr wrap="square" anchor="t" lIns="0" rIns="0" tIns="0" bIns="0">
            <a:spAutoFit/>
          </a:bodyPr>
          <a:lstStyle/>
          <a:p>
            <a:pPr algn="ctr">
              <a:lnSpc>
                <a:spcPct val="106000"/>
              </a:lnSpc>
            </a:pPr>
            <a:r>
              <a:rPr sz="1200" b="1" i="0">
                <a:solidFill>
                  <a:srgbClr val="6F8B95"/>
                </a:solidFill>
                <a:latin typeface="Segoe UI"/>
              </a:rPr>
              <a:t>Integrations</a:t>
            </a:r>
          </a:p>
        </p:txBody>
      </p:sp>
      <p:sp>
        <p:nvSpPr>
          <p:cNvPr id="17" name="Rounded Rectangle 16"/>
          <p:cNvSpPr/>
          <p:nvPr/>
        </p:nvSpPr>
        <p:spPr>
          <a:xfrm>
            <a:off x="8796528" y="3200400"/>
            <a:ext cx="2487168" cy="155448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3493008"/>
            <a:ext cx="2487168" cy="731520"/>
          </a:xfrm>
          <a:prstGeom prst="rect">
            <a:avLst/>
          </a:prstGeom>
          <a:noFill/>
        </p:spPr>
        <p:txBody>
          <a:bodyPr wrap="square" anchor="t" lIns="0" rIns="0" tIns="0" bIns="0">
            <a:spAutoFit/>
          </a:bodyPr>
          <a:lstStyle/>
          <a:p>
            <a:pPr algn="ctr">
              <a:lnSpc>
                <a:spcPct val="106000"/>
              </a:lnSpc>
            </a:pPr>
            <a:r>
              <a:rPr sz="4000" b="1" i="0">
                <a:solidFill>
                  <a:srgbClr val="2F9499"/>
                </a:solidFill>
                <a:latin typeface="Consolas"/>
              </a:rPr>
              <a:t>20+</a:t>
            </a:r>
          </a:p>
        </p:txBody>
      </p:sp>
      <p:sp>
        <p:nvSpPr>
          <p:cNvPr id="19" name="TextBox 18"/>
          <p:cNvSpPr txBox="1"/>
          <p:nvPr/>
        </p:nvSpPr>
        <p:spPr>
          <a:xfrm>
            <a:off x="8796528" y="4251960"/>
            <a:ext cx="2487168" cy="365760"/>
          </a:xfrm>
          <a:prstGeom prst="rect">
            <a:avLst/>
          </a:prstGeom>
          <a:noFill/>
        </p:spPr>
        <p:txBody>
          <a:bodyPr wrap="square" anchor="t" lIns="0" rIns="0" tIns="0" bIns="0">
            <a:spAutoFit/>
          </a:bodyPr>
          <a:lstStyle/>
          <a:p>
            <a:pPr algn="ctr">
              <a:lnSpc>
                <a:spcPct val="106000"/>
              </a:lnSpc>
            </a:pPr>
            <a:r>
              <a:rPr sz="1200" b="1" i="0">
                <a:solidFill>
                  <a:srgbClr val="6F8B95"/>
                </a:solidFill>
                <a:latin typeface="Segoe UI"/>
              </a:rPr>
              <a:t>One-click connections</a:t>
            </a:r>
          </a:p>
        </p:txBody>
      </p:sp>
      <p:sp>
        <p:nvSpPr>
          <p:cNvPr id="20" name="TextBox 19"/>
          <p:cNvSpPr txBox="1"/>
          <p:nvPr/>
        </p:nvSpPr>
        <p:spPr>
          <a:xfrm>
            <a:off x="841248" y="5120640"/>
            <a:ext cx="10424160" cy="822960"/>
          </a:xfrm>
          <a:prstGeom prst="rect">
            <a:avLst/>
          </a:prstGeom>
          <a:noFill/>
        </p:spPr>
        <p:txBody>
          <a:bodyPr wrap="square" anchor="t" lIns="0" rIns="0" tIns="0" bIns="0">
            <a:spAutoFit/>
          </a:bodyPr>
          <a:lstStyle/>
          <a:p>
            <a:pPr algn="l">
              <a:lnSpc>
                <a:spcPct val="125000"/>
              </a:lnSpc>
              <a:spcAft>
                <a:spcPts val="600"/>
              </a:spcAft>
            </a:pPr>
            <a:r>
              <a:rPr sz="1250" b="0">
                <a:solidFill>
                  <a:srgbClr val="6F8B95"/>
                </a:solidFill>
                <a:latin typeface="Segoe UI"/>
              </a:rPr>
              <a:t>Your agent discovers and calls any tool on its own. New tools ship to the cloud and every connected agent picks them up automatically. No package update needed, ever.</a:t>
            </a:r>
          </a:p>
        </p:txBody>
      </p:sp>
      <p:sp>
        <p:nvSpPr>
          <p:cNvPr id="21" name="TextBox 20"/>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7FA6B0"/>
                </a:solidFill>
                <a:latin typeface="Segoe UI"/>
              </a:rPr>
              <a:t>UnClick  ·  Where AI belongs. Humans welcome.</a:t>
            </a:r>
          </a:p>
        </p:txBody>
      </p:sp>
      <p:sp>
        <p:nvSpPr>
          <p:cNvPr id="22" name="TextBox 21"/>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7FA6B0"/>
                </a:solidFill>
                <a:latin typeface="Consolas"/>
              </a:rPr>
              <a:t>07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50292"/>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630936"/>
            <a:ext cx="256032" cy="32004"/>
          </a:xfrm>
          <a:prstGeom prst="rect">
            <a:avLst/>
          </a:prstGeom>
          <a:solidFill>
            <a:srgbClr val="2F9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521207"/>
            <a:ext cx="8229600" cy="292608"/>
          </a:xfrm>
          <a:prstGeom prst="rect">
            <a:avLst/>
          </a:prstGeom>
          <a:noFill/>
        </p:spPr>
        <p:txBody>
          <a:bodyPr wrap="square" anchor="t" lIns="0" rIns="0" tIns="0" bIns="0">
            <a:spAutoFit/>
          </a:bodyPr>
          <a:lstStyle/>
          <a:p>
            <a:pPr algn="l">
              <a:lnSpc>
                <a:spcPct val="106000"/>
              </a:lnSpc>
            </a:pPr>
            <a:r>
              <a:rPr sz="1150" b="1" i="0">
                <a:solidFill>
                  <a:srgbClr val="2F9499"/>
                </a:solidFill>
                <a:latin typeface="Segoe UI"/>
              </a:rPr>
              <a:t>PILLAR 2  ·  MEMORY</a:t>
            </a:r>
          </a:p>
        </p:txBody>
      </p:sp>
      <p:sp>
        <p:nvSpPr>
          <p:cNvPr id="6" name="TextBox 5"/>
          <p:cNvSpPr txBox="1"/>
          <p:nvPr/>
        </p:nvSpPr>
        <p:spPr>
          <a:xfrm>
            <a:off x="841248" y="914400"/>
            <a:ext cx="10424160" cy="914400"/>
          </a:xfrm>
          <a:prstGeom prst="rect">
            <a:avLst/>
          </a:prstGeom>
          <a:noFill/>
        </p:spPr>
        <p:txBody>
          <a:bodyPr wrap="square" anchor="t" lIns="0" rIns="0" tIns="0" bIns="0">
            <a:spAutoFit/>
          </a:bodyPr>
          <a:lstStyle/>
          <a:p>
            <a:pPr algn="l">
              <a:lnSpc>
                <a:spcPct val="106000"/>
              </a:lnSpc>
            </a:pPr>
            <a:r>
              <a:rPr sz="3800" b="1" i="0">
                <a:solidFill>
                  <a:srgbClr val="0D2A36"/>
                </a:solidFill>
                <a:latin typeface="Segoe UI"/>
              </a:rPr>
              <a:t>Your agent forgets everything. </a:t>
            </a:r>
            <a:r>
              <a:rPr sz="3800" b="1" i="0">
                <a:solidFill>
                  <a:srgbClr val="2F9499"/>
                </a:solidFill>
                <a:latin typeface="Segoe UI"/>
              </a:rPr>
              <a:t>We fix that.</a:t>
            </a:r>
          </a:p>
        </p:txBody>
      </p:sp>
      <p:sp>
        <p:nvSpPr>
          <p:cNvPr id="7" name="Rounded Rectangle 6"/>
          <p:cNvSpPr/>
          <p:nvPr/>
        </p:nvSpPr>
        <p:spPr>
          <a:xfrm>
            <a:off x="841248" y="1920240"/>
            <a:ext cx="6126480" cy="603504"/>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87552" y="2066544"/>
            <a:ext cx="310896" cy="310896"/>
          </a:xfrm>
          <a:prstGeom prst="roundRect">
            <a:avLst>
              <a:gd name="adj" fmla="val 25000"/>
            </a:avLst>
          </a:prstGeom>
          <a:solidFill>
            <a:srgbClr val="1C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039112"/>
            <a:ext cx="310896" cy="329184"/>
          </a:xfrm>
          <a:prstGeom prst="rect">
            <a:avLst/>
          </a:prstGeom>
          <a:noFill/>
        </p:spPr>
        <p:txBody>
          <a:bodyPr wrap="square" anchor="ctr" lIns="0" rIns="0" tIns="0" bIns="0">
            <a:spAutoFit/>
          </a:bodyPr>
          <a:lstStyle/>
          <a:p>
            <a:pPr algn="ctr">
              <a:lnSpc>
                <a:spcPct val="106000"/>
              </a:lnSpc>
            </a:pPr>
            <a:r>
              <a:rPr sz="1200" b="1" i="0">
                <a:solidFill>
                  <a:srgbClr val="FFFFFF"/>
                </a:solidFill>
                <a:latin typeface="Consolas"/>
              </a:rPr>
              <a:t>1</a:t>
            </a:r>
          </a:p>
        </p:txBody>
      </p:sp>
      <p:sp>
        <p:nvSpPr>
          <p:cNvPr id="10" name="TextBox 9"/>
          <p:cNvSpPr txBox="1"/>
          <p:nvPr/>
        </p:nvSpPr>
        <p:spPr>
          <a:xfrm>
            <a:off x="1444752" y="1984248"/>
            <a:ext cx="5394960" cy="292608"/>
          </a:xfrm>
          <a:prstGeom prst="rect">
            <a:avLst/>
          </a:prstGeom>
          <a:noFill/>
        </p:spPr>
        <p:txBody>
          <a:bodyPr wrap="square" anchor="t" lIns="0" rIns="0" tIns="0" bIns="0">
            <a:spAutoFit/>
          </a:bodyPr>
          <a:lstStyle/>
          <a:p>
            <a:pPr algn="l">
              <a:lnSpc>
                <a:spcPct val="106000"/>
              </a:lnSpc>
            </a:pPr>
            <a:r>
              <a:rPr sz="1350" b="1" i="0">
                <a:solidFill>
                  <a:srgbClr val="0D2A36"/>
                </a:solidFill>
                <a:latin typeface="Segoe UI"/>
              </a:rPr>
              <a:t>Identity &amp; standing rules</a:t>
            </a:r>
          </a:p>
        </p:txBody>
      </p:sp>
      <p:sp>
        <p:nvSpPr>
          <p:cNvPr id="11" name="TextBox 10"/>
          <p:cNvSpPr txBox="1"/>
          <p:nvPr/>
        </p:nvSpPr>
        <p:spPr>
          <a:xfrm>
            <a:off x="1444752" y="2249424"/>
            <a:ext cx="5394960" cy="256032"/>
          </a:xfrm>
          <a:prstGeom prst="rect">
            <a:avLst/>
          </a:prstGeom>
          <a:noFill/>
        </p:spPr>
        <p:txBody>
          <a:bodyPr wrap="square" anchor="t" lIns="0" rIns="0" tIns="0" bIns="0">
            <a:spAutoFit/>
          </a:bodyPr>
          <a:lstStyle/>
          <a:p>
            <a:pPr algn="l">
              <a:lnSpc>
                <a:spcPct val="106000"/>
              </a:lnSpc>
            </a:pPr>
            <a:r>
              <a:rPr sz="1050" b="0" i="0">
                <a:solidFill>
                  <a:srgbClr val="6F8B95"/>
                </a:solidFill>
                <a:latin typeface="Segoe UI"/>
              </a:rPr>
              <a:t>Who you are and your always-on rules, loaded first.</a:t>
            </a:r>
          </a:p>
        </p:txBody>
      </p:sp>
      <p:sp>
        <p:nvSpPr>
          <p:cNvPr id="12" name="Rounded Rectangle 11"/>
          <p:cNvSpPr/>
          <p:nvPr/>
        </p:nvSpPr>
        <p:spPr>
          <a:xfrm>
            <a:off x="841248" y="2633472"/>
            <a:ext cx="6126480" cy="603504"/>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87552" y="2779776"/>
            <a:ext cx="310896" cy="310896"/>
          </a:xfrm>
          <a:prstGeom prst="roundRect">
            <a:avLst>
              <a:gd name="adj" fmla="val 25000"/>
            </a:avLst>
          </a:prstGeom>
          <a:solidFill>
            <a:srgbClr val="236D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2752344"/>
            <a:ext cx="310896" cy="329184"/>
          </a:xfrm>
          <a:prstGeom prst="rect">
            <a:avLst/>
          </a:prstGeom>
          <a:noFill/>
        </p:spPr>
        <p:txBody>
          <a:bodyPr wrap="square" anchor="ctr" lIns="0" rIns="0" tIns="0" bIns="0">
            <a:spAutoFit/>
          </a:bodyPr>
          <a:lstStyle/>
          <a:p>
            <a:pPr algn="ctr">
              <a:lnSpc>
                <a:spcPct val="106000"/>
              </a:lnSpc>
            </a:pPr>
            <a:r>
              <a:rPr sz="1200" b="1" i="0">
                <a:solidFill>
                  <a:srgbClr val="FFFFFF"/>
                </a:solidFill>
                <a:latin typeface="Consolas"/>
              </a:rPr>
              <a:t>2</a:t>
            </a:r>
          </a:p>
        </p:txBody>
      </p:sp>
      <p:sp>
        <p:nvSpPr>
          <p:cNvPr id="15" name="TextBox 14"/>
          <p:cNvSpPr txBox="1"/>
          <p:nvPr/>
        </p:nvSpPr>
        <p:spPr>
          <a:xfrm>
            <a:off x="1444752" y="2697479"/>
            <a:ext cx="5394960" cy="292608"/>
          </a:xfrm>
          <a:prstGeom prst="rect">
            <a:avLst/>
          </a:prstGeom>
          <a:noFill/>
        </p:spPr>
        <p:txBody>
          <a:bodyPr wrap="square" anchor="t" lIns="0" rIns="0" tIns="0" bIns="0">
            <a:spAutoFit/>
          </a:bodyPr>
          <a:lstStyle/>
          <a:p>
            <a:pPr algn="l">
              <a:lnSpc>
                <a:spcPct val="106000"/>
              </a:lnSpc>
            </a:pPr>
            <a:r>
              <a:rPr sz="1350" b="1" i="0">
                <a:solidFill>
                  <a:srgbClr val="0D2A36"/>
                </a:solidFill>
                <a:latin typeface="Segoe UI"/>
              </a:rPr>
              <a:t>Knowledge library</a:t>
            </a:r>
          </a:p>
        </p:txBody>
      </p:sp>
      <p:sp>
        <p:nvSpPr>
          <p:cNvPr id="16" name="TextBox 15"/>
          <p:cNvSpPr txBox="1"/>
          <p:nvPr/>
        </p:nvSpPr>
        <p:spPr>
          <a:xfrm>
            <a:off x="1444752" y="2962656"/>
            <a:ext cx="5394960" cy="256032"/>
          </a:xfrm>
          <a:prstGeom prst="rect">
            <a:avLst/>
          </a:prstGeom>
          <a:noFill/>
        </p:spPr>
        <p:txBody>
          <a:bodyPr wrap="square" anchor="t" lIns="0" rIns="0" tIns="0" bIns="0">
            <a:spAutoFit/>
          </a:bodyPr>
          <a:lstStyle/>
          <a:p>
            <a:pPr algn="l">
              <a:lnSpc>
                <a:spcPct val="106000"/>
              </a:lnSpc>
            </a:pPr>
            <a:r>
              <a:rPr sz="1050" b="0" i="0">
                <a:solidFill>
                  <a:srgbClr val="6F8B95"/>
                </a:solidFill>
                <a:latin typeface="Segoe UI"/>
              </a:rPr>
              <a:t>Your documents and briefs, neatly versioned.</a:t>
            </a:r>
          </a:p>
        </p:txBody>
      </p:sp>
      <p:sp>
        <p:nvSpPr>
          <p:cNvPr id="17" name="Rounded Rectangle 16"/>
          <p:cNvSpPr/>
          <p:nvPr/>
        </p:nvSpPr>
        <p:spPr>
          <a:xfrm>
            <a:off x="841248" y="3346704"/>
            <a:ext cx="6126480" cy="603504"/>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87552" y="3493008"/>
            <a:ext cx="310896" cy="310896"/>
          </a:xfrm>
          <a:prstGeom prst="roundRect">
            <a:avLst>
              <a:gd name="adj" fmla="val 25000"/>
            </a:avLst>
          </a:prstGeom>
          <a:solidFill>
            <a:srgbClr val="2A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3465576"/>
            <a:ext cx="310896" cy="329184"/>
          </a:xfrm>
          <a:prstGeom prst="rect">
            <a:avLst/>
          </a:prstGeom>
          <a:noFill/>
        </p:spPr>
        <p:txBody>
          <a:bodyPr wrap="square" anchor="ctr" lIns="0" rIns="0" tIns="0" bIns="0">
            <a:spAutoFit/>
          </a:bodyPr>
          <a:lstStyle/>
          <a:p>
            <a:pPr algn="ctr">
              <a:lnSpc>
                <a:spcPct val="106000"/>
              </a:lnSpc>
            </a:pPr>
            <a:r>
              <a:rPr sz="1200" b="1" i="0">
                <a:solidFill>
                  <a:srgbClr val="FFFFFF"/>
                </a:solidFill>
                <a:latin typeface="Consolas"/>
              </a:rPr>
              <a:t>3</a:t>
            </a:r>
          </a:p>
        </p:txBody>
      </p:sp>
      <p:sp>
        <p:nvSpPr>
          <p:cNvPr id="20" name="TextBox 19"/>
          <p:cNvSpPr txBox="1"/>
          <p:nvPr/>
        </p:nvSpPr>
        <p:spPr>
          <a:xfrm>
            <a:off x="1444752" y="3410712"/>
            <a:ext cx="5394960" cy="292608"/>
          </a:xfrm>
          <a:prstGeom prst="rect">
            <a:avLst/>
          </a:prstGeom>
          <a:noFill/>
        </p:spPr>
        <p:txBody>
          <a:bodyPr wrap="square" anchor="t" lIns="0" rIns="0" tIns="0" bIns="0">
            <a:spAutoFit/>
          </a:bodyPr>
          <a:lstStyle/>
          <a:p>
            <a:pPr algn="l">
              <a:lnSpc>
                <a:spcPct val="106000"/>
              </a:lnSpc>
            </a:pPr>
            <a:r>
              <a:rPr sz="1350" b="1" i="0">
                <a:solidFill>
                  <a:srgbClr val="0D2A36"/>
                </a:solidFill>
                <a:latin typeface="Segoe UI"/>
              </a:rPr>
              <a:t>Session summaries</a:t>
            </a:r>
          </a:p>
        </p:txBody>
      </p:sp>
      <p:sp>
        <p:nvSpPr>
          <p:cNvPr id="21" name="TextBox 20"/>
          <p:cNvSpPr txBox="1"/>
          <p:nvPr/>
        </p:nvSpPr>
        <p:spPr>
          <a:xfrm>
            <a:off x="1444752" y="3675888"/>
            <a:ext cx="5394960" cy="256032"/>
          </a:xfrm>
          <a:prstGeom prst="rect">
            <a:avLst/>
          </a:prstGeom>
          <a:noFill/>
        </p:spPr>
        <p:txBody>
          <a:bodyPr wrap="square" anchor="t" lIns="0" rIns="0" tIns="0" bIns="0">
            <a:spAutoFit/>
          </a:bodyPr>
          <a:lstStyle/>
          <a:p>
            <a:pPr algn="l">
              <a:lnSpc>
                <a:spcPct val="106000"/>
              </a:lnSpc>
            </a:pPr>
            <a:r>
              <a:rPr sz="1050" b="0" i="0">
                <a:solidFill>
                  <a:srgbClr val="6F8B95"/>
                </a:solidFill>
                <a:latin typeface="Segoe UI"/>
              </a:rPr>
              <a:t>Picks up exactly where you left off.</a:t>
            </a:r>
          </a:p>
        </p:txBody>
      </p:sp>
      <p:sp>
        <p:nvSpPr>
          <p:cNvPr id="22" name="Rounded Rectangle 21"/>
          <p:cNvSpPr/>
          <p:nvPr/>
        </p:nvSpPr>
        <p:spPr>
          <a:xfrm>
            <a:off x="841248" y="4059935"/>
            <a:ext cx="6126480" cy="603504"/>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206240"/>
            <a:ext cx="310896" cy="310896"/>
          </a:xfrm>
          <a:prstGeom prst="roundRect">
            <a:avLst>
              <a:gd name="adj" fmla="val 25000"/>
            </a:avLst>
          </a:prstGeom>
          <a:solidFill>
            <a:srgbClr val="3391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7552" y="4178807"/>
            <a:ext cx="310896" cy="329184"/>
          </a:xfrm>
          <a:prstGeom prst="rect">
            <a:avLst/>
          </a:prstGeom>
          <a:noFill/>
        </p:spPr>
        <p:txBody>
          <a:bodyPr wrap="square" anchor="ctr" lIns="0" rIns="0" tIns="0" bIns="0">
            <a:spAutoFit/>
          </a:bodyPr>
          <a:lstStyle/>
          <a:p>
            <a:pPr algn="ctr">
              <a:lnSpc>
                <a:spcPct val="106000"/>
              </a:lnSpc>
            </a:pPr>
            <a:r>
              <a:rPr sz="1200" b="1" i="0">
                <a:solidFill>
                  <a:srgbClr val="FFFFFF"/>
                </a:solidFill>
                <a:latin typeface="Consolas"/>
              </a:rPr>
              <a:t>4</a:t>
            </a:r>
          </a:p>
        </p:txBody>
      </p:sp>
      <p:sp>
        <p:nvSpPr>
          <p:cNvPr id="25" name="TextBox 24"/>
          <p:cNvSpPr txBox="1"/>
          <p:nvPr/>
        </p:nvSpPr>
        <p:spPr>
          <a:xfrm>
            <a:off x="1444752" y="4123944"/>
            <a:ext cx="5394960" cy="292608"/>
          </a:xfrm>
          <a:prstGeom prst="rect">
            <a:avLst/>
          </a:prstGeom>
          <a:noFill/>
        </p:spPr>
        <p:txBody>
          <a:bodyPr wrap="square" anchor="t" lIns="0" rIns="0" tIns="0" bIns="0">
            <a:spAutoFit/>
          </a:bodyPr>
          <a:lstStyle/>
          <a:p>
            <a:pPr algn="l">
              <a:lnSpc>
                <a:spcPct val="106000"/>
              </a:lnSpc>
            </a:pPr>
            <a:r>
              <a:rPr sz="1350" b="1" i="0">
                <a:solidFill>
                  <a:srgbClr val="0D2A36"/>
                </a:solidFill>
                <a:latin typeface="Segoe UI"/>
              </a:rPr>
              <a:t>Searchable facts</a:t>
            </a:r>
          </a:p>
        </p:txBody>
      </p:sp>
      <p:sp>
        <p:nvSpPr>
          <p:cNvPr id="26" name="TextBox 25"/>
          <p:cNvSpPr txBox="1"/>
          <p:nvPr/>
        </p:nvSpPr>
        <p:spPr>
          <a:xfrm>
            <a:off x="1444752" y="4389120"/>
            <a:ext cx="5394960" cy="256032"/>
          </a:xfrm>
          <a:prstGeom prst="rect">
            <a:avLst/>
          </a:prstGeom>
          <a:noFill/>
        </p:spPr>
        <p:txBody>
          <a:bodyPr wrap="square" anchor="t" lIns="0" rIns="0" tIns="0" bIns="0">
            <a:spAutoFit/>
          </a:bodyPr>
          <a:lstStyle/>
          <a:p>
            <a:pPr algn="l">
              <a:lnSpc>
                <a:spcPct val="106000"/>
              </a:lnSpc>
            </a:pPr>
            <a:r>
              <a:rPr sz="1050" b="0" i="0">
                <a:solidFill>
                  <a:srgbClr val="6F8B95"/>
                </a:solidFill>
                <a:latin typeface="Segoe UI"/>
              </a:rPr>
              <a:t>Conversations distilled into facts overnight.</a:t>
            </a:r>
          </a:p>
        </p:txBody>
      </p:sp>
      <p:sp>
        <p:nvSpPr>
          <p:cNvPr id="27" name="Rounded Rectangle 26"/>
          <p:cNvSpPr/>
          <p:nvPr/>
        </p:nvSpPr>
        <p:spPr>
          <a:xfrm>
            <a:off x="841248" y="4773168"/>
            <a:ext cx="6126480" cy="603504"/>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87552" y="4919472"/>
            <a:ext cx="310896" cy="310896"/>
          </a:xfrm>
          <a:prstGeom prst="roundRect">
            <a:avLst>
              <a:gd name="adj" fmla="val 25000"/>
            </a:avLst>
          </a:prstGeom>
          <a:solidFill>
            <a:srgbClr val="3DA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7552" y="4892040"/>
            <a:ext cx="310896" cy="329184"/>
          </a:xfrm>
          <a:prstGeom prst="rect">
            <a:avLst/>
          </a:prstGeom>
          <a:noFill/>
        </p:spPr>
        <p:txBody>
          <a:bodyPr wrap="square" anchor="ctr" lIns="0" rIns="0" tIns="0" bIns="0">
            <a:spAutoFit/>
          </a:bodyPr>
          <a:lstStyle/>
          <a:p>
            <a:pPr algn="ctr">
              <a:lnSpc>
                <a:spcPct val="106000"/>
              </a:lnSpc>
            </a:pPr>
            <a:r>
              <a:rPr sz="1200" b="1" i="0">
                <a:solidFill>
                  <a:srgbClr val="FFFFFF"/>
                </a:solidFill>
                <a:latin typeface="Consolas"/>
              </a:rPr>
              <a:t>5</a:t>
            </a:r>
          </a:p>
        </p:txBody>
      </p:sp>
      <p:sp>
        <p:nvSpPr>
          <p:cNvPr id="30" name="TextBox 29"/>
          <p:cNvSpPr txBox="1"/>
          <p:nvPr/>
        </p:nvSpPr>
        <p:spPr>
          <a:xfrm>
            <a:off x="1444752" y="4837176"/>
            <a:ext cx="5394960" cy="292608"/>
          </a:xfrm>
          <a:prstGeom prst="rect">
            <a:avLst/>
          </a:prstGeom>
          <a:noFill/>
        </p:spPr>
        <p:txBody>
          <a:bodyPr wrap="square" anchor="t" lIns="0" rIns="0" tIns="0" bIns="0">
            <a:spAutoFit/>
          </a:bodyPr>
          <a:lstStyle/>
          <a:p>
            <a:pPr algn="l">
              <a:lnSpc>
                <a:spcPct val="106000"/>
              </a:lnSpc>
            </a:pPr>
            <a:r>
              <a:rPr sz="1350" b="1" i="0">
                <a:solidFill>
                  <a:srgbClr val="0D2A36"/>
                </a:solidFill>
                <a:latin typeface="Segoe UI"/>
              </a:rPr>
              <a:t>Full conversation log</a:t>
            </a:r>
          </a:p>
        </p:txBody>
      </p:sp>
      <p:sp>
        <p:nvSpPr>
          <p:cNvPr id="31" name="TextBox 30"/>
          <p:cNvSpPr txBox="1"/>
          <p:nvPr/>
        </p:nvSpPr>
        <p:spPr>
          <a:xfrm>
            <a:off x="1444752" y="5102352"/>
            <a:ext cx="5394960" cy="256032"/>
          </a:xfrm>
          <a:prstGeom prst="rect">
            <a:avLst/>
          </a:prstGeom>
          <a:noFill/>
        </p:spPr>
        <p:txBody>
          <a:bodyPr wrap="square" anchor="t" lIns="0" rIns="0" tIns="0" bIns="0">
            <a:spAutoFit/>
          </a:bodyPr>
          <a:lstStyle/>
          <a:p>
            <a:pPr algn="l">
              <a:lnSpc>
                <a:spcPct val="106000"/>
              </a:lnSpc>
            </a:pPr>
            <a:r>
              <a:rPr sz="1050" b="0" i="0">
                <a:solidFill>
                  <a:srgbClr val="6F8B95"/>
                </a:solidFill>
                <a:latin typeface="Segoe UI"/>
              </a:rPr>
              <a:t>Every word, verbatim and searchable.</a:t>
            </a:r>
          </a:p>
        </p:txBody>
      </p:sp>
      <p:sp>
        <p:nvSpPr>
          <p:cNvPr id="32" name="Rounded Rectangle 31"/>
          <p:cNvSpPr/>
          <p:nvPr/>
        </p:nvSpPr>
        <p:spPr>
          <a:xfrm>
            <a:off x="841248" y="5486400"/>
            <a:ext cx="6126480" cy="603504"/>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87552" y="5632704"/>
            <a:ext cx="310896" cy="310896"/>
          </a:xfrm>
          <a:prstGeom prst="roundRect">
            <a:avLst>
              <a:gd name="adj" fmla="val 25000"/>
            </a:avLst>
          </a:prstGeom>
          <a:solidFill>
            <a:srgbClr val="49B3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5605272"/>
            <a:ext cx="310896" cy="329184"/>
          </a:xfrm>
          <a:prstGeom prst="rect">
            <a:avLst/>
          </a:prstGeom>
          <a:noFill/>
        </p:spPr>
        <p:txBody>
          <a:bodyPr wrap="square" anchor="ctr" lIns="0" rIns="0" tIns="0" bIns="0">
            <a:spAutoFit/>
          </a:bodyPr>
          <a:lstStyle/>
          <a:p>
            <a:pPr algn="ctr">
              <a:lnSpc>
                <a:spcPct val="106000"/>
              </a:lnSpc>
            </a:pPr>
            <a:r>
              <a:rPr sz="1200" b="1" i="0">
                <a:solidFill>
                  <a:srgbClr val="FFFFFF"/>
                </a:solidFill>
                <a:latin typeface="Consolas"/>
              </a:rPr>
              <a:t>6</a:t>
            </a:r>
          </a:p>
        </p:txBody>
      </p:sp>
      <p:sp>
        <p:nvSpPr>
          <p:cNvPr id="35" name="TextBox 34"/>
          <p:cNvSpPr txBox="1"/>
          <p:nvPr/>
        </p:nvSpPr>
        <p:spPr>
          <a:xfrm>
            <a:off x="1444752" y="5550408"/>
            <a:ext cx="5394960" cy="292608"/>
          </a:xfrm>
          <a:prstGeom prst="rect">
            <a:avLst/>
          </a:prstGeom>
          <a:noFill/>
        </p:spPr>
        <p:txBody>
          <a:bodyPr wrap="square" anchor="t" lIns="0" rIns="0" tIns="0" bIns="0">
            <a:spAutoFit/>
          </a:bodyPr>
          <a:lstStyle/>
          <a:p>
            <a:pPr algn="l">
              <a:lnSpc>
                <a:spcPct val="106000"/>
              </a:lnSpc>
            </a:pPr>
            <a:r>
              <a:rPr sz="1350" b="1" i="0">
                <a:solidFill>
                  <a:srgbClr val="0D2A36"/>
                </a:solidFill>
                <a:latin typeface="Segoe UI"/>
              </a:rPr>
              <a:t>Code store</a:t>
            </a:r>
          </a:p>
        </p:txBody>
      </p:sp>
      <p:sp>
        <p:nvSpPr>
          <p:cNvPr id="36" name="TextBox 35"/>
          <p:cNvSpPr txBox="1"/>
          <p:nvPr/>
        </p:nvSpPr>
        <p:spPr>
          <a:xfrm>
            <a:off x="1444752" y="5815584"/>
            <a:ext cx="5394960" cy="256032"/>
          </a:xfrm>
          <a:prstGeom prst="rect">
            <a:avLst/>
          </a:prstGeom>
          <a:noFill/>
        </p:spPr>
        <p:txBody>
          <a:bodyPr wrap="square" anchor="t" lIns="0" rIns="0" tIns="0" bIns="0">
            <a:spAutoFit/>
          </a:bodyPr>
          <a:lstStyle/>
          <a:p>
            <a:pPr algn="l">
              <a:lnSpc>
                <a:spcPct val="106000"/>
              </a:lnSpc>
            </a:pPr>
            <a:r>
              <a:rPr sz="1050" b="0" i="0">
                <a:solidFill>
                  <a:srgbClr val="6F8B95"/>
                </a:solidFill>
                <a:latin typeface="Segoe UI"/>
              </a:rPr>
              <a:t>Code kept aside, expanded only on demand.</a:t>
            </a:r>
          </a:p>
        </p:txBody>
      </p:sp>
      <p:sp>
        <p:nvSpPr>
          <p:cNvPr id="37" name="Rounded Rectangle 36"/>
          <p:cNvSpPr/>
          <p:nvPr/>
        </p:nvSpPr>
        <p:spPr>
          <a:xfrm>
            <a:off x="7315200" y="1920240"/>
            <a:ext cx="4041648" cy="4261104"/>
          </a:xfrm>
          <a:prstGeom prst="roundRect">
            <a:avLst>
              <a:gd name="adj" fmla="val 6000"/>
            </a:avLst>
          </a:prstGeom>
          <a:solidFill>
            <a:srgbClr val="0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0" y="2286000"/>
            <a:ext cx="3310128" cy="548640"/>
          </a:xfrm>
          <a:prstGeom prst="rect">
            <a:avLst/>
          </a:prstGeom>
          <a:noFill/>
        </p:spPr>
        <p:txBody>
          <a:bodyPr wrap="square" anchor="t" lIns="0" rIns="0" tIns="0" bIns="0">
            <a:spAutoFit/>
          </a:bodyPr>
          <a:lstStyle/>
          <a:p>
            <a:pPr algn="l">
              <a:lnSpc>
                <a:spcPct val="106000"/>
              </a:lnSpc>
            </a:pPr>
            <a:r>
              <a:rPr sz="2200" b="1" i="0">
                <a:solidFill>
                  <a:srgbClr val="FFFFFF"/>
                </a:solidFill>
                <a:latin typeface="Segoe UI"/>
              </a:rPr>
              <a:t>Your data. Your database.</a:t>
            </a:r>
          </a:p>
        </p:txBody>
      </p:sp>
      <p:sp>
        <p:nvSpPr>
          <p:cNvPr id="39" name="TextBox 38"/>
          <p:cNvSpPr txBox="1"/>
          <p:nvPr/>
        </p:nvSpPr>
        <p:spPr>
          <a:xfrm>
            <a:off x="7680960" y="2971800"/>
            <a:ext cx="3310128" cy="2011680"/>
          </a:xfrm>
          <a:prstGeom prst="rect">
            <a:avLst/>
          </a:prstGeom>
          <a:noFill/>
        </p:spPr>
        <p:txBody>
          <a:bodyPr wrap="square" anchor="t" lIns="0" rIns="0" tIns="0" bIns="0">
            <a:spAutoFit/>
          </a:bodyPr>
          <a:lstStyle/>
          <a:p>
            <a:pPr algn="l">
              <a:lnSpc>
                <a:spcPct val="132000"/>
              </a:lnSpc>
              <a:spcAft>
                <a:spcPts val="600"/>
              </a:spcAft>
            </a:pPr>
            <a:r>
              <a:rPr sz="1450" b="0">
                <a:solidFill>
                  <a:srgbClr val="BCD9DD"/>
                </a:solidFill>
                <a:latin typeface="Segoe UI"/>
              </a:rPr>
              <a:t>UnClick memory lives in your own store, not ours. We never see it. Others keep your memories in their cloud. We keep them in yours. If you ever leave, nothing moves. It is already yours.</a:t>
            </a:r>
          </a:p>
        </p:txBody>
      </p:sp>
      <p:sp>
        <p:nvSpPr>
          <p:cNvPr id="40" name="Rounded Rectangle 39"/>
          <p:cNvSpPr/>
          <p:nvPr/>
        </p:nvSpPr>
        <p:spPr>
          <a:xfrm>
            <a:off x="7680960" y="5394960"/>
            <a:ext cx="3291840" cy="457200"/>
          </a:xfrm>
          <a:prstGeom prst="roundRect">
            <a:avLst>
              <a:gd name="adj" fmla="val 50000"/>
            </a:avLst>
          </a:prstGeom>
          <a:solidFill>
            <a:srgbClr val="103344"/>
          </a:solidFill>
          <a:ln w="12700">
            <a:solidFill>
              <a:srgbClr val="61C1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80960" y="5394960"/>
            <a:ext cx="3291840" cy="457200"/>
          </a:xfrm>
          <a:prstGeom prst="rect">
            <a:avLst/>
          </a:prstGeom>
          <a:noFill/>
        </p:spPr>
        <p:txBody>
          <a:bodyPr wrap="square" anchor="ctr" lIns="0" rIns="0" tIns="0" bIns="0">
            <a:spAutoFit/>
          </a:bodyPr>
          <a:lstStyle/>
          <a:p>
            <a:pPr algn="ctr">
              <a:lnSpc>
                <a:spcPct val="106000"/>
              </a:lnSpc>
            </a:pPr>
            <a:r>
              <a:rPr sz="1150" b="1" i="0">
                <a:solidFill>
                  <a:srgbClr val="86DADD"/>
                </a:solidFill>
                <a:latin typeface="Segoe UI"/>
              </a:rPr>
              <a:t>Survives new models, new apps, new devices</a:t>
            </a:r>
          </a:p>
        </p:txBody>
      </p:sp>
      <p:sp>
        <p:nvSpPr>
          <p:cNvPr id="42" name="TextBox 41"/>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7FA6B0"/>
                </a:solidFill>
                <a:latin typeface="Segoe UI"/>
              </a:rPr>
              <a:t>UnClick  ·  Where AI belongs. Humans welcome.</a:t>
            </a:r>
          </a:p>
        </p:txBody>
      </p:sp>
      <p:sp>
        <p:nvSpPr>
          <p:cNvPr id="43" name="TextBox 42"/>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7FA6B0"/>
                </a:solidFill>
                <a:latin typeface="Consolas"/>
              </a:rPr>
              <a:t>08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50292"/>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630936"/>
            <a:ext cx="256032" cy="32004"/>
          </a:xfrm>
          <a:prstGeom prst="rect">
            <a:avLst/>
          </a:prstGeom>
          <a:solidFill>
            <a:srgbClr val="2F9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521207"/>
            <a:ext cx="8229600" cy="292608"/>
          </a:xfrm>
          <a:prstGeom prst="rect">
            <a:avLst/>
          </a:prstGeom>
          <a:noFill/>
        </p:spPr>
        <p:txBody>
          <a:bodyPr wrap="square" anchor="t" lIns="0" rIns="0" tIns="0" bIns="0">
            <a:spAutoFit/>
          </a:bodyPr>
          <a:lstStyle/>
          <a:p>
            <a:pPr algn="l">
              <a:lnSpc>
                <a:spcPct val="106000"/>
              </a:lnSpc>
            </a:pPr>
            <a:r>
              <a:rPr sz="1150" b="1" i="0">
                <a:solidFill>
                  <a:srgbClr val="2F9499"/>
                </a:solidFill>
                <a:latin typeface="Segoe UI"/>
              </a:rPr>
              <a:t>PILLAR 3  ·  CONNECTIONS</a:t>
            </a:r>
          </a:p>
        </p:txBody>
      </p:sp>
      <p:sp>
        <p:nvSpPr>
          <p:cNvPr id="6" name="TextBox 5"/>
          <p:cNvSpPr txBox="1"/>
          <p:nvPr/>
        </p:nvSpPr>
        <p:spPr>
          <a:xfrm>
            <a:off x="841248" y="960120"/>
            <a:ext cx="10424160" cy="914400"/>
          </a:xfrm>
          <a:prstGeom prst="rect">
            <a:avLst/>
          </a:prstGeom>
          <a:noFill/>
        </p:spPr>
        <p:txBody>
          <a:bodyPr wrap="square" anchor="t" lIns="0" rIns="0" tIns="0" bIns="0">
            <a:spAutoFit/>
          </a:bodyPr>
          <a:lstStyle/>
          <a:p>
            <a:pPr algn="l">
              <a:lnSpc>
                <a:spcPct val="106000"/>
              </a:lnSpc>
            </a:pPr>
            <a:r>
              <a:rPr sz="4000" b="1" i="0">
                <a:solidFill>
                  <a:srgbClr val="0D2A36"/>
                </a:solidFill>
                <a:latin typeface="Segoe UI"/>
              </a:rPr>
              <a:t>Sign in once. </a:t>
            </a:r>
            <a:r>
              <a:rPr sz="4000" b="1" i="0">
                <a:solidFill>
                  <a:srgbClr val="2F9499"/>
                </a:solidFill>
                <a:latin typeface="Segoe UI"/>
              </a:rPr>
              <a:t>Every agent inherits.</a:t>
            </a:r>
          </a:p>
        </p:txBody>
      </p:sp>
      <p:sp>
        <p:nvSpPr>
          <p:cNvPr id="7" name="TextBox 6"/>
          <p:cNvSpPr txBox="1"/>
          <p:nvPr/>
        </p:nvSpPr>
        <p:spPr>
          <a:xfrm>
            <a:off x="841248" y="1828800"/>
            <a:ext cx="9966960" cy="914400"/>
          </a:xfrm>
          <a:prstGeom prst="rect">
            <a:avLst/>
          </a:prstGeom>
          <a:noFill/>
        </p:spPr>
        <p:txBody>
          <a:bodyPr wrap="square" anchor="t" lIns="0" rIns="0" tIns="0" bIns="0">
            <a:spAutoFit/>
          </a:bodyPr>
          <a:lstStyle/>
          <a:p>
            <a:pPr algn="l">
              <a:lnSpc>
                <a:spcPct val="130000"/>
              </a:lnSpc>
              <a:spcAft>
                <a:spcPts val="600"/>
              </a:spcAft>
            </a:pPr>
            <a:r>
              <a:rPr sz="1600" b="0">
                <a:solidFill>
                  <a:srgbClr val="3C5763"/>
                </a:solidFill>
                <a:latin typeface="Segoe UI"/>
              </a:rPr>
              <a:t>Connect your accounts a single time. From then on, any agent on any device can use them, with no re-logins and no copy-pasting secret keys.</a:t>
            </a:r>
          </a:p>
        </p:txBody>
      </p:sp>
      <p:sp>
        <p:nvSpPr>
          <p:cNvPr id="8" name="Rounded Rectangle 7"/>
          <p:cNvSpPr/>
          <p:nvPr/>
        </p:nvSpPr>
        <p:spPr>
          <a:xfrm>
            <a:off x="841248" y="3063240"/>
            <a:ext cx="3337560" cy="219456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33856" y="3337560"/>
            <a:ext cx="548640" cy="548640"/>
          </a:xfrm>
          <a:prstGeom prst="roundRect">
            <a:avLst>
              <a:gd name="adj" fmla="val 22000"/>
            </a:avLst>
          </a:prstGeom>
          <a:solidFill>
            <a:srgbClr val="E4F5F5"/>
          </a:solidFill>
          <a:ln w="12700">
            <a:solidFill>
              <a:srgbClr val="BFE8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33856" y="3355848"/>
            <a:ext cx="548640" cy="512064"/>
          </a:xfrm>
          <a:prstGeom prst="rect">
            <a:avLst/>
          </a:prstGeom>
          <a:noFill/>
        </p:spPr>
        <p:txBody>
          <a:bodyPr wrap="square" anchor="ctr" lIns="0" rIns="0" tIns="0" bIns="0">
            <a:spAutoFit/>
          </a:bodyPr>
          <a:lstStyle/>
          <a:p>
            <a:pPr algn="ctr">
              <a:lnSpc>
                <a:spcPct val="106000"/>
              </a:lnSpc>
            </a:pPr>
            <a:r>
              <a:rPr sz="1800" b="1" i="0">
                <a:solidFill>
                  <a:srgbClr val="2F9499"/>
                </a:solidFill>
                <a:latin typeface="Segoe UI"/>
              </a:rPr>
              <a:t>✓</a:t>
            </a:r>
          </a:p>
        </p:txBody>
      </p:sp>
      <p:sp>
        <p:nvSpPr>
          <p:cNvPr id="11" name="TextBox 10"/>
          <p:cNvSpPr txBox="1"/>
          <p:nvPr/>
        </p:nvSpPr>
        <p:spPr>
          <a:xfrm>
            <a:off x="1133856" y="4023360"/>
            <a:ext cx="2788920" cy="640080"/>
          </a:xfrm>
          <a:prstGeom prst="rect">
            <a:avLst/>
          </a:prstGeom>
          <a:noFill/>
        </p:spPr>
        <p:txBody>
          <a:bodyPr wrap="square" anchor="t" lIns="0" rIns="0" tIns="0" bIns="0">
            <a:spAutoFit/>
          </a:bodyPr>
          <a:lstStyle/>
          <a:p>
            <a:pPr algn="l">
              <a:lnSpc>
                <a:spcPct val="106000"/>
              </a:lnSpc>
            </a:pPr>
            <a:r>
              <a:rPr sz="1500" b="1" i="0">
                <a:solidFill>
                  <a:srgbClr val="0D2A36"/>
                </a:solidFill>
                <a:latin typeface="Segoe UI"/>
              </a:rPr>
              <a:t>Connect once, works forever</a:t>
            </a:r>
          </a:p>
        </p:txBody>
      </p:sp>
      <p:sp>
        <p:nvSpPr>
          <p:cNvPr id="12" name="TextBox 11"/>
          <p:cNvSpPr txBox="1"/>
          <p:nvPr/>
        </p:nvSpPr>
        <p:spPr>
          <a:xfrm>
            <a:off x="1133856" y="4544568"/>
            <a:ext cx="2788920" cy="640080"/>
          </a:xfrm>
          <a:prstGeom prst="rect">
            <a:avLst/>
          </a:prstGeom>
          <a:noFill/>
        </p:spPr>
        <p:txBody>
          <a:bodyPr wrap="square" anchor="t" lIns="0" rIns="0" tIns="0" bIns="0">
            <a:spAutoFit/>
          </a:bodyPr>
          <a:lstStyle/>
          <a:p>
            <a:pPr algn="l">
              <a:lnSpc>
                <a:spcPct val="120000"/>
              </a:lnSpc>
              <a:spcAft>
                <a:spcPts val="600"/>
              </a:spcAft>
            </a:pPr>
            <a:r>
              <a:rPr sz="1200" b="0">
                <a:solidFill>
                  <a:srgbClr val="3C5763"/>
                </a:solidFill>
                <a:latin typeface="Segoe UI"/>
              </a:rPr>
              <a:t>One connection flows to every agent and every device you use.</a:t>
            </a:r>
          </a:p>
        </p:txBody>
      </p:sp>
      <p:sp>
        <p:nvSpPr>
          <p:cNvPr id="13" name="Rounded Rectangle 12"/>
          <p:cNvSpPr/>
          <p:nvPr/>
        </p:nvSpPr>
        <p:spPr>
          <a:xfrm>
            <a:off x="4425696" y="3063240"/>
            <a:ext cx="3337560" cy="219456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718304" y="3337560"/>
            <a:ext cx="548640" cy="548640"/>
          </a:xfrm>
          <a:prstGeom prst="roundRect">
            <a:avLst>
              <a:gd name="adj" fmla="val 22000"/>
            </a:avLst>
          </a:prstGeom>
          <a:solidFill>
            <a:srgbClr val="E4F5F5"/>
          </a:solidFill>
          <a:ln w="12700">
            <a:solidFill>
              <a:srgbClr val="BFE8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18304" y="3355848"/>
            <a:ext cx="548640" cy="512064"/>
          </a:xfrm>
          <a:prstGeom prst="rect">
            <a:avLst/>
          </a:prstGeom>
          <a:noFill/>
        </p:spPr>
        <p:txBody>
          <a:bodyPr wrap="square" anchor="ctr" lIns="0" rIns="0" tIns="0" bIns="0">
            <a:spAutoFit/>
          </a:bodyPr>
          <a:lstStyle/>
          <a:p>
            <a:pPr algn="ctr">
              <a:lnSpc>
                <a:spcPct val="106000"/>
              </a:lnSpc>
            </a:pPr>
            <a:r>
              <a:rPr sz="1800" b="1" i="0">
                <a:solidFill>
                  <a:srgbClr val="2F9499"/>
                </a:solidFill>
                <a:latin typeface="Segoe UI"/>
              </a:rPr>
              <a:t>✓</a:t>
            </a:r>
          </a:p>
        </p:txBody>
      </p:sp>
      <p:sp>
        <p:nvSpPr>
          <p:cNvPr id="16" name="TextBox 15"/>
          <p:cNvSpPr txBox="1"/>
          <p:nvPr/>
        </p:nvSpPr>
        <p:spPr>
          <a:xfrm>
            <a:off x="4718304" y="4023360"/>
            <a:ext cx="2788920" cy="640080"/>
          </a:xfrm>
          <a:prstGeom prst="rect">
            <a:avLst/>
          </a:prstGeom>
          <a:noFill/>
        </p:spPr>
        <p:txBody>
          <a:bodyPr wrap="square" anchor="t" lIns="0" rIns="0" tIns="0" bIns="0">
            <a:spAutoFit/>
          </a:bodyPr>
          <a:lstStyle/>
          <a:p>
            <a:pPr algn="l">
              <a:lnSpc>
                <a:spcPct val="106000"/>
              </a:lnSpc>
            </a:pPr>
            <a:r>
              <a:rPr sz="1500" b="1" i="0">
                <a:solidFill>
                  <a:srgbClr val="0D2A36"/>
                </a:solidFill>
                <a:latin typeface="Segoe UI"/>
              </a:rPr>
              <a:t>We hold mandates, not passwords</a:t>
            </a:r>
          </a:p>
        </p:txBody>
      </p:sp>
      <p:sp>
        <p:nvSpPr>
          <p:cNvPr id="17" name="TextBox 16"/>
          <p:cNvSpPr txBox="1"/>
          <p:nvPr/>
        </p:nvSpPr>
        <p:spPr>
          <a:xfrm>
            <a:off x="4718304" y="4544568"/>
            <a:ext cx="2788920" cy="640080"/>
          </a:xfrm>
          <a:prstGeom prst="rect">
            <a:avLst/>
          </a:prstGeom>
          <a:noFill/>
        </p:spPr>
        <p:txBody>
          <a:bodyPr wrap="square" anchor="t" lIns="0" rIns="0" tIns="0" bIns="0">
            <a:spAutoFit/>
          </a:bodyPr>
          <a:lstStyle/>
          <a:p>
            <a:pPr algn="l">
              <a:lnSpc>
                <a:spcPct val="120000"/>
              </a:lnSpc>
              <a:spcAft>
                <a:spcPts val="600"/>
              </a:spcAft>
            </a:pPr>
            <a:r>
              <a:rPr sz="1200" b="0">
                <a:solidFill>
                  <a:srgbClr val="3C5763"/>
                </a:solidFill>
                <a:latin typeface="Segoe UI"/>
              </a:rPr>
              <a:t>Permission to act, not your raw keys. There is almost nothing to steal.</a:t>
            </a:r>
          </a:p>
        </p:txBody>
      </p:sp>
      <p:sp>
        <p:nvSpPr>
          <p:cNvPr id="18" name="Rounded Rectangle 17"/>
          <p:cNvSpPr/>
          <p:nvPr/>
        </p:nvSpPr>
        <p:spPr>
          <a:xfrm>
            <a:off x="8010144" y="3063240"/>
            <a:ext cx="3337560" cy="219456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02752" y="3337560"/>
            <a:ext cx="548640" cy="548640"/>
          </a:xfrm>
          <a:prstGeom prst="roundRect">
            <a:avLst>
              <a:gd name="adj" fmla="val 22000"/>
            </a:avLst>
          </a:prstGeom>
          <a:solidFill>
            <a:srgbClr val="E4F5F5"/>
          </a:solidFill>
          <a:ln w="12700">
            <a:solidFill>
              <a:srgbClr val="BFE8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3355848"/>
            <a:ext cx="548640" cy="512064"/>
          </a:xfrm>
          <a:prstGeom prst="rect">
            <a:avLst/>
          </a:prstGeom>
          <a:noFill/>
        </p:spPr>
        <p:txBody>
          <a:bodyPr wrap="square" anchor="ctr" lIns="0" rIns="0" tIns="0" bIns="0">
            <a:spAutoFit/>
          </a:bodyPr>
          <a:lstStyle/>
          <a:p>
            <a:pPr algn="ctr">
              <a:lnSpc>
                <a:spcPct val="106000"/>
              </a:lnSpc>
            </a:pPr>
            <a:r>
              <a:rPr sz="1800" b="1" i="0">
                <a:solidFill>
                  <a:srgbClr val="2F9499"/>
                </a:solidFill>
                <a:latin typeface="Segoe UI"/>
              </a:rPr>
              <a:t>✓</a:t>
            </a:r>
          </a:p>
        </p:txBody>
      </p:sp>
      <p:sp>
        <p:nvSpPr>
          <p:cNvPr id="21" name="TextBox 20"/>
          <p:cNvSpPr txBox="1"/>
          <p:nvPr/>
        </p:nvSpPr>
        <p:spPr>
          <a:xfrm>
            <a:off x="8302752" y="4023360"/>
            <a:ext cx="2788920" cy="640080"/>
          </a:xfrm>
          <a:prstGeom prst="rect">
            <a:avLst/>
          </a:prstGeom>
          <a:noFill/>
        </p:spPr>
        <p:txBody>
          <a:bodyPr wrap="square" anchor="t" lIns="0" rIns="0" tIns="0" bIns="0">
            <a:spAutoFit/>
          </a:bodyPr>
          <a:lstStyle/>
          <a:p>
            <a:pPr algn="l">
              <a:lnSpc>
                <a:spcPct val="106000"/>
              </a:lnSpc>
            </a:pPr>
            <a:r>
              <a:rPr sz="1500" b="1" i="0">
                <a:solidFill>
                  <a:srgbClr val="0D2A36"/>
                </a:solidFill>
                <a:latin typeface="Segoe UI"/>
              </a:rPr>
              <a:t>The shape regulators now require</a:t>
            </a:r>
          </a:p>
        </p:txBody>
      </p:sp>
      <p:sp>
        <p:nvSpPr>
          <p:cNvPr id="22" name="TextBox 21"/>
          <p:cNvSpPr txBox="1"/>
          <p:nvPr/>
        </p:nvSpPr>
        <p:spPr>
          <a:xfrm>
            <a:off x="8302752" y="4544568"/>
            <a:ext cx="2788920" cy="640080"/>
          </a:xfrm>
          <a:prstGeom prst="rect">
            <a:avLst/>
          </a:prstGeom>
          <a:noFill/>
        </p:spPr>
        <p:txBody>
          <a:bodyPr wrap="square" anchor="t" lIns="0" rIns="0" tIns="0" bIns="0">
            <a:spAutoFit/>
          </a:bodyPr>
          <a:lstStyle/>
          <a:p>
            <a:pPr algn="l">
              <a:lnSpc>
                <a:spcPct val="120000"/>
              </a:lnSpc>
              <a:spcAft>
                <a:spcPts val="600"/>
              </a:spcAft>
            </a:pPr>
            <a:r>
              <a:rPr sz="1200" b="0">
                <a:solidFill>
                  <a:srgbClr val="3C5763"/>
                </a:solidFill>
                <a:latin typeface="Segoe UI"/>
              </a:rPr>
              <a:t>Built around signed user mandates, the model the industry just standardised on.</a:t>
            </a:r>
          </a:p>
        </p:txBody>
      </p:sp>
      <p:sp>
        <p:nvSpPr>
          <p:cNvPr id="23" name="TextBox 22"/>
          <p:cNvSpPr txBox="1"/>
          <p:nvPr/>
        </p:nvSpPr>
        <p:spPr>
          <a:xfrm>
            <a:off x="841248" y="5669280"/>
            <a:ext cx="10424160" cy="457200"/>
          </a:xfrm>
          <a:prstGeom prst="rect">
            <a:avLst/>
          </a:prstGeom>
          <a:noFill/>
        </p:spPr>
        <p:txBody>
          <a:bodyPr wrap="square" anchor="t" lIns="0" rIns="0" tIns="0" bIns="0">
            <a:spAutoFit/>
          </a:bodyPr>
          <a:lstStyle/>
          <a:p>
            <a:pPr algn="l">
              <a:lnSpc>
                <a:spcPct val="106000"/>
              </a:lnSpc>
            </a:pPr>
            <a:r>
              <a:rPr sz="1600" b="1" i="0">
                <a:solidFill>
                  <a:srgbClr val="0D2A36"/>
                </a:solidFill>
                <a:latin typeface="Segoe UI"/>
              </a:rPr>
              <a:t>Less for an attacker to steal. Less for you to manage. Safer by design.</a:t>
            </a:r>
          </a:p>
        </p:txBody>
      </p:sp>
      <p:sp>
        <p:nvSpPr>
          <p:cNvPr id="24" name="TextBox 23"/>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7FA6B0"/>
                </a:solidFill>
                <a:latin typeface="Segoe UI"/>
              </a:rPr>
              <a:t>UnClick  ·  Where AI belongs. Humans welcome.</a:t>
            </a:r>
          </a:p>
        </p:txBody>
      </p:sp>
      <p:sp>
        <p:nvSpPr>
          <p:cNvPr id="25" name="TextBox 24"/>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7FA6B0"/>
                </a:solidFill>
                <a:latin typeface="Consolas"/>
              </a:rPr>
              <a:t>09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50292"/>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630936"/>
            <a:ext cx="256032" cy="32004"/>
          </a:xfrm>
          <a:prstGeom prst="rect">
            <a:avLst/>
          </a:prstGeom>
          <a:solidFill>
            <a:srgbClr val="2F9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521207"/>
            <a:ext cx="8229600" cy="292608"/>
          </a:xfrm>
          <a:prstGeom prst="rect">
            <a:avLst/>
          </a:prstGeom>
          <a:noFill/>
        </p:spPr>
        <p:txBody>
          <a:bodyPr wrap="square" anchor="t" lIns="0" rIns="0" tIns="0" bIns="0">
            <a:spAutoFit/>
          </a:bodyPr>
          <a:lstStyle/>
          <a:p>
            <a:pPr algn="l">
              <a:lnSpc>
                <a:spcPct val="106000"/>
              </a:lnSpc>
            </a:pPr>
            <a:r>
              <a:rPr sz="1150" b="1" i="0">
                <a:solidFill>
                  <a:srgbClr val="2F9499"/>
                </a:solidFill>
                <a:latin typeface="Segoe UI"/>
              </a:rPr>
              <a:t>PILLAR 4  ·  AUTOPILOT</a:t>
            </a:r>
          </a:p>
        </p:txBody>
      </p:sp>
      <p:sp>
        <p:nvSpPr>
          <p:cNvPr id="6" name="TextBox 5"/>
          <p:cNvSpPr txBox="1"/>
          <p:nvPr/>
        </p:nvSpPr>
        <p:spPr>
          <a:xfrm>
            <a:off x="841248" y="914400"/>
            <a:ext cx="10424160" cy="914400"/>
          </a:xfrm>
          <a:prstGeom prst="rect">
            <a:avLst/>
          </a:prstGeom>
          <a:noFill/>
        </p:spPr>
        <p:txBody>
          <a:bodyPr wrap="square" anchor="t" lIns="0" rIns="0" tIns="0" bIns="0">
            <a:spAutoFit/>
          </a:bodyPr>
          <a:lstStyle/>
          <a:p>
            <a:pPr algn="l">
              <a:lnSpc>
                <a:spcPct val="106000"/>
              </a:lnSpc>
            </a:pPr>
            <a:r>
              <a:rPr sz="3600" b="1" i="0">
                <a:solidFill>
                  <a:srgbClr val="0D2A36"/>
                </a:solidFill>
                <a:latin typeface="Segoe UI"/>
              </a:rPr>
              <a:t>A self-driving </a:t>
            </a:r>
            <a:r>
              <a:rPr sz="3600" b="1" i="0">
                <a:solidFill>
                  <a:srgbClr val="2F9499"/>
                </a:solidFill>
                <a:latin typeface="Segoe UI"/>
              </a:rPr>
              <a:t>factory</a:t>
            </a:r>
            <a:r>
              <a:rPr sz="3600" b="1" i="0">
                <a:solidFill>
                  <a:srgbClr val="0D2A36"/>
                </a:solidFill>
                <a:latin typeface="Segoe UI"/>
              </a:rPr>
              <a:t> for getting work done.</a:t>
            </a:r>
          </a:p>
        </p:txBody>
      </p:sp>
      <p:sp>
        <p:nvSpPr>
          <p:cNvPr id="7" name="TextBox 6"/>
          <p:cNvSpPr txBox="1"/>
          <p:nvPr/>
        </p:nvSpPr>
        <p:spPr>
          <a:xfrm>
            <a:off x="841248" y="1737360"/>
            <a:ext cx="10058400" cy="731520"/>
          </a:xfrm>
          <a:prstGeom prst="rect">
            <a:avLst/>
          </a:prstGeom>
          <a:noFill/>
        </p:spPr>
        <p:txBody>
          <a:bodyPr wrap="square" anchor="t" lIns="0" rIns="0" tIns="0" bIns="0">
            <a:spAutoFit/>
          </a:bodyPr>
          <a:lstStyle/>
          <a:p>
            <a:pPr algn="l">
              <a:lnSpc>
                <a:spcPct val="128000"/>
              </a:lnSpc>
              <a:spcAft>
                <a:spcPts val="600"/>
              </a:spcAft>
            </a:pPr>
            <a:r>
              <a:rPr sz="1550" b="0">
                <a:solidFill>
                  <a:srgbClr val="3C5763"/>
                </a:solidFill>
                <a:latin typeface="Segoe UI"/>
              </a:rPr>
              <a:t>Type a request in plain English. It moves down an assembly line of specialist AI workers. One clear job goes in. One safe result comes out.</a:t>
            </a:r>
          </a:p>
        </p:txBody>
      </p:sp>
      <p:sp>
        <p:nvSpPr>
          <p:cNvPr id="8" name="Rounded Rectangle 7"/>
          <p:cNvSpPr/>
          <p:nvPr/>
        </p:nvSpPr>
        <p:spPr>
          <a:xfrm>
            <a:off x="841248" y="2697480"/>
            <a:ext cx="10515600" cy="640080"/>
          </a:xfrm>
          <a:prstGeom prst="roundRect">
            <a:avLst>
              <a:gd name="adj" fmla="val 12000"/>
            </a:avLst>
          </a:prstGeom>
          <a:solidFill>
            <a:srgbClr val="0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697480"/>
            <a:ext cx="7315200" cy="640080"/>
          </a:xfrm>
          <a:prstGeom prst="rect">
            <a:avLst/>
          </a:prstGeom>
          <a:noFill/>
        </p:spPr>
        <p:txBody>
          <a:bodyPr wrap="square" anchor="ctr" lIns="0" rIns="0" tIns="0" bIns="0">
            <a:spAutoFit/>
          </a:bodyPr>
          <a:lstStyle/>
          <a:p>
            <a:pPr algn="l">
              <a:lnSpc>
                <a:spcPct val="106000"/>
              </a:lnSpc>
            </a:pPr>
            <a:r>
              <a:rPr sz="1400" b="1" i="0">
                <a:solidFill>
                  <a:srgbClr val="FFFFFF"/>
                </a:solidFill>
                <a:latin typeface="Segoe UI"/>
              </a:rPr>
              <a:t>◐  Launchpad · a human watches every step</a:t>
            </a:r>
          </a:p>
        </p:txBody>
      </p:sp>
      <p:sp>
        <p:nvSpPr>
          <p:cNvPr id="10" name="Rounded Rectangle 9"/>
          <p:cNvSpPr/>
          <p:nvPr/>
        </p:nvSpPr>
        <p:spPr>
          <a:xfrm>
            <a:off x="9390888" y="2816352"/>
            <a:ext cx="1783080" cy="402336"/>
          </a:xfrm>
          <a:prstGeom prst="roundRect">
            <a:avLst>
              <a:gd name="adj" fmla="val 30000"/>
            </a:avLst>
          </a:prstGeom>
          <a:solidFill>
            <a:srgbClr val="3A1616"/>
          </a:solidFill>
          <a:ln w="15240">
            <a:solidFill>
              <a:srgbClr val="8A33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90888" y="2816352"/>
            <a:ext cx="1783080" cy="402336"/>
          </a:xfrm>
          <a:prstGeom prst="rect">
            <a:avLst/>
          </a:prstGeom>
          <a:noFill/>
        </p:spPr>
        <p:txBody>
          <a:bodyPr wrap="square" anchor="ctr" lIns="0" rIns="0" tIns="0" bIns="0">
            <a:spAutoFit/>
          </a:bodyPr>
          <a:lstStyle/>
          <a:p>
            <a:pPr algn="ctr">
              <a:lnSpc>
                <a:spcPct val="106000"/>
              </a:lnSpc>
            </a:pPr>
            <a:r>
              <a:rPr sz="1100" b="1" i="0">
                <a:solidFill>
                  <a:srgbClr val="FF8D83"/>
                </a:solidFill>
                <a:latin typeface="Segoe UI"/>
              </a:rPr>
              <a:t>● KILL SWITCH</a:t>
            </a:r>
          </a:p>
        </p:txBody>
      </p:sp>
      <p:sp>
        <p:nvSpPr>
          <p:cNvPr id="12" name="Rounded Rectangle 11"/>
          <p:cNvSpPr/>
          <p:nvPr/>
        </p:nvSpPr>
        <p:spPr>
          <a:xfrm>
            <a:off x="841248" y="3657600"/>
            <a:ext cx="1243584" cy="141732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847088" y="3803904"/>
            <a:ext cx="109728" cy="109728"/>
          </a:xfrm>
          <a:prstGeom prst="roundRect">
            <a:avLst>
              <a:gd name="adj" fmla="val 50000"/>
            </a:avLst>
          </a:prstGeom>
          <a:solidFill>
            <a:srgbClr val="3FA9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822191"/>
            <a:ext cx="969264" cy="274320"/>
          </a:xfrm>
          <a:prstGeom prst="rect">
            <a:avLst/>
          </a:prstGeom>
          <a:noFill/>
        </p:spPr>
        <p:txBody>
          <a:bodyPr wrap="square" anchor="t" lIns="0" rIns="0" tIns="0" bIns="0">
            <a:spAutoFit/>
          </a:bodyPr>
          <a:lstStyle/>
          <a:p>
            <a:pPr algn="l">
              <a:lnSpc>
                <a:spcPct val="106000"/>
              </a:lnSpc>
            </a:pPr>
            <a:r>
              <a:rPr sz="1050" b="1" i="0">
                <a:solidFill>
                  <a:srgbClr val="2F9499"/>
                </a:solidFill>
                <a:latin typeface="Consolas"/>
              </a:rPr>
              <a:t>01</a:t>
            </a:r>
          </a:p>
        </p:txBody>
      </p:sp>
      <p:sp>
        <p:nvSpPr>
          <p:cNvPr id="15" name="TextBox 14"/>
          <p:cNvSpPr txBox="1"/>
          <p:nvPr/>
        </p:nvSpPr>
        <p:spPr>
          <a:xfrm>
            <a:off x="969264" y="4114800"/>
            <a:ext cx="987552" cy="292608"/>
          </a:xfrm>
          <a:prstGeom prst="rect">
            <a:avLst/>
          </a:prstGeom>
          <a:noFill/>
        </p:spPr>
        <p:txBody>
          <a:bodyPr wrap="square" anchor="t" lIns="0" rIns="0" tIns="0" bIns="0">
            <a:spAutoFit/>
          </a:bodyPr>
          <a:lstStyle/>
          <a:p>
            <a:pPr algn="l">
              <a:lnSpc>
                <a:spcPct val="106000"/>
              </a:lnSpc>
            </a:pPr>
            <a:r>
              <a:rPr sz="1300" b="1" i="0">
                <a:solidFill>
                  <a:srgbClr val="0D2A36"/>
                </a:solidFill>
                <a:latin typeface="Segoe UI"/>
              </a:rPr>
              <a:t>Intake</a:t>
            </a:r>
          </a:p>
        </p:txBody>
      </p:sp>
      <p:sp>
        <p:nvSpPr>
          <p:cNvPr id="16" name="TextBox 15"/>
          <p:cNvSpPr txBox="1"/>
          <p:nvPr/>
        </p:nvSpPr>
        <p:spPr>
          <a:xfrm>
            <a:off x="969264" y="4434840"/>
            <a:ext cx="987552" cy="548640"/>
          </a:xfrm>
          <a:prstGeom prst="rect">
            <a:avLst/>
          </a:prstGeom>
          <a:noFill/>
        </p:spPr>
        <p:txBody>
          <a:bodyPr wrap="square" anchor="t" lIns="0" rIns="0" tIns="0" bIns="0">
            <a:spAutoFit/>
          </a:bodyPr>
          <a:lstStyle/>
          <a:p>
            <a:pPr algn="l">
              <a:lnSpc>
                <a:spcPct val="110000"/>
              </a:lnSpc>
              <a:spcAft>
                <a:spcPts val="600"/>
              </a:spcAft>
            </a:pPr>
            <a:r>
              <a:rPr sz="900" b="0">
                <a:solidFill>
                  <a:srgbClr val="6F8B95"/>
                </a:solidFill>
                <a:latin typeface="Segoe UI"/>
              </a:rPr>
              <a:t>Plain-English request</a:t>
            </a:r>
          </a:p>
        </p:txBody>
      </p:sp>
      <p:sp>
        <p:nvSpPr>
          <p:cNvPr id="17" name="Rounded Rectangle 16"/>
          <p:cNvSpPr/>
          <p:nvPr/>
        </p:nvSpPr>
        <p:spPr>
          <a:xfrm>
            <a:off x="2162556" y="3657600"/>
            <a:ext cx="1243584" cy="141732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168396" y="3803904"/>
            <a:ext cx="109728" cy="109728"/>
          </a:xfrm>
          <a:prstGeom prst="roundRect">
            <a:avLst>
              <a:gd name="adj" fmla="val 50000"/>
            </a:avLst>
          </a:prstGeom>
          <a:solidFill>
            <a:srgbClr val="3FA9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90572" y="3822191"/>
            <a:ext cx="969264" cy="274320"/>
          </a:xfrm>
          <a:prstGeom prst="rect">
            <a:avLst/>
          </a:prstGeom>
          <a:noFill/>
        </p:spPr>
        <p:txBody>
          <a:bodyPr wrap="square" anchor="t" lIns="0" rIns="0" tIns="0" bIns="0">
            <a:spAutoFit/>
          </a:bodyPr>
          <a:lstStyle/>
          <a:p>
            <a:pPr algn="l">
              <a:lnSpc>
                <a:spcPct val="106000"/>
              </a:lnSpc>
            </a:pPr>
            <a:r>
              <a:rPr sz="1050" b="1" i="0">
                <a:solidFill>
                  <a:srgbClr val="2F9499"/>
                </a:solidFill>
                <a:latin typeface="Consolas"/>
              </a:rPr>
              <a:t>02</a:t>
            </a:r>
          </a:p>
        </p:txBody>
      </p:sp>
      <p:sp>
        <p:nvSpPr>
          <p:cNvPr id="20" name="TextBox 19"/>
          <p:cNvSpPr txBox="1"/>
          <p:nvPr/>
        </p:nvSpPr>
        <p:spPr>
          <a:xfrm>
            <a:off x="2290572" y="4114800"/>
            <a:ext cx="987552" cy="292608"/>
          </a:xfrm>
          <a:prstGeom prst="rect">
            <a:avLst/>
          </a:prstGeom>
          <a:noFill/>
        </p:spPr>
        <p:txBody>
          <a:bodyPr wrap="square" anchor="t" lIns="0" rIns="0" tIns="0" bIns="0">
            <a:spAutoFit/>
          </a:bodyPr>
          <a:lstStyle/>
          <a:p>
            <a:pPr algn="l">
              <a:lnSpc>
                <a:spcPct val="106000"/>
              </a:lnSpc>
            </a:pPr>
            <a:r>
              <a:rPr sz="1300" b="1" i="0">
                <a:solidFill>
                  <a:srgbClr val="0D2A36"/>
                </a:solidFill>
                <a:latin typeface="Segoe UI"/>
              </a:rPr>
              <a:t>Research</a:t>
            </a:r>
          </a:p>
        </p:txBody>
      </p:sp>
      <p:sp>
        <p:nvSpPr>
          <p:cNvPr id="21" name="TextBox 20"/>
          <p:cNvSpPr txBox="1"/>
          <p:nvPr/>
        </p:nvSpPr>
        <p:spPr>
          <a:xfrm>
            <a:off x="2290572" y="4434840"/>
            <a:ext cx="987552" cy="548640"/>
          </a:xfrm>
          <a:prstGeom prst="rect">
            <a:avLst/>
          </a:prstGeom>
          <a:noFill/>
        </p:spPr>
        <p:txBody>
          <a:bodyPr wrap="square" anchor="t" lIns="0" rIns="0" tIns="0" bIns="0">
            <a:spAutoFit/>
          </a:bodyPr>
          <a:lstStyle/>
          <a:p>
            <a:pPr algn="l">
              <a:lnSpc>
                <a:spcPct val="110000"/>
              </a:lnSpc>
              <a:spcAft>
                <a:spcPts val="600"/>
              </a:spcAft>
            </a:pPr>
            <a:r>
              <a:rPr sz="900" b="0">
                <a:solidFill>
                  <a:srgbClr val="6F8B95"/>
                </a:solidFill>
                <a:latin typeface="Segoe UI"/>
              </a:rPr>
              <a:t>Explore options</a:t>
            </a:r>
          </a:p>
        </p:txBody>
      </p:sp>
      <p:sp>
        <p:nvSpPr>
          <p:cNvPr id="22" name="Rounded Rectangle 21"/>
          <p:cNvSpPr/>
          <p:nvPr/>
        </p:nvSpPr>
        <p:spPr>
          <a:xfrm>
            <a:off x="3483864" y="3657600"/>
            <a:ext cx="1243584" cy="141732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489704" y="3803904"/>
            <a:ext cx="109728" cy="109728"/>
          </a:xfrm>
          <a:prstGeom prst="roundRect">
            <a:avLst>
              <a:gd name="adj" fmla="val 50000"/>
            </a:avLst>
          </a:prstGeom>
          <a:solidFill>
            <a:srgbClr val="3FA9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11880" y="3822191"/>
            <a:ext cx="969264" cy="274320"/>
          </a:xfrm>
          <a:prstGeom prst="rect">
            <a:avLst/>
          </a:prstGeom>
          <a:noFill/>
        </p:spPr>
        <p:txBody>
          <a:bodyPr wrap="square" anchor="t" lIns="0" rIns="0" tIns="0" bIns="0">
            <a:spAutoFit/>
          </a:bodyPr>
          <a:lstStyle/>
          <a:p>
            <a:pPr algn="l">
              <a:lnSpc>
                <a:spcPct val="106000"/>
              </a:lnSpc>
            </a:pPr>
            <a:r>
              <a:rPr sz="1050" b="1" i="0">
                <a:solidFill>
                  <a:srgbClr val="2F9499"/>
                </a:solidFill>
                <a:latin typeface="Consolas"/>
              </a:rPr>
              <a:t>03</a:t>
            </a:r>
          </a:p>
        </p:txBody>
      </p:sp>
      <p:sp>
        <p:nvSpPr>
          <p:cNvPr id="25" name="TextBox 24"/>
          <p:cNvSpPr txBox="1"/>
          <p:nvPr/>
        </p:nvSpPr>
        <p:spPr>
          <a:xfrm>
            <a:off x="3611880" y="4114800"/>
            <a:ext cx="987552" cy="292608"/>
          </a:xfrm>
          <a:prstGeom prst="rect">
            <a:avLst/>
          </a:prstGeom>
          <a:noFill/>
        </p:spPr>
        <p:txBody>
          <a:bodyPr wrap="square" anchor="t" lIns="0" rIns="0" tIns="0" bIns="0">
            <a:spAutoFit/>
          </a:bodyPr>
          <a:lstStyle/>
          <a:p>
            <a:pPr algn="l">
              <a:lnSpc>
                <a:spcPct val="106000"/>
              </a:lnSpc>
            </a:pPr>
            <a:r>
              <a:rPr sz="1300" b="1" i="0">
                <a:solidFill>
                  <a:srgbClr val="0D2A36"/>
                </a:solidFill>
                <a:latin typeface="Segoe UI"/>
              </a:rPr>
              <a:t>Plan</a:t>
            </a:r>
          </a:p>
        </p:txBody>
      </p:sp>
      <p:sp>
        <p:nvSpPr>
          <p:cNvPr id="26" name="TextBox 25"/>
          <p:cNvSpPr txBox="1"/>
          <p:nvPr/>
        </p:nvSpPr>
        <p:spPr>
          <a:xfrm>
            <a:off x="3611880" y="4434840"/>
            <a:ext cx="987552" cy="548640"/>
          </a:xfrm>
          <a:prstGeom prst="rect">
            <a:avLst/>
          </a:prstGeom>
          <a:noFill/>
        </p:spPr>
        <p:txBody>
          <a:bodyPr wrap="square" anchor="t" lIns="0" rIns="0" tIns="0" bIns="0">
            <a:spAutoFit/>
          </a:bodyPr>
          <a:lstStyle/>
          <a:p>
            <a:pPr algn="l">
              <a:lnSpc>
                <a:spcPct val="110000"/>
              </a:lnSpc>
              <a:spcAft>
                <a:spcPts val="600"/>
              </a:spcAft>
            </a:pPr>
            <a:r>
              <a:rPr sz="900" b="0">
                <a:solidFill>
                  <a:srgbClr val="6F8B95"/>
                </a:solidFill>
                <a:latin typeface="Segoe UI"/>
              </a:rPr>
              <a:t>A small work packet</a:t>
            </a:r>
          </a:p>
        </p:txBody>
      </p:sp>
      <p:sp>
        <p:nvSpPr>
          <p:cNvPr id="27" name="Rounded Rectangle 26"/>
          <p:cNvSpPr/>
          <p:nvPr/>
        </p:nvSpPr>
        <p:spPr>
          <a:xfrm>
            <a:off x="4805172" y="3657600"/>
            <a:ext cx="1243584" cy="141732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11012" y="3803904"/>
            <a:ext cx="109728" cy="109728"/>
          </a:xfrm>
          <a:prstGeom prst="roundRect">
            <a:avLst>
              <a:gd name="adj" fmla="val 50000"/>
            </a:avLst>
          </a:prstGeom>
          <a:solidFill>
            <a:srgbClr val="3FA9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33188" y="3822191"/>
            <a:ext cx="969264" cy="274320"/>
          </a:xfrm>
          <a:prstGeom prst="rect">
            <a:avLst/>
          </a:prstGeom>
          <a:noFill/>
        </p:spPr>
        <p:txBody>
          <a:bodyPr wrap="square" anchor="t" lIns="0" rIns="0" tIns="0" bIns="0">
            <a:spAutoFit/>
          </a:bodyPr>
          <a:lstStyle/>
          <a:p>
            <a:pPr algn="l">
              <a:lnSpc>
                <a:spcPct val="106000"/>
              </a:lnSpc>
            </a:pPr>
            <a:r>
              <a:rPr sz="1050" b="1" i="0">
                <a:solidFill>
                  <a:srgbClr val="2F9499"/>
                </a:solidFill>
                <a:latin typeface="Consolas"/>
              </a:rPr>
              <a:t>04</a:t>
            </a:r>
          </a:p>
        </p:txBody>
      </p:sp>
      <p:sp>
        <p:nvSpPr>
          <p:cNvPr id="30" name="TextBox 29"/>
          <p:cNvSpPr txBox="1"/>
          <p:nvPr/>
        </p:nvSpPr>
        <p:spPr>
          <a:xfrm>
            <a:off x="4933188" y="4114800"/>
            <a:ext cx="987552" cy="292608"/>
          </a:xfrm>
          <a:prstGeom prst="rect">
            <a:avLst/>
          </a:prstGeom>
          <a:noFill/>
        </p:spPr>
        <p:txBody>
          <a:bodyPr wrap="square" anchor="t" lIns="0" rIns="0" tIns="0" bIns="0">
            <a:spAutoFit/>
          </a:bodyPr>
          <a:lstStyle/>
          <a:p>
            <a:pPr algn="l">
              <a:lnSpc>
                <a:spcPct val="106000"/>
              </a:lnSpc>
            </a:pPr>
            <a:r>
              <a:rPr sz="1300" b="1" i="0">
                <a:solidFill>
                  <a:srgbClr val="0D2A36"/>
                </a:solidFill>
                <a:latin typeface="Segoe UI"/>
              </a:rPr>
              <a:t>Build</a:t>
            </a:r>
          </a:p>
        </p:txBody>
      </p:sp>
      <p:sp>
        <p:nvSpPr>
          <p:cNvPr id="31" name="TextBox 30"/>
          <p:cNvSpPr txBox="1"/>
          <p:nvPr/>
        </p:nvSpPr>
        <p:spPr>
          <a:xfrm>
            <a:off x="4933188" y="4434840"/>
            <a:ext cx="987552" cy="548640"/>
          </a:xfrm>
          <a:prstGeom prst="rect">
            <a:avLst/>
          </a:prstGeom>
          <a:noFill/>
        </p:spPr>
        <p:txBody>
          <a:bodyPr wrap="square" anchor="t" lIns="0" rIns="0" tIns="0" bIns="0">
            <a:spAutoFit/>
          </a:bodyPr>
          <a:lstStyle/>
          <a:p>
            <a:pPr algn="l">
              <a:lnSpc>
                <a:spcPct val="110000"/>
              </a:lnSpc>
              <a:spcAft>
                <a:spcPts val="600"/>
              </a:spcAft>
            </a:pPr>
            <a:r>
              <a:rPr sz="900" b="0">
                <a:solidFill>
                  <a:srgbClr val="6F8B95"/>
                </a:solidFill>
                <a:latin typeface="Segoe UI"/>
              </a:rPr>
              <a:t>Focused changes</a:t>
            </a:r>
          </a:p>
        </p:txBody>
      </p:sp>
      <p:sp>
        <p:nvSpPr>
          <p:cNvPr id="32" name="Rounded Rectangle 31"/>
          <p:cNvSpPr/>
          <p:nvPr/>
        </p:nvSpPr>
        <p:spPr>
          <a:xfrm>
            <a:off x="6126480" y="3657600"/>
            <a:ext cx="1243584" cy="141732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132320" y="3803904"/>
            <a:ext cx="109728" cy="109728"/>
          </a:xfrm>
          <a:prstGeom prst="roundRect">
            <a:avLst>
              <a:gd name="adj" fmla="val 50000"/>
            </a:avLst>
          </a:prstGeom>
          <a:solidFill>
            <a:srgbClr val="C88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4496" y="3822191"/>
            <a:ext cx="969264" cy="274320"/>
          </a:xfrm>
          <a:prstGeom prst="rect">
            <a:avLst/>
          </a:prstGeom>
          <a:noFill/>
        </p:spPr>
        <p:txBody>
          <a:bodyPr wrap="square" anchor="t" lIns="0" rIns="0" tIns="0" bIns="0">
            <a:spAutoFit/>
          </a:bodyPr>
          <a:lstStyle/>
          <a:p>
            <a:pPr algn="l">
              <a:lnSpc>
                <a:spcPct val="106000"/>
              </a:lnSpc>
            </a:pPr>
            <a:r>
              <a:rPr sz="1050" b="1" i="0">
                <a:solidFill>
                  <a:srgbClr val="2F9499"/>
                </a:solidFill>
                <a:latin typeface="Consolas"/>
              </a:rPr>
              <a:t>05</a:t>
            </a:r>
          </a:p>
        </p:txBody>
      </p:sp>
      <p:sp>
        <p:nvSpPr>
          <p:cNvPr id="35" name="TextBox 34"/>
          <p:cNvSpPr txBox="1"/>
          <p:nvPr/>
        </p:nvSpPr>
        <p:spPr>
          <a:xfrm>
            <a:off x="6254496" y="4114800"/>
            <a:ext cx="987552" cy="292608"/>
          </a:xfrm>
          <a:prstGeom prst="rect">
            <a:avLst/>
          </a:prstGeom>
          <a:noFill/>
        </p:spPr>
        <p:txBody>
          <a:bodyPr wrap="square" anchor="t" lIns="0" rIns="0" tIns="0" bIns="0">
            <a:spAutoFit/>
          </a:bodyPr>
          <a:lstStyle/>
          <a:p>
            <a:pPr algn="l">
              <a:lnSpc>
                <a:spcPct val="106000"/>
              </a:lnSpc>
            </a:pPr>
            <a:r>
              <a:rPr sz="1300" b="1" i="0">
                <a:solidFill>
                  <a:srgbClr val="0D2A36"/>
                </a:solidFill>
                <a:latin typeface="Segoe UI"/>
              </a:rPr>
              <a:t>Test</a:t>
            </a:r>
          </a:p>
        </p:txBody>
      </p:sp>
      <p:sp>
        <p:nvSpPr>
          <p:cNvPr id="36" name="TextBox 35"/>
          <p:cNvSpPr txBox="1"/>
          <p:nvPr/>
        </p:nvSpPr>
        <p:spPr>
          <a:xfrm>
            <a:off x="6254496" y="4434840"/>
            <a:ext cx="987552" cy="548640"/>
          </a:xfrm>
          <a:prstGeom prst="rect">
            <a:avLst/>
          </a:prstGeom>
          <a:noFill/>
        </p:spPr>
        <p:txBody>
          <a:bodyPr wrap="square" anchor="t" lIns="0" rIns="0" tIns="0" bIns="0">
            <a:spAutoFit/>
          </a:bodyPr>
          <a:lstStyle/>
          <a:p>
            <a:pPr algn="l">
              <a:lnSpc>
                <a:spcPct val="110000"/>
              </a:lnSpc>
              <a:spcAft>
                <a:spcPts val="600"/>
              </a:spcAft>
            </a:pPr>
            <a:r>
              <a:rPr sz="900" b="0">
                <a:solidFill>
                  <a:srgbClr val="6F8B95"/>
                </a:solidFill>
                <a:latin typeface="Segoe UI"/>
              </a:rPr>
              <a:t>Run the checks</a:t>
            </a:r>
          </a:p>
        </p:txBody>
      </p:sp>
      <p:sp>
        <p:nvSpPr>
          <p:cNvPr id="37" name="Rounded Rectangle 36"/>
          <p:cNvSpPr/>
          <p:nvPr/>
        </p:nvSpPr>
        <p:spPr>
          <a:xfrm>
            <a:off x="7447788" y="3657600"/>
            <a:ext cx="1243584" cy="141732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453628" y="3803904"/>
            <a:ext cx="109728" cy="109728"/>
          </a:xfrm>
          <a:prstGeom prst="roundRect">
            <a:avLst>
              <a:gd name="adj" fmla="val 50000"/>
            </a:avLst>
          </a:prstGeom>
          <a:solidFill>
            <a:srgbClr val="3FA9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75804" y="3822191"/>
            <a:ext cx="969264" cy="274320"/>
          </a:xfrm>
          <a:prstGeom prst="rect">
            <a:avLst/>
          </a:prstGeom>
          <a:noFill/>
        </p:spPr>
        <p:txBody>
          <a:bodyPr wrap="square" anchor="t" lIns="0" rIns="0" tIns="0" bIns="0">
            <a:spAutoFit/>
          </a:bodyPr>
          <a:lstStyle/>
          <a:p>
            <a:pPr algn="l">
              <a:lnSpc>
                <a:spcPct val="106000"/>
              </a:lnSpc>
            </a:pPr>
            <a:r>
              <a:rPr sz="1050" b="1" i="0">
                <a:solidFill>
                  <a:srgbClr val="2F9499"/>
                </a:solidFill>
                <a:latin typeface="Consolas"/>
              </a:rPr>
              <a:t>06</a:t>
            </a:r>
          </a:p>
        </p:txBody>
      </p:sp>
      <p:sp>
        <p:nvSpPr>
          <p:cNvPr id="40" name="TextBox 39"/>
          <p:cNvSpPr txBox="1"/>
          <p:nvPr/>
        </p:nvSpPr>
        <p:spPr>
          <a:xfrm>
            <a:off x="7575804" y="4114800"/>
            <a:ext cx="987552" cy="292608"/>
          </a:xfrm>
          <a:prstGeom prst="rect">
            <a:avLst/>
          </a:prstGeom>
          <a:noFill/>
        </p:spPr>
        <p:txBody>
          <a:bodyPr wrap="square" anchor="t" lIns="0" rIns="0" tIns="0" bIns="0">
            <a:spAutoFit/>
          </a:bodyPr>
          <a:lstStyle/>
          <a:p>
            <a:pPr algn="l">
              <a:lnSpc>
                <a:spcPct val="106000"/>
              </a:lnSpc>
            </a:pPr>
            <a:r>
              <a:rPr sz="1300" b="1" i="0">
                <a:solidFill>
                  <a:srgbClr val="0D2A36"/>
                </a:solidFill>
                <a:latin typeface="Segoe UI"/>
              </a:rPr>
              <a:t>Review</a:t>
            </a:r>
          </a:p>
        </p:txBody>
      </p:sp>
      <p:sp>
        <p:nvSpPr>
          <p:cNvPr id="41" name="TextBox 40"/>
          <p:cNvSpPr txBox="1"/>
          <p:nvPr/>
        </p:nvSpPr>
        <p:spPr>
          <a:xfrm>
            <a:off x="7575804" y="4434840"/>
            <a:ext cx="987552" cy="548640"/>
          </a:xfrm>
          <a:prstGeom prst="rect">
            <a:avLst/>
          </a:prstGeom>
          <a:noFill/>
        </p:spPr>
        <p:txBody>
          <a:bodyPr wrap="square" anchor="t" lIns="0" rIns="0" tIns="0" bIns="0">
            <a:spAutoFit/>
          </a:bodyPr>
          <a:lstStyle/>
          <a:p>
            <a:pPr algn="l">
              <a:lnSpc>
                <a:spcPct val="110000"/>
              </a:lnSpc>
              <a:spcAft>
                <a:spcPts val="600"/>
              </a:spcAft>
            </a:pPr>
            <a:r>
              <a:rPr sz="900" b="0">
                <a:solidFill>
                  <a:srgbClr val="6F8B95"/>
                </a:solidFill>
                <a:latin typeface="Segoe UI"/>
              </a:rPr>
              <a:t>A second set of eyes</a:t>
            </a:r>
          </a:p>
        </p:txBody>
      </p:sp>
      <p:sp>
        <p:nvSpPr>
          <p:cNvPr id="42" name="Rounded Rectangle 41"/>
          <p:cNvSpPr/>
          <p:nvPr/>
        </p:nvSpPr>
        <p:spPr>
          <a:xfrm>
            <a:off x="8769096" y="3657600"/>
            <a:ext cx="1243584" cy="141732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9774936" y="3803904"/>
            <a:ext cx="109728" cy="109728"/>
          </a:xfrm>
          <a:prstGeom prst="roundRect">
            <a:avLst>
              <a:gd name="adj" fmla="val 50000"/>
            </a:avLst>
          </a:prstGeom>
          <a:solidFill>
            <a:srgbClr val="3FA9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97112" y="3822191"/>
            <a:ext cx="969264" cy="274320"/>
          </a:xfrm>
          <a:prstGeom prst="rect">
            <a:avLst/>
          </a:prstGeom>
          <a:noFill/>
        </p:spPr>
        <p:txBody>
          <a:bodyPr wrap="square" anchor="t" lIns="0" rIns="0" tIns="0" bIns="0">
            <a:spAutoFit/>
          </a:bodyPr>
          <a:lstStyle/>
          <a:p>
            <a:pPr algn="l">
              <a:lnSpc>
                <a:spcPct val="106000"/>
              </a:lnSpc>
            </a:pPr>
            <a:r>
              <a:rPr sz="1050" b="1" i="0">
                <a:solidFill>
                  <a:srgbClr val="2F9499"/>
                </a:solidFill>
                <a:latin typeface="Consolas"/>
              </a:rPr>
              <a:t>07</a:t>
            </a:r>
          </a:p>
        </p:txBody>
      </p:sp>
      <p:sp>
        <p:nvSpPr>
          <p:cNvPr id="45" name="TextBox 44"/>
          <p:cNvSpPr txBox="1"/>
          <p:nvPr/>
        </p:nvSpPr>
        <p:spPr>
          <a:xfrm>
            <a:off x="8897112" y="4114800"/>
            <a:ext cx="987552" cy="292608"/>
          </a:xfrm>
          <a:prstGeom prst="rect">
            <a:avLst/>
          </a:prstGeom>
          <a:noFill/>
        </p:spPr>
        <p:txBody>
          <a:bodyPr wrap="square" anchor="t" lIns="0" rIns="0" tIns="0" bIns="0">
            <a:spAutoFit/>
          </a:bodyPr>
          <a:lstStyle/>
          <a:p>
            <a:pPr algn="l">
              <a:lnSpc>
                <a:spcPct val="106000"/>
              </a:lnSpc>
            </a:pPr>
            <a:r>
              <a:rPr sz="1300" b="1" i="0">
                <a:solidFill>
                  <a:srgbClr val="0D2A36"/>
                </a:solidFill>
                <a:latin typeface="Segoe UI"/>
              </a:rPr>
              <a:t>Safety</a:t>
            </a:r>
          </a:p>
        </p:txBody>
      </p:sp>
      <p:sp>
        <p:nvSpPr>
          <p:cNvPr id="46" name="TextBox 45"/>
          <p:cNvSpPr txBox="1"/>
          <p:nvPr/>
        </p:nvSpPr>
        <p:spPr>
          <a:xfrm>
            <a:off x="8897112" y="4434840"/>
            <a:ext cx="987552" cy="548640"/>
          </a:xfrm>
          <a:prstGeom prst="rect">
            <a:avLst/>
          </a:prstGeom>
          <a:noFill/>
        </p:spPr>
        <p:txBody>
          <a:bodyPr wrap="square" anchor="t" lIns="0" rIns="0" tIns="0" bIns="0">
            <a:spAutoFit/>
          </a:bodyPr>
          <a:lstStyle/>
          <a:p>
            <a:pPr algn="l">
              <a:lnSpc>
                <a:spcPct val="110000"/>
              </a:lnSpc>
              <a:spcAft>
                <a:spcPts val="600"/>
              </a:spcAft>
            </a:pPr>
            <a:r>
              <a:rPr sz="900" b="0">
                <a:solidFill>
                  <a:srgbClr val="6F8B95"/>
                </a:solidFill>
                <a:latin typeface="Segoe UI"/>
              </a:rPr>
              <a:t>Guard the danger</a:t>
            </a:r>
          </a:p>
        </p:txBody>
      </p:sp>
      <p:sp>
        <p:nvSpPr>
          <p:cNvPr id="47" name="Rounded Rectangle 46"/>
          <p:cNvSpPr/>
          <p:nvPr/>
        </p:nvSpPr>
        <p:spPr>
          <a:xfrm>
            <a:off x="10090404" y="3657600"/>
            <a:ext cx="1243584" cy="141732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1096244" y="3803904"/>
            <a:ext cx="109728" cy="109728"/>
          </a:xfrm>
          <a:prstGeom prst="roundRect">
            <a:avLst>
              <a:gd name="adj" fmla="val 50000"/>
            </a:avLst>
          </a:prstGeom>
          <a:solidFill>
            <a:srgbClr val="3FA9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8420" y="3822191"/>
            <a:ext cx="969264" cy="274320"/>
          </a:xfrm>
          <a:prstGeom prst="rect">
            <a:avLst/>
          </a:prstGeom>
          <a:noFill/>
        </p:spPr>
        <p:txBody>
          <a:bodyPr wrap="square" anchor="t" lIns="0" rIns="0" tIns="0" bIns="0">
            <a:spAutoFit/>
          </a:bodyPr>
          <a:lstStyle/>
          <a:p>
            <a:pPr algn="l">
              <a:lnSpc>
                <a:spcPct val="106000"/>
              </a:lnSpc>
            </a:pPr>
            <a:r>
              <a:rPr sz="1050" b="1" i="0">
                <a:solidFill>
                  <a:srgbClr val="2F9499"/>
                </a:solidFill>
                <a:latin typeface="Consolas"/>
              </a:rPr>
              <a:t>08</a:t>
            </a:r>
          </a:p>
        </p:txBody>
      </p:sp>
      <p:sp>
        <p:nvSpPr>
          <p:cNvPr id="50" name="TextBox 49"/>
          <p:cNvSpPr txBox="1"/>
          <p:nvPr/>
        </p:nvSpPr>
        <p:spPr>
          <a:xfrm>
            <a:off x="10218420" y="4114800"/>
            <a:ext cx="987552" cy="292608"/>
          </a:xfrm>
          <a:prstGeom prst="rect">
            <a:avLst/>
          </a:prstGeom>
          <a:noFill/>
        </p:spPr>
        <p:txBody>
          <a:bodyPr wrap="square" anchor="t" lIns="0" rIns="0" tIns="0" bIns="0">
            <a:spAutoFit/>
          </a:bodyPr>
          <a:lstStyle/>
          <a:p>
            <a:pPr algn="l">
              <a:lnSpc>
                <a:spcPct val="106000"/>
              </a:lnSpc>
            </a:pPr>
            <a:r>
              <a:rPr sz="1300" b="1" i="0">
                <a:solidFill>
                  <a:srgbClr val="0D2A36"/>
                </a:solidFill>
                <a:latin typeface="Segoe UI"/>
              </a:rPr>
              <a:t>Ship</a:t>
            </a:r>
          </a:p>
        </p:txBody>
      </p:sp>
      <p:sp>
        <p:nvSpPr>
          <p:cNvPr id="51" name="TextBox 50"/>
          <p:cNvSpPr txBox="1"/>
          <p:nvPr/>
        </p:nvSpPr>
        <p:spPr>
          <a:xfrm>
            <a:off x="10218420" y="4434840"/>
            <a:ext cx="987552" cy="548640"/>
          </a:xfrm>
          <a:prstGeom prst="rect">
            <a:avLst/>
          </a:prstGeom>
          <a:noFill/>
        </p:spPr>
        <p:txBody>
          <a:bodyPr wrap="square" anchor="t" lIns="0" rIns="0" tIns="0" bIns="0">
            <a:spAutoFit/>
          </a:bodyPr>
          <a:lstStyle/>
          <a:p>
            <a:pPr algn="l">
              <a:lnSpc>
                <a:spcPct val="110000"/>
              </a:lnSpc>
              <a:spcAft>
                <a:spcPts val="600"/>
              </a:spcAft>
            </a:pPr>
            <a:r>
              <a:rPr sz="900" b="0">
                <a:solidFill>
                  <a:srgbClr val="6F8B95"/>
                </a:solidFill>
                <a:latin typeface="Segoe UI"/>
              </a:rPr>
              <a:t>Merge, publish, prove</a:t>
            </a:r>
          </a:p>
        </p:txBody>
      </p:sp>
      <p:sp>
        <p:nvSpPr>
          <p:cNvPr id="52" name="Rounded Rectangle 51"/>
          <p:cNvSpPr/>
          <p:nvPr/>
        </p:nvSpPr>
        <p:spPr>
          <a:xfrm>
            <a:off x="841248" y="5440680"/>
            <a:ext cx="146304" cy="146304"/>
          </a:xfrm>
          <a:prstGeom prst="roundRect">
            <a:avLst>
              <a:gd name="adj" fmla="val 50000"/>
            </a:avLst>
          </a:prstGeom>
          <a:solidFill>
            <a:srgbClr val="3FA9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60704" y="5394960"/>
            <a:ext cx="1188720" cy="274320"/>
          </a:xfrm>
          <a:prstGeom prst="rect">
            <a:avLst/>
          </a:prstGeom>
          <a:noFill/>
        </p:spPr>
        <p:txBody>
          <a:bodyPr wrap="square" anchor="t" lIns="0" rIns="0" tIns="0" bIns="0">
            <a:spAutoFit/>
          </a:bodyPr>
          <a:lstStyle/>
          <a:p>
            <a:pPr algn="l">
              <a:lnSpc>
                <a:spcPct val="106000"/>
              </a:lnSpc>
            </a:pPr>
            <a:r>
              <a:rPr sz="1200" b="1" i="0">
                <a:solidFill>
                  <a:srgbClr val="3C5763"/>
                </a:solidFill>
                <a:latin typeface="Segoe UI"/>
              </a:rPr>
              <a:t>Passed</a:t>
            </a:r>
          </a:p>
        </p:txBody>
      </p:sp>
      <p:sp>
        <p:nvSpPr>
          <p:cNvPr id="54" name="Rounded Rectangle 53"/>
          <p:cNvSpPr/>
          <p:nvPr/>
        </p:nvSpPr>
        <p:spPr>
          <a:xfrm>
            <a:off x="2075688" y="5440680"/>
            <a:ext cx="146304" cy="146304"/>
          </a:xfrm>
          <a:prstGeom prst="roundRect">
            <a:avLst>
              <a:gd name="adj" fmla="val 50000"/>
            </a:avLst>
          </a:prstGeom>
          <a:solidFill>
            <a:srgbClr val="C88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295144" y="5394960"/>
            <a:ext cx="1188720" cy="274320"/>
          </a:xfrm>
          <a:prstGeom prst="rect">
            <a:avLst/>
          </a:prstGeom>
          <a:noFill/>
        </p:spPr>
        <p:txBody>
          <a:bodyPr wrap="square" anchor="t" lIns="0" rIns="0" tIns="0" bIns="0">
            <a:spAutoFit/>
          </a:bodyPr>
          <a:lstStyle/>
          <a:p>
            <a:pPr algn="l">
              <a:lnSpc>
                <a:spcPct val="106000"/>
              </a:lnSpc>
            </a:pPr>
            <a:r>
              <a:rPr sz="1200" b="1" i="0">
                <a:solidFill>
                  <a:srgbClr val="3C5763"/>
                </a:solidFill>
                <a:latin typeface="Segoe UI"/>
              </a:rPr>
              <a:t>Waiting</a:t>
            </a:r>
          </a:p>
        </p:txBody>
      </p:sp>
      <p:sp>
        <p:nvSpPr>
          <p:cNvPr id="56" name="Rounded Rectangle 55"/>
          <p:cNvSpPr/>
          <p:nvPr/>
        </p:nvSpPr>
        <p:spPr>
          <a:xfrm>
            <a:off x="3310128" y="5440680"/>
            <a:ext cx="146304" cy="146304"/>
          </a:xfrm>
          <a:prstGeom prst="roundRect">
            <a:avLst>
              <a:gd name="adj" fmla="val 50000"/>
            </a:avLst>
          </a:prstGeom>
          <a:solidFill>
            <a:srgbClr val="D05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529584" y="5394960"/>
            <a:ext cx="1188720" cy="274320"/>
          </a:xfrm>
          <a:prstGeom prst="rect">
            <a:avLst/>
          </a:prstGeom>
          <a:noFill/>
        </p:spPr>
        <p:txBody>
          <a:bodyPr wrap="square" anchor="t" lIns="0" rIns="0" tIns="0" bIns="0">
            <a:spAutoFit/>
          </a:bodyPr>
          <a:lstStyle/>
          <a:p>
            <a:pPr algn="l">
              <a:lnSpc>
                <a:spcPct val="106000"/>
              </a:lnSpc>
            </a:pPr>
            <a:r>
              <a:rPr sz="1200" b="1" i="0">
                <a:solidFill>
                  <a:srgbClr val="3C5763"/>
                </a:solidFill>
                <a:latin typeface="Segoe UI"/>
              </a:rPr>
              <a:t>Blocked</a:t>
            </a:r>
          </a:p>
        </p:txBody>
      </p:sp>
      <p:sp>
        <p:nvSpPr>
          <p:cNvPr id="58" name="TextBox 57"/>
          <p:cNvSpPr txBox="1"/>
          <p:nvPr/>
        </p:nvSpPr>
        <p:spPr>
          <a:xfrm>
            <a:off x="4727448" y="5376672"/>
            <a:ext cx="7315200" cy="274320"/>
          </a:xfrm>
          <a:prstGeom prst="rect">
            <a:avLst/>
          </a:prstGeom>
          <a:noFill/>
        </p:spPr>
        <p:txBody>
          <a:bodyPr wrap="square" anchor="t" lIns="0" rIns="0" tIns="0" bIns="0">
            <a:spAutoFit/>
          </a:bodyPr>
          <a:lstStyle/>
          <a:p>
            <a:pPr algn="l">
              <a:lnSpc>
                <a:spcPct val="106000"/>
              </a:lnSpc>
            </a:pPr>
            <a:r>
              <a:rPr sz="1300" b="1" i="0">
                <a:solidFill>
                  <a:srgbClr val="2F9499"/>
                </a:solidFill>
                <a:latin typeface="Segoe UI"/>
              </a:rPr>
              <a:t>Autonomy with Observability. Command Control at Every Step.</a:t>
            </a:r>
          </a:p>
        </p:txBody>
      </p:sp>
      <p:sp>
        <p:nvSpPr>
          <p:cNvPr id="59" name="TextBox 58"/>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7FA6B0"/>
                </a:solidFill>
                <a:latin typeface="Segoe UI"/>
              </a:rPr>
              <a:t>UnClick  ·  Where AI belongs. Humans welcome.</a:t>
            </a:r>
          </a:p>
        </p:txBody>
      </p:sp>
      <p:sp>
        <p:nvSpPr>
          <p:cNvPr id="60" name="TextBox 59"/>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7FA6B0"/>
                </a:solidFill>
                <a:latin typeface="Consolas"/>
              </a:rP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41248" y="612647"/>
            <a:ext cx="256032" cy="32004"/>
          </a:xfrm>
          <a:prstGeom prst="rect">
            <a:avLst/>
          </a:prstGeom>
          <a:solidFill>
            <a:srgbClr val="86DA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502919"/>
            <a:ext cx="8229600" cy="292608"/>
          </a:xfrm>
          <a:prstGeom prst="rect">
            <a:avLst/>
          </a:prstGeom>
          <a:noFill/>
        </p:spPr>
        <p:txBody>
          <a:bodyPr wrap="square" anchor="t" lIns="0" rIns="0" tIns="0" bIns="0">
            <a:spAutoFit/>
          </a:bodyPr>
          <a:lstStyle/>
          <a:p>
            <a:pPr algn="l">
              <a:lnSpc>
                <a:spcPct val="106000"/>
              </a:lnSpc>
            </a:pPr>
            <a:r>
              <a:rPr sz="1150" b="1" i="0">
                <a:solidFill>
                  <a:srgbClr val="86DADD"/>
                </a:solidFill>
                <a:latin typeface="Segoe UI"/>
              </a:rPr>
              <a:t>TRUST  ·  SAFETY  ·  PROOF</a:t>
            </a:r>
          </a:p>
        </p:txBody>
      </p:sp>
      <p:sp>
        <p:nvSpPr>
          <p:cNvPr id="5" name="TextBox 4"/>
          <p:cNvSpPr txBox="1"/>
          <p:nvPr/>
        </p:nvSpPr>
        <p:spPr>
          <a:xfrm>
            <a:off x="841248" y="914400"/>
            <a:ext cx="10515600" cy="1280160"/>
          </a:xfrm>
          <a:prstGeom prst="rect">
            <a:avLst/>
          </a:prstGeom>
          <a:noFill/>
        </p:spPr>
        <p:txBody>
          <a:bodyPr wrap="square" anchor="t" lIns="0" rIns="0" tIns="0" bIns="0">
            <a:spAutoFit/>
          </a:bodyPr>
          <a:lstStyle/>
          <a:p>
            <a:pPr algn="l">
              <a:lnSpc>
                <a:spcPct val="104000"/>
              </a:lnSpc>
            </a:pPr>
            <a:r>
              <a:rPr sz="3400" b="1" i="0">
                <a:solidFill>
                  <a:srgbClr val="FFFFFF"/>
                </a:solidFill>
                <a:latin typeface="Segoe UI"/>
              </a:rPr>
              <a:t>Autonomy without observability is a </a:t>
            </a:r>
            <a:r>
              <a:rPr sz="3400" b="1" i="0">
                <a:solidFill>
                  <a:srgbClr val="86DADD"/>
                </a:solidFill>
                <a:latin typeface="Segoe UI"/>
              </a:rPr>
              <a:t>blocker, not a feature.</a:t>
            </a:r>
          </a:p>
        </p:txBody>
      </p:sp>
      <p:sp>
        <p:nvSpPr>
          <p:cNvPr id="6" name="Rounded Rectangle 5"/>
          <p:cNvSpPr/>
          <p:nvPr/>
        </p:nvSpPr>
        <p:spPr>
          <a:xfrm>
            <a:off x="841248" y="2331720"/>
            <a:ext cx="4572000" cy="1737360"/>
          </a:xfrm>
          <a:prstGeom prst="roundRect">
            <a:avLst>
              <a:gd name="adj" fmla="val 9000"/>
            </a:avLst>
          </a:prstGeom>
          <a:solidFill>
            <a:srgbClr val="2A2512"/>
          </a:solidFill>
          <a:ln w="15240">
            <a:solidFill>
              <a:srgbClr val="6A53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1288" y="2587752"/>
            <a:ext cx="3931920" cy="274320"/>
          </a:xfrm>
          <a:prstGeom prst="rect">
            <a:avLst/>
          </a:prstGeom>
          <a:noFill/>
        </p:spPr>
        <p:txBody>
          <a:bodyPr wrap="square" anchor="t" lIns="0" rIns="0" tIns="0" bIns="0">
            <a:spAutoFit/>
          </a:bodyPr>
          <a:lstStyle/>
          <a:p>
            <a:pPr algn="l">
              <a:lnSpc>
                <a:spcPct val="106000"/>
              </a:lnSpc>
            </a:pPr>
            <a:r>
              <a:rPr sz="1100" b="1" i="0">
                <a:solidFill>
                  <a:srgbClr val="C88F2A"/>
                </a:solidFill>
                <a:latin typeface="Segoe UI"/>
              </a:rPr>
              <a:t>BEFORE THE ACTION</a:t>
            </a:r>
          </a:p>
        </p:txBody>
      </p:sp>
      <p:sp>
        <p:nvSpPr>
          <p:cNvPr id="8" name="TextBox 7"/>
          <p:cNvSpPr txBox="1"/>
          <p:nvPr/>
        </p:nvSpPr>
        <p:spPr>
          <a:xfrm>
            <a:off x="1161288" y="2898648"/>
            <a:ext cx="3931920" cy="365760"/>
          </a:xfrm>
          <a:prstGeom prst="rect">
            <a:avLst/>
          </a:prstGeom>
          <a:noFill/>
        </p:spPr>
        <p:txBody>
          <a:bodyPr wrap="square" anchor="t" lIns="0" rIns="0" tIns="0" bIns="0">
            <a:spAutoFit/>
          </a:bodyPr>
          <a:lstStyle/>
          <a:p>
            <a:pPr algn="l">
              <a:lnSpc>
                <a:spcPct val="106000"/>
              </a:lnSpc>
            </a:pPr>
            <a:r>
              <a:rPr sz="2200" b="1" i="0">
                <a:solidFill>
                  <a:srgbClr val="FFFFFF"/>
                </a:solidFill>
                <a:latin typeface="Segoe UI"/>
              </a:rPr>
              <a:t>XGate</a:t>
            </a:r>
          </a:p>
        </p:txBody>
      </p:sp>
      <p:sp>
        <p:nvSpPr>
          <p:cNvPr id="9" name="TextBox 8"/>
          <p:cNvSpPr txBox="1"/>
          <p:nvPr/>
        </p:nvSpPr>
        <p:spPr>
          <a:xfrm>
            <a:off x="1161288" y="3355848"/>
            <a:ext cx="3931920" cy="685800"/>
          </a:xfrm>
          <a:prstGeom prst="rect">
            <a:avLst/>
          </a:prstGeom>
          <a:noFill/>
        </p:spPr>
        <p:txBody>
          <a:bodyPr wrap="square" anchor="t" lIns="0" rIns="0" tIns="0" bIns="0">
            <a:spAutoFit/>
          </a:bodyPr>
          <a:lstStyle/>
          <a:p>
            <a:pPr algn="l">
              <a:lnSpc>
                <a:spcPct val="120000"/>
              </a:lnSpc>
              <a:spcAft>
                <a:spcPts val="600"/>
              </a:spcAft>
            </a:pPr>
            <a:r>
              <a:rPr sz="1150" b="0">
                <a:solidFill>
                  <a:srgbClr val="BCD9DD"/>
                </a:solidFill>
                <a:latin typeface="Segoe UI"/>
              </a:rPr>
              <a:t>Can this even happen? Gates block secret leaks, destructive database wipes, dangerous git rewrites, surprise deploys and overspend, before a single line runs.</a:t>
            </a:r>
          </a:p>
        </p:txBody>
      </p:sp>
      <p:sp>
        <p:nvSpPr>
          <p:cNvPr id="10" name="Rounded Rectangle 9"/>
          <p:cNvSpPr/>
          <p:nvPr/>
        </p:nvSpPr>
        <p:spPr>
          <a:xfrm>
            <a:off x="5577840" y="2697479"/>
            <a:ext cx="548640" cy="1005840"/>
          </a:xfrm>
          <a:prstGeom prst="roundRect">
            <a:avLst>
              <a:gd name="adj" fmla="val 20000"/>
            </a:avLst>
          </a:prstGeom>
          <a:solidFill>
            <a:srgbClr val="123647"/>
          </a:solidFill>
          <a:ln w="12700">
            <a:solidFill>
              <a:srgbClr val="2A55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0" y="2697479"/>
            <a:ext cx="548640" cy="1005840"/>
          </a:xfrm>
          <a:prstGeom prst="rect">
            <a:avLst/>
          </a:prstGeom>
          <a:noFill/>
        </p:spPr>
        <p:txBody>
          <a:bodyPr wrap="square" anchor="ctr" lIns="0" rIns="0" tIns="0" bIns="0">
            <a:spAutoFit/>
          </a:bodyPr>
          <a:lstStyle/>
          <a:p>
            <a:pPr algn="ctr">
              <a:lnSpc>
                <a:spcPct val="106000"/>
              </a:lnSpc>
            </a:pPr>
            <a:r>
              <a:rPr sz="1100" b="1" i="0">
                <a:solidFill>
                  <a:srgbClr val="FFFFFF"/>
                </a:solidFill>
                <a:latin typeface="Segoe UI"/>
              </a:rPr>
              <a:t>ACTION</a:t>
            </a:r>
          </a:p>
        </p:txBody>
      </p:sp>
      <p:sp>
        <p:nvSpPr>
          <p:cNvPr id="12" name="Rounded Rectangle 11"/>
          <p:cNvSpPr/>
          <p:nvPr/>
        </p:nvSpPr>
        <p:spPr>
          <a:xfrm>
            <a:off x="6291072" y="2331720"/>
            <a:ext cx="4572000" cy="1737360"/>
          </a:xfrm>
          <a:prstGeom prst="roundRect">
            <a:avLst>
              <a:gd name="adj" fmla="val 9000"/>
            </a:avLst>
          </a:prstGeom>
          <a:solidFill>
            <a:srgbClr val="10333A"/>
          </a:solidFill>
          <a:ln w="15240">
            <a:solidFill>
              <a:srgbClr val="61C1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11112" y="2587752"/>
            <a:ext cx="3931920" cy="274320"/>
          </a:xfrm>
          <a:prstGeom prst="rect">
            <a:avLst/>
          </a:prstGeom>
          <a:noFill/>
        </p:spPr>
        <p:txBody>
          <a:bodyPr wrap="square" anchor="t" lIns="0" rIns="0" tIns="0" bIns="0">
            <a:spAutoFit/>
          </a:bodyPr>
          <a:lstStyle/>
          <a:p>
            <a:pPr algn="l">
              <a:lnSpc>
                <a:spcPct val="106000"/>
              </a:lnSpc>
            </a:pPr>
            <a:r>
              <a:rPr sz="1100" b="1" i="0">
                <a:solidFill>
                  <a:srgbClr val="86DADD"/>
                </a:solidFill>
                <a:latin typeface="Segoe UI"/>
              </a:rPr>
              <a:t>AFTER THE ACTION</a:t>
            </a:r>
          </a:p>
        </p:txBody>
      </p:sp>
      <p:sp>
        <p:nvSpPr>
          <p:cNvPr id="14" name="TextBox 13"/>
          <p:cNvSpPr txBox="1"/>
          <p:nvPr/>
        </p:nvSpPr>
        <p:spPr>
          <a:xfrm>
            <a:off x="6611112" y="2898648"/>
            <a:ext cx="3931920" cy="365760"/>
          </a:xfrm>
          <a:prstGeom prst="rect">
            <a:avLst/>
          </a:prstGeom>
          <a:noFill/>
        </p:spPr>
        <p:txBody>
          <a:bodyPr wrap="square" anchor="t" lIns="0" rIns="0" tIns="0" bIns="0">
            <a:spAutoFit/>
          </a:bodyPr>
          <a:lstStyle/>
          <a:p>
            <a:pPr algn="l">
              <a:lnSpc>
                <a:spcPct val="106000"/>
              </a:lnSpc>
            </a:pPr>
            <a:r>
              <a:rPr sz="2200" b="1" i="0">
                <a:solidFill>
                  <a:srgbClr val="FFFFFF"/>
                </a:solidFill>
                <a:latin typeface="Segoe UI"/>
              </a:rPr>
              <a:t>XPass</a:t>
            </a:r>
          </a:p>
        </p:txBody>
      </p:sp>
      <p:sp>
        <p:nvSpPr>
          <p:cNvPr id="15" name="TextBox 14"/>
          <p:cNvSpPr txBox="1"/>
          <p:nvPr/>
        </p:nvSpPr>
        <p:spPr>
          <a:xfrm>
            <a:off x="6611112" y="3355848"/>
            <a:ext cx="3931920" cy="685800"/>
          </a:xfrm>
          <a:prstGeom prst="rect">
            <a:avLst/>
          </a:prstGeom>
          <a:noFill/>
        </p:spPr>
        <p:txBody>
          <a:bodyPr wrap="square" anchor="t" lIns="0" rIns="0" tIns="0" bIns="0">
            <a:spAutoFit/>
          </a:bodyPr>
          <a:lstStyle/>
          <a:p>
            <a:pPr algn="l">
              <a:lnSpc>
                <a:spcPct val="120000"/>
              </a:lnSpc>
              <a:spcAft>
                <a:spcPts val="600"/>
              </a:spcAft>
            </a:pPr>
            <a:r>
              <a:rPr sz="1150" b="0">
                <a:solidFill>
                  <a:srgbClr val="BCD9DD"/>
                </a:solidFill>
                <a:latin typeface="Segoe UI"/>
              </a:rPr>
              <a:t>Was it done right? Hundreds of checks across tests, security, UX, copy, legal and SEO. It loops until the work is green, then signs off.</a:t>
            </a:r>
          </a:p>
        </p:txBody>
      </p:sp>
      <p:sp>
        <p:nvSpPr>
          <p:cNvPr id="16" name="Rounded Rectangle 15"/>
          <p:cNvSpPr/>
          <p:nvPr/>
        </p:nvSpPr>
        <p:spPr>
          <a:xfrm>
            <a:off x="841248" y="4343400"/>
            <a:ext cx="2487168" cy="1325880"/>
          </a:xfrm>
          <a:prstGeom prst="roundRect">
            <a:avLst>
              <a:gd name="adj" fmla="val 9000"/>
            </a:avLst>
          </a:prstGeom>
          <a:solidFill>
            <a:srgbClr val="103344"/>
          </a:solidFill>
          <a:ln w="12700">
            <a:solidFill>
              <a:srgbClr val="1F4A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 y="4526280"/>
            <a:ext cx="2048256" cy="365760"/>
          </a:xfrm>
          <a:prstGeom prst="rect">
            <a:avLst/>
          </a:prstGeom>
          <a:noFill/>
        </p:spPr>
        <p:txBody>
          <a:bodyPr wrap="square" anchor="t" lIns="0" rIns="0" tIns="0" bIns="0">
            <a:spAutoFit/>
          </a:bodyPr>
          <a:lstStyle/>
          <a:p>
            <a:pPr algn="l">
              <a:lnSpc>
                <a:spcPct val="106000"/>
              </a:lnSpc>
            </a:pPr>
            <a:r>
              <a:rPr sz="1300" b="1" i="0">
                <a:solidFill>
                  <a:srgbClr val="FFFFFF"/>
                </a:solidFill>
                <a:latin typeface="Segoe UI"/>
              </a:rPr>
              <a:t>Kill switch</a:t>
            </a:r>
          </a:p>
        </p:txBody>
      </p:sp>
      <p:sp>
        <p:nvSpPr>
          <p:cNvPr id="18" name="TextBox 17"/>
          <p:cNvSpPr txBox="1"/>
          <p:nvPr/>
        </p:nvSpPr>
        <p:spPr>
          <a:xfrm>
            <a:off x="1060704" y="4892040"/>
            <a:ext cx="2048256" cy="731520"/>
          </a:xfrm>
          <a:prstGeom prst="rect">
            <a:avLst/>
          </a:prstGeom>
          <a:noFill/>
        </p:spPr>
        <p:txBody>
          <a:bodyPr wrap="square" anchor="t" lIns="0" rIns="0" tIns="0" bIns="0">
            <a:spAutoFit/>
          </a:bodyPr>
          <a:lstStyle/>
          <a:p>
            <a:pPr algn="l">
              <a:lnSpc>
                <a:spcPct val="115000"/>
              </a:lnSpc>
              <a:spcAft>
                <a:spcPts val="600"/>
              </a:spcAft>
            </a:pPr>
            <a:r>
              <a:rPr sz="1000" b="0">
                <a:solidFill>
                  <a:srgbClr val="A7C9CF"/>
                </a:solidFill>
                <a:latin typeface="Segoe UI"/>
              </a:rPr>
              <a:t>Stop everything, instantly. If the state is unclear, it picks the safest option and halts.</a:t>
            </a:r>
          </a:p>
        </p:txBody>
      </p:sp>
      <p:sp>
        <p:nvSpPr>
          <p:cNvPr id="19" name="Rounded Rectangle 18"/>
          <p:cNvSpPr/>
          <p:nvPr/>
        </p:nvSpPr>
        <p:spPr>
          <a:xfrm>
            <a:off x="3493008" y="4343400"/>
            <a:ext cx="2487168" cy="1325880"/>
          </a:xfrm>
          <a:prstGeom prst="roundRect">
            <a:avLst>
              <a:gd name="adj" fmla="val 9000"/>
            </a:avLst>
          </a:prstGeom>
          <a:solidFill>
            <a:srgbClr val="103344"/>
          </a:solidFill>
          <a:ln w="12700">
            <a:solidFill>
              <a:srgbClr val="1F4A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12464" y="4526280"/>
            <a:ext cx="2048256" cy="365760"/>
          </a:xfrm>
          <a:prstGeom prst="rect">
            <a:avLst/>
          </a:prstGeom>
          <a:noFill/>
        </p:spPr>
        <p:txBody>
          <a:bodyPr wrap="square" anchor="t" lIns="0" rIns="0" tIns="0" bIns="0">
            <a:spAutoFit/>
          </a:bodyPr>
          <a:lstStyle/>
          <a:p>
            <a:pPr algn="l">
              <a:lnSpc>
                <a:spcPct val="106000"/>
              </a:lnSpc>
            </a:pPr>
            <a:r>
              <a:rPr sz="1300" b="1" i="0">
                <a:solidFill>
                  <a:srgbClr val="FFFFFF"/>
                </a:solidFill>
                <a:latin typeface="Segoe UI"/>
              </a:rPr>
              <a:t>Flight recorder</a:t>
            </a:r>
          </a:p>
        </p:txBody>
      </p:sp>
      <p:sp>
        <p:nvSpPr>
          <p:cNvPr id="21" name="TextBox 20"/>
          <p:cNvSpPr txBox="1"/>
          <p:nvPr/>
        </p:nvSpPr>
        <p:spPr>
          <a:xfrm>
            <a:off x="3712464" y="4892040"/>
            <a:ext cx="2048256" cy="731520"/>
          </a:xfrm>
          <a:prstGeom prst="rect">
            <a:avLst/>
          </a:prstGeom>
          <a:noFill/>
        </p:spPr>
        <p:txBody>
          <a:bodyPr wrap="square" anchor="t" lIns="0" rIns="0" tIns="0" bIns="0">
            <a:spAutoFit/>
          </a:bodyPr>
          <a:lstStyle/>
          <a:p>
            <a:pPr algn="l">
              <a:lnSpc>
                <a:spcPct val="115000"/>
              </a:lnSpc>
              <a:spcAft>
                <a:spcPts val="600"/>
              </a:spcAft>
            </a:pPr>
            <a:r>
              <a:rPr sz="1000" b="0">
                <a:solidFill>
                  <a:srgbClr val="A7C9CF"/>
                </a:solidFill>
                <a:latin typeface="Segoe UI"/>
              </a:rPr>
              <a:t>A tamper-evident log of who did what, why, and the proof. Replay or roll back anything.</a:t>
            </a:r>
          </a:p>
        </p:txBody>
      </p:sp>
      <p:sp>
        <p:nvSpPr>
          <p:cNvPr id="22" name="Rounded Rectangle 21"/>
          <p:cNvSpPr/>
          <p:nvPr/>
        </p:nvSpPr>
        <p:spPr>
          <a:xfrm>
            <a:off x="6144768" y="4343400"/>
            <a:ext cx="2487168" cy="1325880"/>
          </a:xfrm>
          <a:prstGeom prst="roundRect">
            <a:avLst>
              <a:gd name="adj" fmla="val 9000"/>
            </a:avLst>
          </a:prstGeom>
          <a:solidFill>
            <a:srgbClr val="103344"/>
          </a:solidFill>
          <a:ln w="12700">
            <a:solidFill>
              <a:srgbClr val="1F4A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4224" y="4526280"/>
            <a:ext cx="2048256" cy="365760"/>
          </a:xfrm>
          <a:prstGeom prst="rect">
            <a:avLst/>
          </a:prstGeom>
          <a:noFill/>
        </p:spPr>
        <p:txBody>
          <a:bodyPr wrap="square" anchor="t" lIns="0" rIns="0" tIns="0" bIns="0">
            <a:spAutoFit/>
          </a:bodyPr>
          <a:lstStyle/>
          <a:p>
            <a:pPr algn="l">
              <a:lnSpc>
                <a:spcPct val="106000"/>
              </a:lnSpc>
            </a:pPr>
            <a:r>
              <a:rPr sz="1300" b="1" i="0">
                <a:solidFill>
                  <a:srgbClr val="FFFFFF"/>
                </a:solidFill>
                <a:latin typeface="Segoe UI"/>
              </a:rPr>
              <a:t>Separation of duties</a:t>
            </a:r>
          </a:p>
        </p:txBody>
      </p:sp>
      <p:sp>
        <p:nvSpPr>
          <p:cNvPr id="24" name="TextBox 23"/>
          <p:cNvSpPr txBox="1"/>
          <p:nvPr/>
        </p:nvSpPr>
        <p:spPr>
          <a:xfrm>
            <a:off x="6364224" y="4892040"/>
            <a:ext cx="2048256" cy="731520"/>
          </a:xfrm>
          <a:prstGeom prst="rect">
            <a:avLst/>
          </a:prstGeom>
          <a:noFill/>
        </p:spPr>
        <p:txBody>
          <a:bodyPr wrap="square" anchor="t" lIns="0" rIns="0" tIns="0" bIns="0">
            <a:spAutoFit/>
          </a:bodyPr>
          <a:lstStyle/>
          <a:p>
            <a:pPr algn="l">
              <a:lnSpc>
                <a:spcPct val="115000"/>
              </a:lnSpc>
              <a:spcAft>
                <a:spcPts val="600"/>
              </a:spcAft>
            </a:pPr>
            <a:r>
              <a:rPr sz="1000" b="0">
                <a:solidFill>
                  <a:srgbClr val="A7C9CF"/>
                </a:solidFill>
                <a:latin typeface="Segoe UI"/>
              </a:rPr>
              <a:t>The worker that builds never approves its own work. Risky jobs need three roles.</a:t>
            </a:r>
          </a:p>
        </p:txBody>
      </p:sp>
      <p:sp>
        <p:nvSpPr>
          <p:cNvPr id="25" name="Rounded Rectangle 24"/>
          <p:cNvSpPr/>
          <p:nvPr/>
        </p:nvSpPr>
        <p:spPr>
          <a:xfrm>
            <a:off x="8796528" y="4343400"/>
            <a:ext cx="2487168" cy="1325880"/>
          </a:xfrm>
          <a:prstGeom prst="roundRect">
            <a:avLst>
              <a:gd name="adj" fmla="val 9000"/>
            </a:avLst>
          </a:prstGeom>
          <a:solidFill>
            <a:srgbClr val="103344"/>
          </a:solidFill>
          <a:ln w="12700">
            <a:solidFill>
              <a:srgbClr val="1F4A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15984" y="4526280"/>
            <a:ext cx="2048256" cy="365760"/>
          </a:xfrm>
          <a:prstGeom prst="rect">
            <a:avLst/>
          </a:prstGeom>
          <a:noFill/>
        </p:spPr>
        <p:txBody>
          <a:bodyPr wrap="square" anchor="t" lIns="0" rIns="0" tIns="0" bIns="0">
            <a:spAutoFit/>
          </a:bodyPr>
          <a:lstStyle/>
          <a:p>
            <a:pPr algn="l">
              <a:lnSpc>
                <a:spcPct val="106000"/>
              </a:lnSpc>
            </a:pPr>
            <a:r>
              <a:rPr sz="1300" b="1" i="0">
                <a:solidFill>
                  <a:srgbClr val="FFFFFF"/>
                </a:solidFill>
                <a:latin typeface="Segoe UI"/>
              </a:rPr>
              <a:t>Human in the loop</a:t>
            </a:r>
          </a:p>
        </p:txBody>
      </p:sp>
      <p:sp>
        <p:nvSpPr>
          <p:cNvPr id="27" name="TextBox 26"/>
          <p:cNvSpPr txBox="1"/>
          <p:nvPr/>
        </p:nvSpPr>
        <p:spPr>
          <a:xfrm>
            <a:off x="9015984" y="4892040"/>
            <a:ext cx="2048256" cy="731520"/>
          </a:xfrm>
          <a:prstGeom prst="rect">
            <a:avLst/>
          </a:prstGeom>
          <a:noFill/>
        </p:spPr>
        <p:txBody>
          <a:bodyPr wrap="square" anchor="t" lIns="0" rIns="0" tIns="0" bIns="0">
            <a:spAutoFit/>
          </a:bodyPr>
          <a:lstStyle/>
          <a:p>
            <a:pPr algn="l">
              <a:lnSpc>
                <a:spcPct val="115000"/>
              </a:lnSpc>
              <a:spcAft>
                <a:spcPts val="600"/>
              </a:spcAft>
            </a:pPr>
            <a:r>
              <a:rPr sz="1000" b="0">
                <a:solidFill>
                  <a:srgbClr val="A7C9CF"/>
                </a:solidFill>
                <a:latin typeface="Segoe UI"/>
              </a:rPr>
              <a:t>Money, secrets, domains and launches always wait for a human yes.</a:t>
            </a:r>
          </a:p>
        </p:txBody>
      </p:sp>
      <p:sp>
        <p:nvSpPr>
          <p:cNvPr id="28" name="TextBox 27"/>
          <p:cNvSpPr txBox="1"/>
          <p:nvPr/>
        </p:nvSpPr>
        <p:spPr>
          <a:xfrm>
            <a:off x="841248" y="5897880"/>
            <a:ext cx="10515600" cy="457200"/>
          </a:xfrm>
          <a:prstGeom prst="rect">
            <a:avLst/>
          </a:prstGeom>
          <a:noFill/>
        </p:spPr>
        <p:txBody>
          <a:bodyPr wrap="square" anchor="t" lIns="0" rIns="0" tIns="0" bIns="0">
            <a:spAutoFit/>
          </a:bodyPr>
          <a:lstStyle/>
          <a:p>
            <a:pPr algn="ctr">
              <a:lnSpc>
                <a:spcPct val="106000"/>
              </a:lnSpc>
            </a:pPr>
            <a:r>
              <a:rPr sz="2200" b="1" i="0">
                <a:solidFill>
                  <a:srgbClr val="86DADD"/>
                </a:solidFill>
                <a:latin typeface="Segoe UI"/>
              </a:rPr>
              <a:t>Transparent.  Trusted.  Traceable.</a:t>
            </a:r>
          </a:p>
        </p:txBody>
      </p:sp>
      <p:sp>
        <p:nvSpPr>
          <p:cNvPr id="29" name="TextBox 28"/>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6F97A1"/>
                </a:solidFill>
                <a:latin typeface="Segoe UI"/>
              </a:rPr>
              <a:t>UnClick  ·  Where AI belongs. Humans welcome.</a:t>
            </a:r>
          </a:p>
        </p:txBody>
      </p:sp>
      <p:sp>
        <p:nvSpPr>
          <p:cNvPr id="30" name="TextBox 29"/>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6F97A1"/>
                </a:solidFill>
                <a:latin typeface="Consolas"/>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0" y="-1371600"/>
            <a:ext cx="7772400" cy="6858000"/>
          </a:xfrm>
          <a:prstGeom prst="roundRect">
            <a:avLst>
              <a:gd name="adj" fmla="val 50000"/>
            </a:avLst>
          </a:prstGeom>
          <a:solidFill>
            <a:srgbClr val="0A2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841247"/>
            <a:ext cx="256032" cy="32004"/>
          </a:xfrm>
          <a:prstGeom prst="rect">
            <a:avLst/>
          </a:prstGeom>
          <a:solidFill>
            <a:srgbClr val="86DA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731519"/>
            <a:ext cx="8229600" cy="292608"/>
          </a:xfrm>
          <a:prstGeom prst="rect">
            <a:avLst/>
          </a:prstGeom>
          <a:noFill/>
        </p:spPr>
        <p:txBody>
          <a:bodyPr wrap="square" anchor="t" lIns="0" rIns="0" tIns="0" bIns="0">
            <a:spAutoFit/>
          </a:bodyPr>
          <a:lstStyle/>
          <a:p>
            <a:pPr algn="l">
              <a:lnSpc>
                <a:spcPct val="106000"/>
              </a:lnSpc>
            </a:pPr>
            <a:r>
              <a:rPr sz="1150" b="1" i="0">
                <a:solidFill>
                  <a:srgbClr val="86DADD"/>
                </a:solidFill>
                <a:latin typeface="Segoe UI"/>
              </a:rPr>
              <a:t>THE MOAT  ·  WHY WE WIN</a:t>
            </a:r>
          </a:p>
        </p:txBody>
      </p:sp>
      <p:sp>
        <p:nvSpPr>
          <p:cNvPr id="6" name="TextBox 5"/>
          <p:cNvSpPr txBox="1"/>
          <p:nvPr/>
        </p:nvSpPr>
        <p:spPr>
          <a:xfrm>
            <a:off x="841248" y="1143000"/>
            <a:ext cx="10515600" cy="1280160"/>
          </a:xfrm>
          <a:prstGeom prst="rect">
            <a:avLst/>
          </a:prstGeom>
          <a:noFill/>
        </p:spPr>
        <p:txBody>
          <a:bodyPr wrap="square" anchor="t" lIns="0" rIns="0" tIns="0" bIns="0">
            <a:spAutoFit/>
          </a:bodyPr>
          <a:lstStyle/>
          <a:p>
            <a:pPr algn="ctr">
              <a:lnSpc>
                <a:spcPct val="102000"/>
              </a:lnSpc>
            </a:pPr>
            <a:r>
              <a:rPr sz="3800" b="1" i="0">
                <a:solidFill>
                  <a:srgbClr val="FFFFFF"/>
                </a:solidFill>
                <a:latin typeface="Segoe UI"/>
              </a:rPr>
              <a:t>Everyone has a piece. We have the </a:t>
            </a:r>
            <a:r>
              <a:rPr sz="3800" b="1" i="0">
                <a:solidFill>
                  <a:srgbClr val="86DADD"/>
                </a:solidFill>
                <a:latin typeface="Segoe UI"/>
              </a:rPr>
              <a:t>whole stack.</a:t>
            </a:r>
          </a:p>
        </p:txBody>
      </p:sp>
      <p:sp>
        <p:nvSpPr>
          <p:cNvPr id="7" name="TextBox 6"/>
          <p:cNvSpPr txBox="1"/>
          <p:nvPr/>
        </p:nvSpPr>
        <p:spPr>
          <a:xfrm>
            <a:off x="1389888" y="2331720"/>
            <a:ext cx="9418320" cy="822960"/>
          </a:xfrm>
          <a:prstGeom prst="rect">
            <a:avLst/>
          </a:prstGeom>
          <a:noFill/>
        </p:spPr>
        <p:txBody>
          <a:bodyPr wrap="square" anchor="t" lIns="0" rIns="0" tIns="0" bIns="0">
            <a:spAutoFit/>
          </a:bodyPr>
          <a:lstStyle/>
          <a:p>
            <a:pPr algn="ctr">
              <a:lnSpc>
                <a:spcPct val="128000"/>
              </a:lnSpc>
              <a:spcAft>
                <a:spcPts val="600"/>
              </a:spcAft>
            </a:pPr>
            <a:r>
              <a:rPr sz="1500" b="0">
                <a:solidFill>
                  <a:srgbClr val="BCD9DD"/>
                </a:solidFill>
                <a:latin typeface="Segoe UI"/>
              </a:rPr>
              <a:t>Memory startups do memory. Most servers do one integration. Coding tools do code. UnClick is the only place all five live behind a single install and make each other stronger.</a:t>
            </a:r>
          </a:p>
        </p:txBody>
      </p:sp>
      <p:sp>
        <p:nvSpPr>
          <p:cNvPr id="8" name="Rounded Rectangle 7"/>
          <p:cNvSpPr/>
          <p:nvPr/>
        </p:nvSpPr>
        <p:spPr>
          <a:xfrm>
            <a:off x="24231" y="3520440"/>
            <a:ext cx="1627632" cy="1143000"/>
          </a:xfrm>
          <a:prstGeom prst="roundRect">
            <a:avLst>
              <a:gd name="adj" fmla="val 9000"/>
            </a:avLst>
          </a:prstGeom>
          <a:solidFill>
            <a:srgbClr val="103344"/>
          </a:solidFill>
          <a:ln w="12700">
            <a:solidFill>
              <a:srgbClr val="2A66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231" y="3776472"/>
            <a:ext cx="1627632" cy="365760"/>
          </a:xfrm>
          <a:prstGeom prst="rect">
            <a:avLst/>
          </a:prstGeom>
          <a:noFill/>
        </p:spPr>
        <p:txBody>
          <a:bodyPr wrap="square" anchor="t" lIns="0" rIns="0" tIns="0" bIns="0">
            <a:spAutoFit/>
          </a:bodyPr>
          <a:lstStyle/>
          <a:p>
            <a:pPr algn="ctr">
              <a:lnSpc>
                <a:spcPct val="106000"/>
              </a:lnSpc>
            </a:pPr>
            <a:r>
              <a:rPr sz="1400" b="1" i="0">
                <a:solidFill>
                  <a:srgbClr val="FFFFFF"/>
                </a:solidFill>
                <a:latin typeface="Segoe UI"/>
              </a:rPr>
              <a:t>Catalog</a:t>
            </a:r>
          </a:p>
        </p:txBody>
      </p:sp>
      <p:sp>
        <p:nvSpPr>
          <p:cNvPr id="10" name="TextBox 9"/>
          <p:cNvSpPr txBox="1"/>
          <p:nvPr/>
        </p:nvSpPr>
        <p:spPr>
          <a:xfrm>
            <a:off x="24231" y="4178808"/>
            <a:ext cx="1627632" cy="274320"/>
          </a:xfrm>
          <a:prstGeom prst="rect">
            <a:avLst/>
          </a:prstGeom>
          <a:noFill/>
        </p:spPr>
        <p:txBody>
          <a:bodyPr wrap="square" anchor="t" lIns="0" rIns="0" tIns="0" bIns="0">
            <a:spAutoFit/>
          </a:bodyPr>
          <a:lstStyle/>
          <a:p>
            <a:pPr algn="ctr">
              <a:lnSpc>
                <a:spcPct val="106000"/>
              </a:lnSpc>
            </a:pPr>
            <a:r>
              <a:rPr sz="1000" b="0" i="0">
                <a:solidFill>
                  <a:srgbClr val="9FC1C7"/>
                </a:solidFill>
                <a:latin typeface="Segoe UI"/>
              </a:rPr>
              <a:t>act, not click</a:t>
            </a:r>
          </a:p>
        </p:txBody>
      </p:sp>
      <p:sp>
        <p:nvSpPr>
          <p:cNvPr id="11" name="TextBox 10"/>
          <p:cNvSpPr txBox="1"/>
          <p:nvPr/>
        </p:nvSpPr>
        <p:spPr>
          <a:xfrm>
            <a:off x="1651863" y="3520440"/>
            <a:ext cx="475488" cy="1143000"/>
          </a:xfrm>
          <a:prstGeom prst="rect">
            <a:avLst/>
          </a:prstGeom>
          <a:noFill/>
        </p:spPr>
        <p:txBody>
          <a:bodyPr wrap="square" anchor="ctr" lIns="0" rIns="0" tIns="0" bIns="0">
            <a:spAutoFit/>
          </a:bodyPr>
          <a:lstStyle/>
          <a:p>
            <a:pPr algn="ctr">
              <a:lnSpc>
                <a:spcPct val="106000"/>
              </a:lnSpc>
            </a:pPr>
            <a:r>
              <a:rPr sz="2200" b="1" i="0">
                <a:solidFill>
                  <a:srgbClr val="86DADD"/>
                </a:solidFill>
                <a:latin typeface="Segoe UI"/>
              </a:rPr>
              <a:t>+</a:t>
            </a:r>
          </a:p>
        </p:txBody>
      </p:sp>
      <p:sp>
        <p:nvSpPr>
          <p:cNvPr id="12" name="Rounded Rectangle 11"/>
          <p:cNvSpPr/>
          <p:nvPr/>
        </p:nvSpPr>
        <p:spPr>
          <a:xfrm>
            <a:off x="2127351" y="3520440"/>
            <a:ext cx="1627632" cy="1143000"/>
          </a:xfrm>
          <a:prstGeom prst="roundRect">
            <a:avLst>
              <a:gd name="adj" fmla="val 9000"/>
            </a:avLst>
          </a:prstGeom>
          <a:solidFill>
            <a:srgbClr val="103344"/>
          </a:solidFill>
          <a:ln w="12700">
            <a:solidFill>
              <a:srgbClr val="2A66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27351" y="3776472"/>
            <a:ext cx="1627632" cy="365760"/>
          </a:xfrm>
          <a:prstGeom prst="rect">
            <a:avLst/>
          </a:prstGeom>
          <a:noFill/>
        </p:spPr>
        <p:txBody>
          <a:bodyPr wrap="square" anchor="t" lIns="0" rIns="0" tIns="0" bIns="0">
            <a:spAutoFit/>
          </a:bodyPr>
          <a:lstStyle/>
          <a:p>
            <a:pPr algn="ctr">
              <a:lnSpc>
                <a:spcPct val="106000"/>
              </a:lnSpc>
            </a:pPr>
            <a:r>
              <a:rPr sz="1400" b="1" i="0">
                <a:solidFill>
                  <a:srgbClr val="FFFFFF"/>
                </a:solidFill>
                <a:latin typeface="Segoe UI"/>
              </a:rPr>
              <a:t>Memory</a:t>
            </a:r>
          </a:p>
        </p:txBody>
      </p:sp>
      <p:sp>
        <p:nvSpPr>
          <p:cNvPr id="14" name="TextBox 13"/>
          <p:cNvSpPr txBox="1"/>
          <p:nvPr/>
        </p:nvSpPr>
        <p:spPr>
          <a:xfrm>
            <a:off x="2127351" y="4178808"/>
            <a:ext cx="1627632" cy="274320"/>
          </a:xfrm>
          <a:prstGeom prst="rect">
            <a:avLst/>
          </a:prstGeom>
          <a:noFill/>
        </p:spPr>
        <p:txBody>
          <a:bodyPr wrap="square" anchor="t" lIns="0" rIns="0" tIns="0" bIns="0">
            <a:spAutoFit/>
          </a:bodyPr>
          <a:lstStyle/>
          <a:p>
            <a:pPr algn="ctr">
              <a:lnSpc>
                <a:spcPct val="106000"/>
              </a:lnSpc>
            </a:pPr>
            <a:r>
              <a:rPr sz="1000" b="0" i="0">
                <a:solidFill>
                  <a:srgbClr val="9FC1C7"/>
                </a:solidFill>
                <a:latin typeface="Segoe UI"/>
              </a:rPr>
              <a:t>you own it</a:t>
            </a:r>
          </a:p>
        </p:txBody>
      </p:sp>
      <p:sp>
        <p:nvSpPr>
          <p:cNvPr id="15" name="TextBox 14"/>
          <p:cNvSpPr txBox="1"/>
          <p:nvPr/>
        </p:nvSpPr>
        <p:spPr>
          <a:xfrm>
            <a:off x="3754983" y="3520440"/>
            <a:ext cx="475488" cy="1143000"/>
          </a:xfrm>
          <a:prstGeom prst="rect">
            <a:avLst/>
          </a:prstGeom>
          <a:noFill/>
        </p:spPr>
        <p:txBody>
          <a:bodyPr wrap="square" anchor="ctr" lIns="0" rIns="0" tIns="0" bIns="0">
            <a:spAutoFit/>
          </a:bodyPr>
          <a:lstStyle/>
          <a:p>
            <a:pPr algn="ctr">
              <a:lnSpc>
                <a:spcPct val="106000"/>
              </a:lnSpc>
            </a:pPr>
            <a:r>
              <a:rPr sz="2200" b="1" i="0">
                <a:solidFill>
                  <a:srgbClr val="86DADD"/>
                </a:solidFill>
                <a:latin typeface="Segoe UI"/>
              </a:rPr>
              <a:t>+</a:t>
            </a:r>
          </a:p>
        </p:txBody>
      </p:sp>
      <p:sp>
        <p:nvSpPr>
          <p:cNvPr id="16" name="Rounded Rectangle 15"/>
          <p:cNvSpPr/>
          <p:nvPr/>
        </p:nvSpPr>
        <p:spPr>
          <a:xfrm>
            <a:off x="4230471" y="3520440"/>
            <a:ext cx="1627632" cy="1143000"/>
          </a:xfrm>
          <a:prstGeom prst="roundRect">
            <a:avLst>
              <a:gd name="adj" fmla="val 9000"/>
            </a:avLst>
          </a:prstGeom>
          <a:solidFill>
            <a:srgbClr val="103344"/>
          </a:solidFill>
          <a:ln w="12700">
            <a:solidFill>
              <a:srgbClr val="2A66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30471" y="3776472"/>
            <a:ext cx="1627632" cy="365760"/>
          </a:xfrm>
          <a:prstGeom prst="rect">
            <a:avLst/>
          </a:prstGeom>
          <a:noFill/>
        </p:spPr>
        <p:txBody>
          <a:bodyPr wrap="square" anchor="t" lIns="0" rIns="0" tIns="0" bIns="0">
            <a:spAutoFit/>
          </a:bodyPr>
          <a:lstStyle/>
          <a:p>
            <a:pPr algn="ctr">
              <a:lnSpc>
                <a:spcPct val="106000"/>
              </a:lnSpc>
            </a:pPr>
            <a:r>
              <a:rPr sz="1400" b="1" i="0">
                <a:solidFill>
                  <a:srgbClr val="FFFFFF"/>
                </a:solidFill>
                <a:latin typeface="Segoe UI"/>
              </a:rPr>
              <a:t>Connections</a:t>
            </a:r>
          </a:p>
        </p:txBody>
      </p:sp>
      <p:sp>
        <p:nvSpPr>
          <p:cNvPr id="18" name="TextBox 17"/>
          <p:cNvSpPr txBox="1"/>
          <p:nvPr/>
        </p:nvSpPr>
        <p:spPr>
          <a:xfrm>
            <a:off x="4230471" y="4178808"/>
            <a:ext cx="1627632" cy="274320"/>
          </a:xfrm>
          <a:prstGeom prst="rect">
            <a:avLst/>
          </a:prstGeom>
          <a:noFill/>
        </p:spPr>
        <p:txBody>
          <a:bodyPr wrap="square" anchor="t" lIns="0" rIns="0" tIns="0" bIns="0">
            <a:spAutoFit/>
          </a:bodyPr>
          <a:lstStyle/>
          <a:p>
            <a:pPr algn="ctr">
              <a:lnSpc>
                <a:spcPct val="106000"/>
              </a:lnSpc>
            </a:pPr>
            <a:r>
              <a:rPr sz="1000" b="0" i="0">
                <a:solidFill>
                  <a:srgbClr val="9FC1C7"/>
                </a:solidFill>
                <a:latin typeface="Segoe UI"/>
              </a:rPr>
              <a:t>sign in once</a:t>
            </a:r>
          </a:p>
        </p:txBody>
      </p:sp>
      <p:sp>
        <p:nvSpPr>
          <p:cNvPr id="19" name="TextBox 18"/>
          <p:cNvSpPr txBox="1"/>
          <p:nvPr/>
        </p:nvSpPr>
        <p:spPr>
          <a:xfrm>
            <a:off x="5858103" y="3520440"/>
            <a:ext cx="475488" cy="1143000"/>
          </a:xfrm>
          <a:prstGeom prst="rect">
            <a:avLst/>
          </a:prstGeom>
          <a:noFill/>
        </p:spPr>
        <p:txBody>
          <a:bodyPr wrap="square" anchor="ctr" lIns="0" rIns="0" tIns="0" bIns="0">
            <a:spAutoFit/>
          </a:bodyPr>
          <a:lstStyle/>
          <a:p>
            <a:pPr algn="ctr">
              <a:lnSpc>
                <a:spcPct val="106000"/>
              </a:lnSpc>
            </a:pPr>
            <a:r>
              <a:rPr sz="2200" b="1" i="0">
                <a:solidFill>
                  <a:srgbClr val="86DADD"/>
                </a:solidFill>
                <a:latin typeface="Segoe UI"/>
              </a:rPr>
              <a:t>+</a:t>
            </a:r>
          </a:p>
        </p:txBody>
      </p:sp>
      <p:sp>
        <p:nvSpPr>
          <p:cNvPr id="20" name="Rounded Rectangle 19"/>
          <p:cNvSpPr/>
          <p:nvPr/>
        </p:nvSpPr>
        <p:spPr>
          <a:xfrm>
            <a:off x="6333591" y="3520440"/>
            <a:ext cx="1627632" cy="1143000"/>
          </a:xfrm>
          <a:prstGeom prst="roundRect">
            <a:avLst>
              <a:gd name="adj" fmla="val 9000"/>
            </a:avLst>
          </a:prstGeom>
          <a:solidFill>
            <a:srgbClr val="103344"/>
          </a:solidFill>
          <a:ln w="12700">
            <a:solidFill>
              <a:srgbClr val="2A66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3591" y="3776472"/>
            <a:ext cx="1627632" cy="365760"/>
          </a:xfrm>
          <a:prstGeom prst="rect">
            <a:avLst/>
          </a:prstGeom>
          <a:noFill/>
        </p:spPr>
        <p:txBody>
          <a:bodyPr wrap="square" anchor="t" lIns="0" rIns="0" tIns="0" bIns="0">
            <a:spAutoFit/>
          </a:bodyPr>
          <a:lstStyle/>
          <a:p>
            <a:pPr algn="ctr">
              <a:lnSpc>
                <a:spcPct val="106000"/>
              </a:lnSpc>
            </a:pPr>
            <a:r>
              <a:rPr sz="1400" b="1" i="0">
                <a:solidFill>
                  <a:srgbClr val="FFFFFF"/>
                </a:solidFill>
                <a:latin typeface="Segoe UI"/>
              </a:rPr>
              <a:t>AutoPilot</a:t>
            </a:r>
          </a:p>
        </p:txBody>
      </p:sp>
      <p:sp>
        <p:nvSpPr>
          <p:cNvPr id="22" name="TextBox 21"/>
          <p:cNvSpPr txBox="1"/>
          <p:nvPr/>
        </p:nvSpPr>
        <p:spPr>
          <a:xfrm>
            <a:off x="6333591" y="4178808"/>
            <a:ext cx="1627632" cy="274320"/>
          </a:xfrm>
          <a:prstGeom prst="rect">
            <a:avLst/>
          </a:prstGeom>
          <a:noFill/>
        </p:spPr>
        <p:txBody>
          <a:bodyPr wrap="square" anchor="t" lIns="0" rIns="0" tIns="0" bIns="0">
            <a:spAutoFit/>
          </a:bodyPr>
          <a:lstStyle/>
          <a:p>
            <a:pPr algn="ctr">
              <a:lnSpc>
                <a:spcPct val="106000"/>
              </a:lnSpc>
            </a:pPr>
            <a:r>
              <a:rPr sz="1000" b="0" i="0">
                <a:solidFill>
                  <a:srgbClr val="9FC1C7"/>
                </a:solidFill>
                <a:latin typeface="Segoe UI"/>
              </a:rPr>
              <a:t>moves work</a:t>
            </a:r>
          </a:p>
        </p:txBody>
      </p:sp>
      <p:sp>
        <p:nvSpPr>
          <p:cNvPr id="23" name="TextBox 22"/>
          <p:cNvSpPr txBox="1"/>
          <p:nvPr/>
        </p:nvSpPr>
        <p:spPr>
          <a:xfrm>
            <a:off x="7961223" y="3520440"/>
            <a:ext cx="475488" cy="1143000"/>
          </a:xfrm>
          <a:prstGeom prst="rect">
            <a:avLst/>
          </a:prstGeom>
          <a:noFill/>
        </p:spPr>
        <p:txBody>
          <a:bodyPr wrap="square" anchor="ctr" lIns="0" rIns="0" tIns="0" bIns="0">
            <a:spAutoFit/>
          </a:bodyPr>
          <a:lstStyle/>
          <a:p>
            <a:pPr algn="ctr">
              <a:lnSpc>
                <a:spcPct val="106000"/>
              </a:lnSpc>
            </a:pPr>
            <a:r>
              <a:rPr sz="2200" b="1" i="0">
                <a:solidFill>
                  <a:srgbClr val="86DADD"/>
                </a:solidFill>
                <a:latin typeface="Segoe UI"/>
              </a:rPr>
              <a:t>+</a:t>
            </a:r>
          </a:p>
        </p:txBody>
      </p:sp>
      <p:sp>
        <p:nvSpPr>
          <p:cNvPr id="24" name="Rounded Rectangle 23"/>
          <p:cNvSpPr/>
          <p:nvPr/>
        </p:nvSpPr>
        <p:spPr>
          <a:xfrm>
            <a:off x="8436711" y="3520440"/>
            <a:ext cx="1627632" cy="1143000"/>
          </a:xfrm>
          <a:prstGeom prst="roundRect">
            <a:avLst>
              <a:gd name="adj" fmla="val 9000"/>
            </a:avLst>
          </a:prstGeom>
          <a:solidFill>
            <a:srgbClr val="103344"/>
          </a:solidFill>
          <a:ln w="12700">
            <a:solidFill>
              <a:srgbClr val="2A66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36711" y="3776472"/>
            <a:ext cx="1627632" cy="365760"/>
          </a:xfrm>
          <a:prstGeom prst="rect">
            <a:avLst/>
          </a:prstGeom>
          <a:noFill/>
        </p:spPr>
        <p:txBody>
          <a:bodyPr wrap="square" anchor="t" lIns="0" rIns="0" tIns="0" bIns="0">
            <a:spAutoFit/>
          </a:bodyPr>
          <a:lstStyle/>
          <a:p>
            <a:pPr algn="ctr">
              <a:lnSpc>
                <a:spcPct val="106000"/>
              </a:lnSpc>
            </a:pPr>
            <a:r>
              <a:rPr sz="1400" b="1" i="0">
                <a:solidFill>
                  <a:srgbClr val="FFFFFF"/>
                </a:solidFill>
                <a:latin typeface="Segoe UI"/>
              </a:rPr>
              <a:t>Proof</a:t>
            </a:r>
          </a:p>
        </p:txBody>
      </p:sp>
      <p:sp>
        <p:nvSpPr>
          <p:cNvPr id="26" name="TextBox 25"/>
          <p:cNvSpPr txBox="1"/>
          <p:nvPr/>
        </p:nvSpPr>
        <p:spPr>
          <a:xfrm>
            <a:off x="8436711" y="4178808"/>
            <a:ext cx="1627632" cy="274320"/>
          </a:xfrm>
          <a:prstGeom prst="rect">
            <a:avLst/>
          </a:prstGeom>
          <a:noFill/>
        </p:spPr>
        <p:txBody>
          <a:bodyPr wrap="square" anchor="t" lIns="0" rIns="0" tIns="0" bIns="0">
            <a:spAutoFit/>
          </a:bodyPr>
          <a:lstStyle/>
          <a:p>
            <a:pPr algn="ctr">
              <a:lnSpc>
                <a:spcPct val="106000"/>
              </a:lnSpc>
            </a:pPr>
            <a:r>
              <a:rPr sz="1000" b="0" i="0">
                <a:solidFill>
                  <a:srgbClr val="9FC1C7"/>
                </a:solidFill>
                <a:latin typeface="Segoe UI"/>
              </a:rPr>
              <a:t>done right</a:t>
            </a:r>
          </a:p>
        </p:txBody>
      </p:sp>
      <p:sp>
        <p:nvSpPr>
          <p:cNvPr id="27" name="TextBox 26"/>
          <p:cNvSpPr txBox="1"/>
          <p:nvPr/>
        </p:nvSpPr>
        <p:spPr>
          <a:xfrm>
            <a:off x="10064343" y="3520440"/>
            <a:ext cx="475488" cy="1143000"/>
          </a:xfrm>
          <a:prstGeom prst="rect">
            <a:avLst/>
          </a:prstGeom>
          <a:noFill/>
        </p:spPr>
        <p:txBody>
          <a:bodyPr wrap="square" anchor="ctr" lIns="0" rIns="0" tIns="0" bIns="0">
            <a:spAutoFit/>
          </a:bodyPr>
          <a:lstStyle/>
          <a:p>
            <a:pPr algn="ctr">
              <a:lnSpc>
                <a:spcPct val="106000"/>
              </a:lnSpc>
            </a:pPr>
            <a:r>
              <a:rPr sz="2200" b="1" i="0">
                <a:solidFill>
                  <a:srgbClr val="86DADD"/>
                </a:solidFill>
                <a:latin typeface="Segoe UI"/>
              </a:rPr>
              <a:t>=</a:t>
            </a:r>
          </a:p>
        </p:txBody>
      </p:sp>
      <p:sp>
        <p:nvSpPr>
          <p:cNvPr id="28" name="Rounded Rectangle 27"/>
          <p:cNvSpPr/>
          <p:nvPr/>
        </p:nvSpPr>
        <p:spPr>
          <a:xfrm>
            <a:off x="10539831" y="3520440"/>
            <a:ext cx="1627632" cy="1143000"/>
          </a:xfrm>
          <a:prstGeom prst="roundRect">
            <a:avLst>
              <a:gd name="adj" fmla="val 12000"/>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39831" y="3739896"/>
            <a:ext cx="1627632" cy="365760"/>
          </a:xfrm>
          <a:prstGeom prst="rect">
            <a:avLst/>
          </a:prstGeom>
          <a:noFill/>
        </p:spPr>
        <p:txBody>
          <a:bodyPr wrap="square" anchor="t" lIns="0" rIns="0" tIns="0" bIns="0">
            <a:spAutoFit/>
          </a:bodyPr>
          <a:lstStyle/>
          <a:p>
            <a:pPr algn="ctr">
              <a:lnSpc>
                <a:spcPct val="106000"/>
              </a:lnSpc>
            </a:pPr>
            <a:r>
              <a:rPr sz="1400" b="1" i="0">
                <a:solidFill>
                  <a:srgbClr val="06202C"/>
                </a:solidFill>
                <a:latin typeface="Segoe UI"/>
              </a:rPr>
              <a:t>One install</a:t>
            </a:r>
          </a:p>
        </p:txBody>
      </p:sp>
      <p:sp>
        <p:nvSpPr>
          <p:cNvPr id="30" name="TextBox 29"/>
          <p:cNvSpPr txBox="1"/>
          <p:nvPr/>
        </p:nvSpPr>
        <p:spPr>
          <a:xfrm>
            <a:off x="10539831" y="4160520"/>
            <a:ext cx="1627632" cy="274320"/>
          </a:xfrm>
          <a:prstGeom prst="rect">
            <a:avLst/>
          </a:prstGeom>
          <a:noFill/>
        </p:spPr>
        <p:txBody>
          <a:bodyPr wrap="square" anchor="t" lIns="0" rIns="0" tIns="0" bIns="0">
            <a:spAutoFit/>
          </a:bodyPr>
          <a:lstStyle/>
          <a:p>
            <a:pPr algn="ctr">
              <a:lnSpc>
                <a:spcPct val="106000"/>
              </a:lnSpc>
            </a:pPr>
            <a:r>
              <a:rPr sz="1000" b="0" i="0">
                <a:solidFill>
                  <a:srgbClr val="06202C"/>
                </a:solidFill>
                <a:latin typeface="Segoe UI"/>
              </a:rPr>
              <a:t>the whole stack</a:t>
            </a:r>
          </a:p>
        </p:txBody>
      </p:sp>
      <p:sp>
        <p:nvSpPr>
          <p:cNvPr id="31" name="TextBox 30"/>
          <p:cNvSpPr txBox="1"/>
          <p:nvPr/>
        </p:nvSpPr>
        <p:spPr>
          <a:xfrm>
            <a:off x="841248" y="5120640"/>
            <a:ext cx="10515600" cy="548640"/>
          </a:xfrm>
          <a:prstGeom prst="rect">
            <a:avLst/>
          </a:prstGeom>
          <a:noFill/>
        </p:spPr>
        <p:txBody>
          <a:bodyPr wrap="square" anchor="t" lIns="0" rIns="0" tIns="0" bIns="0">
            <a:spAutoFit/>
          </a:bodyPr>
          <a:lstStyle/>
          <a:p>
            <a:pPr algn="ctr">
              <a:lnSpc>
                <a:spcPct val="106000"/>
              </a:lnSpc>
            </a:pPr>
            <a:r>
              <a:rPr sz="1800" b="1" i="0">
                <a:solidFill>
                  <a:srgbClr val="FFFFFF"/>
                </a:solidFill>
                <a:latin typeface="Segoe UI"/>
              </a:rPr>
              <a:t>Stripe for agents, not Windows for agents. We are the rails every harness runs on.</a:t>
            </a:r>
          </a:p>
        </p:txBody>
      </p:sp>
      <p:sp>
        <p:nvSpPr>
          <p:cNvPr id="32" name="TextBox 31"/>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6F97A1"/>
                </a:solidFill>
                <a:latin typeface="Segoe UI"/>
              </a:rPr>
              <a:t>UnClick  ·  Where AI belongs. Humans welcome.</a:t>
            </a:r>
          </a:p>
        </p:txBody>
      </p:sp>
      <p:sp>
        <p:nvSpPr>
          <p:cNvPr id="33" name="TextBox 32"/>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6F97A1"/>
                </a:solidFill>
                <a:latin typeface="Consolas"/>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50292"/>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630936"/>
            <a:ext cx="256032" cy="32004"/>
          </a:xfrm>
          <a:prstGeom prst="rect">
            <a:avLst/>
          </a:prstGeom>
          <a:solidFill>
            <a:srgbClr val="2F9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521207"/>
            <a:ext cx="8229600" cy="292608"/>
          </a:xfrm>
          <a:prstGeom prst="rect">
            <a:avLst/>
          </a:prstGeom>
          <a:noFill/>
        </p:spPr>
        <p:txBody>
          <a:bodyPr wrap="square" anchor="t" lIns="0" rIns="0" tIns="0" bIns="0">
            <a:spAutoFit/>
          </a:bodyPr>
          <a:lstStyle/>
          <a:p>
            <a:pPr algn="l">
              <a:lnSpc>
                <a:spcPct val="106000"/>
              </a:lnSpc>
            </a:pPr>
            <a:r>
              <a:rPr sz="1150" b="1" i="0">
                <a:solidFill>
                  <a:srgbClr val="2F9499"/>
                </a:solidFill>
                <a:latin typeface="Segoe UI"/>
              </a:rPr>
              <a:t>WHY UNCLICK VS GOING IT ALONE</a:t>
            </a:r>
          </a:p>
        </p:txBody>
      </p:sp>
      <p:sp>
        <p:nvSpPr>
          <p:cNvPr id="6" name="TextBox 5"/>
          <p:cNvSpPr txBox="1"/>
          <p:nvPr/>
        </p:nvSpPr>
        <p:spPr>
          <a:xfrm>
            <a:off x="841248" y="914400"/>
            <a:ext cx="10515600" cy="1097280"/>
          </a:xfrm>
          <a:prstGeom prst="rect">
            <a:avLst/>
          </a:prstGeom>
          <a:noFill/>
        </p:spPr>
        <p:txBody>
          <a:bodyPr wrap="square" anchor="t" lIns="0" rIns="0" tIns="0" bIns="0">
            <a:spAutoFit/>
          </a:bodyPr>
          <a:lstStyle/>
          <a:p>
            <a:pPr algn="l">
              <a:lnSpc>
                <a:spcPct val="105000"/>
              </a:lnSpc>
            </a:pPr>
            <a:r>
              <a:rPr sz="3000" b="1" i="0">
                <a:solidFill>
                  <a:srgbClr val="0D2A36"/>
                </a:solidFill>
                <a:latin typeface="Segoe UI"/>
              </a:rPr>
              <a:t>Claude or ChatGPT can </a:t>
            </a:r>
            <a:r>
              <a:rPr sz="3000" b="1" i="0">
                <a:solidFill>
                  <a:srgbClr val="2F9499"/>
                </a:solidFill>
                <a:latin typeface="Segoe UI"/>
              </a:rPr>
              <a:t>think.</a:t>
            </a:r>
            <a:r>
              <a:rPr sz="3000" b="1" i="0">
                <a:solidFill>
                  <a:srgbClr val="0D2A36"/>
                </a:solidFill>
                <a:latin typeface="Segoe UI"/>
              </a:rPr>
              <a:t> They cannot remember, connect, or prove.</a:t>
            </a:r>
          </a:p>
        </p:txBody>
      </p:sp>
      <p:graphicFrame>
        <p:nvGraphicFramePr>
          <p:cNvPr id="7" name="Table 6"/>
          <p:cNvGraphicFramePr>
            <a:graphicFrameLocks noGrp="1"/>
          </p:cNvGraphicFramePr>
          <p:nvPr/>
        </p:nvGraphicFramePr>
        <p:xfrm>
          <a:off x="841248" y="2057400"/>
          <a:ext cx="10515599" cy="3703320"/>
        </p:xfrm>
        <a:graphic>
          <a:graphicData uri="http://schemas.openxmlformats.org/drawingml/2006/table">
            <a:tbl>
              <a:tblPr firstRow="1" bandRow="1">
                <a:tableStyleId>{5C22544A-7EE6-4342-B048-85BDC9FD1C3A}</a:tableStyleId>
              </a:tblPr>
              <a:tblGrid>
                <a:gridCol w="3931920"/>
                <a:gridCol w="3749039"/>
                <a:gridCol w="2834640"/>
              </a:tblGrid>
              <a:tr h="462915">
                <a:tc>
                  <a:txBody>
                    <a:bodyPr wrap="square"/>
                    <a:lstStyle/>
                    <a:p>
                      <a:r>
                        <a:rPr sz="1200" b="1">
                          <a:solidFill>
                            <a:srgbClr val="0D2A36"/>
                          </a:solidFill>
                          <a:latin typeface="Segoe UI"/>
                        </a:rPr>
                        <a:t>What an agent needs</a:t>
                      </a:r>
                    </a:p>
                  </a:txBody>
                  <a:tcPr marL="146304" marR="91440" marT="45720" marB="45720" anchor="ctr">
                    <a:solidFill>
                      <a:srgbClr val="F1F8F9"/>
                    </a:solidFill>
                  </a:tcPr>
                </a:tc>
                <a:tc>
                  <a:txBody>
                    <a:bodyPr wrap="square"/>
                    <a:lstStyle/>
                    <a:p>
                      <a:r>
                        <a:rPr sz="1200" b="1">
                          <a:solidFill>
                            <a:srgbClr val="0D2A36"/>
                          </a:solidFill>
                          <a:latin typeface="Segoe UI"/>
                        </a:rPr>
                        <a:t>Claude / ChatGPT / Cursor on their own</a:t>
                      </a:r>
                    </a:p>
                  </a:txBody>
                  <a:tcPr marL="146304" marR="91440" marT="45720" marB="45720" anchor="ctr">
                    <a:solidFill>
                      <a:srgbClr val="F1F8F9"/>
                    </a:solidFill>
                  </a:tcPr>
                </a:tc>
                <a:tc>
                  <a:txBody>
                    <a:bodyPr wrap="square"/>
                    <a:lstStyle/>
                    <a:p>
                      <a:r>
                        <a:rPr sz="1200" b="1">
                          <a:solidFill>
                            <a:srgbClr val="2F9499"/>
                          </a:solidFill>
                          <a:latin typeface="Segoe UI"/>
                        </a:rPr>
                        <a:t>With UnClick</a:t>
                      </a:r>
                    </a:p>
                  </a:txBody>
                  <a:tcPr marL="146304" marR="91440" marT="45720" marB="45720" anchor="ctr">
                    <a:solidFill>
                      <a:srgbClr val="DFF1F1"/>
                    </a:solidFill>
                  </a:tcPr>
                </a:tc>
              </a:tr>
              <a:tr h="462915">
                <a:tc>
                  <a:txBody>
                    <a:bodyPr wrap="square"/>
                    <a:lstStyle/>
                    <a:p>
                      <a:r>
                        <a:rPr sz="1300" b="1">
                          <a:solidFill>
                            <a:srgbClr val="0D2A36"/>
                          </a:solidFill>
                          <a:latin typeface="Segoe UI"/>
                        </a:rPr>
                        <a:t>Memory across sessions &amp; tools</a:t>
                      </a:r>
                    </a:p>
                  </a:txBody>
                  <a:tcPr marL="146304" marR="91440" marT="45720" marB="45720" anchor="ctr">
                    <a:solidFill>
                      <a:srgbClr val="FFFFFF"/>
                    </a:solidFill>
                  </a:tcPr>
                </a:tc>
                <a:tc>
                  <a:txBody>
                    <a:bodyPr wrap="square"/>
                    <a:lstStyle/>
                    <a:p>
                      <a:r>
                        <a:rPr sz="1300" b="1">
                          <a:solidFill>
                            <a:srgbClr val="D0534A"/>
                          </a:solidFill>
                          <a:latin typeface="Segoe UI"/>
                        </a:rPr>
                        <a:t>Resets each chat</a:t>
                      </a:r>
                    </a:p>
                  </a:txBody>
                  <a:tcPr marL="146304" marR="91440" marT="45720" marB="45720" anchor="ctr">
                    <a:solidFill>
                      <a:srgbClr val="FFFFFF"/>
                    </a:solidFill>
                  </a:tcPr>
                </a:tc>
                <a:tc>
                  <a:txBody>
                    <a:bodyPr wrap="square"/>
                    <a:lstStyle/>
                    <a:p>
                      <a:r>
                        <a:rPr sz="1300" b="1">
                          <a:solidFill>
                            <a:srgbClr val="2F9499"/>
                          </a:solidFill>
                          <a:latin typeface="Segoe UI"/>
                        </a:rPr>
                        <a:t>Remembers everywhere</a:t>
                      </a:r>
                    </a:p>
                  </a:txBody>
                  <a:tcPr marL="146304" marR="91440" marT="45720" marB="45720" anchor="ctr">
                    <a:solidFill>
                      <a:srgbClr val="F3FBFB"/>
                    </a:solidFill>
                  </a:tcPr>
                </a:tc>
              </a:tr>
              <a:tr h="462915">
                <a:tc>
                  <a:txBody>
                    <a:bodyPr wrap="square"/>
                    <a:lstStyle/>
                    <a:p>
                      <a:r>
                        <a:rPr sz="1300" b="1">
                          <a:solidFill>
                            <a:srgbClr val="0D2A36"/>
                          </a:solidFill>
                          <a:latin typeface="Segoe UI"/>
                        </a:rPr>
                        <a:t>Real tools (act, not click)</a:t>
                      </a:r>
                    </a:p>
                  </a:txBody>
                  <a:tcPr marL="146304" marR="91440" marT="45720" marB="45720" anchor="ctr">
                    <a:solidFill>
                      <a:srgbClr val="FFFFFF"/>
                    </a:solidFill>
                  </a:tcPr>
                </a:tc>
                <a:tc>
                  <a:txBody>
                    <a:bodyPr wrap="square"/>
                    <a:lstStyle/>
                    <a:p>
                      <a:r>
                        <a:rPr sz="1300" b="1">
                          <a:solidFill>
                            <a:srgbClr val="D0534A"/>
                          </a:solidFill>
                          <a:latin typeface="Segoe UI"/>
                        </a:rPr>
                        <a:t>Limited or none</a:t>
                      </a:r>
                    </a:p>
                  </a:txBody>
                  <a:tcPr marL="146304" marR="91440" marT="45720" marB="45720" anchor="ctr">
                    <a:solidFill>
                      <a:srgbClr val="FFFFFF"/>
                    </a:solidFill>
                  </a:tcPr>
                </a:tc>
                <a:tc>
                  <a:txBody>
                    <a:bodyPr wrap="square"/>
                    <a:lstStyle/>
                    <a:p>
                      <a:r>
                        <a:rPr sz="1300" b="1">
                          <a:solidFill>
                            <a:srgbClr val="2F9499"/>
                          </a:solidFill>
                          <a:latin typeface="Segoe UI"/>
                        </a:rPr>
                        <a:t>450+ endpoints</a:t>
                      </a:r>
                    </a:p>
                  </a:txBody>
                  <a:tcPr marL="146304" marR="91440" marT="45720" marB="45720" anchor="ctr">
                    <a:solidFill>
                      <a:srgbClr val="F3FBFB"/>
                    </a:solidFill>
                  </a:tcPr>
                </a:tc>
              </a:tr>
              <a:tr h="462915">
                <a:tc>
                  <a:txBody>
                    <a:bodyPr wrap="square"/>
                    <a:lstStyle/>
                    <a:p>
                      <a:r>
                        <a:rPr sz="1300" b="1">
                          <a:solidFill>
                            <a:srgbClr val="0D2A36"/>
                          </a:solidFill>
                          <a:latin typeface="Segoe UI"/>
                        </a:rPr>
                        <a:t>Sign in once across accounts</a:t>
                      </a:r>
                    </a:p>
                  </a:txBody>
                  <a:tcPr marL="146304" marR="91440" marT="45720" marB="45720" anchor="ctr">
                    <a:solidFill>
                      <a:srgbClr val="FFFFFF"/>
                    </a:solidFill>
                  </a:tcPr>
                </a:tc>
                <a:tc>
                  <a:txBody>
                    <a:bodyPr wrap="square"/>
                    <a:lstStyle/>
                    <a:p>
                      <a:r>
                        <a:rPr sz="1300" b="1">
                          <a:solidFill>
                            <a:srgbClr val="D0534A"/>
                          </a:solidFill>
                          <a:latin typeface="Segoe UI"/>
                        </a:rPr>
                        <a:t>Re-auth every time</a:t>
                      </a:r>
                    </a:p>
                  </a:txBody>
                  <a:tcPr marL="146304" marR="91440" marT="45720" marB="45720" anchor="ctr">
                    <a:solidFill>
                      <a:srgbClr val="FFFFFF"/>
                    </a:solidFill>
                  </a:tcPr>
                </a:tc>
                <a:tc>
                  <a:txBody>
                    <a:bodyPr wrap="square"/>
                    <a:lstStyle/>
                    <a:p>
                      <a:r>
                        <a:rPr sz="1300" b="1">
                          <a:solidFill>
                            <a:srgbClr val="2F9499"/>
                          </a:solidFill>
                          <a:latin typeface="Segoe UI"/>
                        </a:rPr>
                        <a:t>Connect once</a:t>
                      </a:r>
                    </a:p>
                  </a:txBody>
                  <a:tcPr marL="146304" marR="91440" marT="45720" marB="45720" anchor="ctr">
                    <a:solidFill>
                      <a:srgbClr val="F3FBFB"/>
                    </a:solidFill>
                  </a:tcPr>
                </a:tc>
              </a:tr>
              <a:tr h="462915">
                <a:tc>
                  <a:txBody>
                    <a:bodyPr wrap="square"/>
                    <a:lstStyle/>
                    <a:p>
                      <a:r>
                        <a:rPr sz="1300" b="1">
                          <a:solidFill>
                            <a:srgbClr val="0D2A36"/>
                          </a:solidFill>
                          <a:latin typeface="Segoe UI"/>
                        </a:rPr>
                        <a:t>Works across every AI app</a:t>
                      </a:r>
                    </a:p>
                  </a:txBody>
                  <a:tcPr marL="146304" marR="91440" marT="45720" marB="45720" anchor="ctr">
                    <a:solidFill>
                      <a:srgbClr val="FFFFFF"/>
                    </a:solidFill>
                  </a:tcPr>
                </a:tc>
                <a:tc>
                  <a:txBody>
                    <a:bodyPr wrap="square"/>
                    <a:lstStyle/>
                    <a:p>
                      <a:r>
                        <a:rPr sz="1300" b="1">
                          <a:solidFill>
                            <a:srgbClr val="D0534A"/>
                          </a:solidFill>
                          <a:latin typeface="Segoe UI"/>
                        </a:rPr>
                        <a:t>Locked to one vendor</a:t>
                      </a:r>
                    </a:p>
                  </a:txBody>
                  <a:tcPr marL="146304" marR="91440" marT="45720" marB="45720" anchor="ctr">
                    <a:solidFill>
                      <a:srgbClr val="FFFFFF"/>
                    </a:solidFill>
                  </a:tcPr>
                </a:tc>
                <a:tc>
                  <a:txBody>
                    <a:bodyPr wrap="square"/>
                    <a:lstStyle/>
                    <a:p>
                      <a:r>
                        <a:rPr sz="1300" b="1">
                          <a:solidFill>
                            <a:srgbClr val="2F9499"/>
                          </a:solidFill>
                          <a:latin typeface="Segoe UI"/>
                        </a:rPr>
                        <a:t>Any MCP client</a:t>
                      </a:r>
                    </a:p>
                  </a:txBody>
                  <a:tcPr marL="146304" marR="91440" marT="45720" marB="45720" anchor="ctr">
                    <a:solidFill>
                      <a:srgbClr val="F3FBFB"/>
                    </a:solidFill>
                  </a:tcPr>
                </a:tc>
              </a:tr>
              <a:tr h="462915">
                <a:tc>
                  <a:txBody>
                    <a:bodyPr wrap="square"/>
                    <a:lstStyle/>
                    <a:p>
                      <a:r>
                        <a:rPr sz="1300" b="1">
                          <a:solidFill>
                            <a:srgbClr val="0D2A36"/>
                          </a:solidFill>
                          <a:latin typeface="Segoe UI"/>
                        </a:rPr>
                        <a:t>A team of agents that coordinate</a:t>
                      </a:r>
                    </a:p>
                  </a:txBody>
                  <a:tcPr marL="146304" marR="91440" marT="45720" marB="45720" anchor="ctr">
                    <a:solidFill>
                      <a:srgbClr val="FFFFFF"/>
                    </a:solidFill>
                  </a:tcPr>
                </a:tc>
                <a:tc>
                  <a:txBody>
                    <a:bodyPr wrap="square"/>
                    <a:lstStyle/>
                    <a:p>
                      <a:r>
                        <a:rPr sz="1300" b="1">
                          <a:solidFill>
                            <a:srgbClr val="D0534A"/>
                          </a:solidFill>
                          <a:latin typeface="Segoe UI"/>
                        </a:rPr>
                        <a:t>One model, alone</a:t>
                      </a:r>
                    </a:p>
                  </a:txBody>
                  <a:tcPr marL="146304" marR="91440" marT="45720" marB="45720" anchor="ctr">
                    <a:solidFill>
                      <a:srgbClr val="FFFFFF"/>
                    </a:solidFill>
                  </a:tcPr>
                </a:tc>
                <a:tc>
                  <a:txBody>
                    <a:bodyPr wrap="square"/>
                    <a:lstStyle/>
                    <a:p>
                      <a:r>
                        <a:rPr sz="1300" b="1">
                          <a:solidFill>
                            <a:srgbClr val="2F9499"/>
                          </a:solidFill>
                          <a:latin typeface="Segoe UI"/>
                        </a:rPr>
                        <a:t>Governed worker fleet</a:t>
                      </a:r>
                    </a:p>
                  </a:txBody>
                  <a:tcPr marL="146304" marR="91440" marT="45720" marB="45720" anchor="ctr">
                    <a:solidFill>
                      <a:srgbClr val="F3FBFB"/>
                    </a:solidFill>
                  </a:tcPr>
                </a:tc>
              </a:tr>
              <a:tr h="462915">
                <a:tc>
                  <a:txBody>
                    <a:bodyPr wrap="square"/>
                    <a:lstStyle/>
                    <a:p>
                      <a:r>
                        <a:rPr sz="1300" b="1">
                          <a:solidFill>
                            <a:srgbClr val="0D2A36"/>
                          </a:solidFill>
                          <a:latin typeface="Segoe UI"/>
                        </a:rPr>
                        <a:t>Safety gates &amp; an audit trail</a:t>
                      </a:r>
                    </a:p>
                  </a:txBody>
                  <a:tcPr marL="146304" marR="91440" marT="45720" marB="45720" anchor="ctr">
                    <a:solidFill>
                      <a:srgbClr val="FFFFFF"/>
                    </a:solidFill>
                  </a:tcPr>
                </a:tc>
                <a:tc>
                  <a:txBody>
                    <a:bodyPr wrap="square"/>
                    <a:lstStyle/>
                    <a:p>
                      <a:r>
                        <a:rPr sz="1300" b="1">
                          <a:solidFill>
                            <a:srgbClr val="D0534A"/>
                          </a:solidFill>
                          <a:latin typeface="Segoe UI"/>
                        </a:rPr>
                        <a:t>Trust the prompt</a:t>
                      </a:r>
                    </a:p>
                  </a:txBody>
                  <a:tcPr marL="146304" marR="91440" marT="45720" marB="45720" anchor="ctr">
                    <a:solidFill>
                      <a:srgbClr val="FFFFFF"/>
                    </a:solidFill>
                  </a:tcPr>
                </a:tc>
                <a:tc>
                  <a:txBody>
                    <a:bodyPr wrap="square"/>
                    <a:lstStyle/>
                    <a:p>
                      <a:r>
                        <a:rPr sz="1300" b="1">
                          <a:solidFill>
                            <a:srgbClr val="2F9499"/>
                          </a:solidFill>
                          <a:latin typeface="Segoe UI"/>
                        </a:rPr>
                        <a:t>Gates + flight recorder</a:t>
                      </a:r>
                    </a:p>
                  </a:txBody>
                  <a:tcPr marL="146304" marR="91440" marT="45720" marB="45720" anchor="ctr">
                    <a:solidFill>
                      <a:srgbClr val="F3FBFB"/>
                    </a:solidFill>
                  </a:tcPr>
                </a:tc>
              </a:tr>
              <a:tr h="462915">
                <a:tc>
                  <a:txBody>
                    <a:bodyPr wrap="square"/>
                    <a:lstStyle/>
                    <a:p>
                      <a:r>
                        <a:rPr sz="1300" b="1">
                          <a:solidFill>
                            <a:srgbClr val="0D2A36"/>
                          </a:solidFill>
                          <a:latin typeface="Segoe UI"/>
                        </a:rPr>
                        <a:t>Your data stays yours</a:t>
                      </a:r>
                    </a:p>
                  </a:txBody>
                  <a:tcPr marL="146304" marR="91440" marT="45720" marB="45720" anchor="ctr">
                    <a:solidFill>
                      <a:srgbClr val="FFFFFF"/>
                    </a:solidFill>
                  </a:tcPr>
                </a:tc>
                <a:tc>
                  <a:txBody>
                    <a:bodyPr wrap="square"/>
                    <a:lstStyle/>
                    <a:p>
                      <a:r>
                        <a:rPr sz="1300" b="1">
                          <a:solidFill>
                            <a:srgbClr val="D0534A"/>
                          </a:solidFill>
                          <a:latin typeface="Segoe UI"/>
                        </a:rPr>
                        <a:t>Their cloud</a:t>
                      </a:r>
                    </a:p>
                  </a:txBody>
                  <a:tcPr marL="146304" marR="91440" marT="45720" marB="45720" anchor="ctr">
                    <a:solidFill>
                      <a:srgbClr val="FFFFFF"/>
                    </a:solidFill>
                  </a:tcPr>
                </a:tc>
                <a:tc>
                  <a:txBody>
                    <a:bodyPr wrap="square"/>
                    <a:lstStyle/>
                    <a:p>
                      <a:r>
                        <a:rPr sz="1300" b="1">
                          <a:solidFill>
                            <a:srgbClr val="2F9499"/>
                          </a:solidFill>
                          <a:latin typeface="Segoe UI"/>
                        </a:rPr>
                        <a:t>Your database</a:t>
                      </a:r>
                    </a:p>
                  </a:txBody>
                  <a:tcPr marL="146304" marR="91440" marT="45720" marB="45720" anchor="ctr">
                    <a:solidFill>
                      <a:srgbClr val="F3FBFB"/>
                    </a:solidFill>
                  </a:tcPr>
                </a:tc>
              </a:tr>
            </a:tbl>
          </a:graphicData>
        </a:graphic>
      </p:graphicFrame>
      <p:sp>
        <p:nvSpPr>
          <p:cNvPr id="8" name="TextBox 7"/>
          <p:cNvSpPr txBox="1"/>
          <p:nvPr/>
        </p:nvSpPr>
        <p:spPr>
          <a:xfrm>
            <a:off x="841248" y="5943600"/>
            <a:ext cx="10515600" cy="365760"/>
          </a:xfrm>
          <a:prstGeom prst="rect">
            <a:avLst/>
          </a:prstGeom>
          <a:noFill/>
        </p:spPr>
        <p:txBody>
          <a:bodyPr wrap="square" anchor="t" lIns="0" rIns="0" tIns="0" bIns="0">
            <a:spAutoFit/>
          </a:bodyPr>
          <a:lstStyle/>
          <a:p>
            <a:pPr algn="l">
              <a:lnSpc>
                <a:spcPct val="106000"/>
              </a:lnSpc>
            </a:pPr>
            <a:r>
              <a:rPr sz="1200" b="0" i="0">
                <a:solidFill>
                  <a:srgbClr val="6F8B95"/>
                </a:solidFill>
                <a:latin typeface="Segoe UI"/>
              </a:rPr>
              <a:t>UnClick is not another chatbot. It is the layer that makes the chatbot you already pay for actually get things done.</a:t>
            </a:r>
          </a:p>
        </p:txBody>
      </p:sp>
      <p:sp>
        <p:nvSpPr>
          <p:cNvPr id="9" name="TextBox 8"/>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7FA6B0"/>
                </a:solidFill>
                <a:latin typeface="Segoe UI"/>
              </a:rPr>
              <a:t>UnClick  ·  Where AI belongs. Humans welcome.</a:t>
            </a:r>
          </a:p>
        </p:txBody>
      </p:sp>
      <p:sp>
        <p:nvSpPr>
          <p:cNvPr id="10" name="TextBox 9"/>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7FA6B0"/>
                </a:solidFill>
                <a:latin typeface="Consolas"/>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50292"/>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630936"/>
            <a:ext cx="256032" cy="32004"/>
          </a:xfrm>
          <a:prstGeom prst="rect">
            <a:avLst/>
          </a:prstGeom>
          <a:solidFill>
            <a:srgbClr val="2F9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521207"/>
            <a:ext cx="8229600" cy="292608"/>
          </a:xfrm>
          <a:prstGeom prst="rect">
            <a:avLst/>
          </a:prstGeom>
          <a:noFill/>
        </p:spPr>
        <p:txBody>
          <a:bodyPr wrap="square" anchor="t" lIns="0" rIns="0" tIns="0" bIns="0">
            <a:spAutoFit/>
          </a:bodyPr>
          <a:lstStyle/>
          <a:p>
            <a:pPr algn="l">
              <a:lnSpc>
                <a:spcPct val="106000"/>
              </a:lnSpc>
            </a:pPr>
            <a:r>
              <a:rPr sz="1150" b="1" i="0">
                <a:solidFill>
                  <a:srgbClr val="2F9499"/>
                </a:solidFill>
                <a:latin typeface="Segoe UI"/>
              </a:rPr>
              <a:t>DEFENSIBILITY</a:t>
            </a:r>
          </a:p>
        </p:txBody>
      </p:sp>
      <p:sp>
        <p:nvSpPr>
          <p:cNvPr id="6" name="TextBox 5"/>
          <p:cNvSpPr txBox="1"/>
          <p:nvPr/>
        </p:nvSpPr>
        <p:spPr>
          <a:xfrm>
            <a:off x="841248" y="960120"/>
            <a:ext cx="10424160" cy="914400"/>
          </a:xfrm>
          <a:prstGeom prst="rect">
            <a:avLst/>
          </a:prstGeom>
          <a:noFill/>
        </p:spPr>
        <p:txBody>
          <a:bodyPr wrap="square" anchor="t" lIns="0" rIns="0" tIns="0" bIns="0">
            <a:spAutoFit/>
          </a:bodyPr>
          <a:lstStyle/>
          <a:p>
            <a:pPr algn="l">
              <a:lnSpc>
                <a:spcPct val="106000"/>
              </a:lnSpc>
            </a:pPr>
            <a:r>
              <a:rPr sz="3400" b="1" i="0">
                <a:solidFill>
                  <a:srgbClr val="0D2A36"/>
                </a:solidFill>
                <a:latin typeface="Segoe UI"/>
              </a:rPr>
              <a:t>The one position the AI labs </a:t>
            </a:r>
            <a:r>
              <a:rPr sz="3400" b="1" i="0">
                <a:solidFill>
                  <a:srgbClr val="2F9499"/>
                </a:solidFill>
                <a:latin typeface="Segoe UI"/>
              </a:rPr>
              <a:t>structurally cannot take.</a:t>
            </a:r>
          </a:p>
        </p:txBody>
      </p:sp>
      <p:sp>
        <p:nvSpPr>
          <p:cNvPr id="7" name="TextBox 6"/>
          <p:cNvSpPr txBox="1"/>
          <p:nvPr/>
        </p:nvSpPr>
        <p:spPr>
          <a:xfrm>
            <a:off x="841248" y="1828800"/>
            <a:ext cx="10058400" cy="914400"/>
          </a:xfrm>
          <a:prstGeom prst="rect">
            <a:avLst/>
          </a:prstGeom>
          <a:noFill/>
        </p:spPr>
        <p:txBody>
          <a:bodyPr wrap="square" anchor="t" lIns="0" rIns="0" tIns="0" bIns="0">
            <a:spAutoFit/>
          </a:bodyPr>
          <a:lstStyle/>
          <a:p>
            <a:pPr algn="l">
              <a:lnSpc>
                <a:spcPct val="130000"/>
              </a:lnSpc>
              <a:spcAft>
                <a:spcPts val="600"/>
              </a:spcAft>
            </a:pPr>
            <a:r>
              <a:rPr sz="1550" b="0">
                <a:solidFill>
                  <a:srgbClr val="3C5763"/>
                </a:solidFill>
                <a:latin typeface="Segoe UI"/>
              </a:rPr>
              <a:t>UnClick's customer is the user, not any single model. An independent layer that audits and holds every model accountable, including Anthropic's and OpenAI's, is a trust feature for users and a conflict of interest for the labs.</a:t>
            </a:r>
          </a:p>
        </p:txBody>
      </p:sp>
      <p:sp>
        <p:nvSpPr>
          <p:cNvPr id="8" name="Rounded Rectangle 7"/>
          <p:cNvSpPr/>
          <p:nvPr/>
        </p:nvSpPr>
        <p:spPr>
          <a:xfrm>
            <a:off x="841248" y="3108960"/>
            <a:ext cx="3337560" cy="210312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364991"/>
            <a:ext cx="2788920" cy="548640"/>
          </a:xfrm>
          <a:prstGeom prst="rect">
            <a:avLst/>
          </a:prstGeom>
          <a:noFill/>
        </p:spPr>
        <p:txBody>
          <a:bodyPr wrap="square" anchor="t" lIns="0" rIns="0" tIns="0" bIns="0">
            <a:spAutoFit/>
          </a:bodyPr>
          <a:lstStyle/>
          <a:p>
            <a:pPr algn="l">
              <a:lnSpc>
                <a:spcPct val="106000"/>
              </a:lnSpc>
            </a:pPr>
            <a:r>
              <a:rPr sz="1600" b="1" i="0">
                <a:solidFill>
                  <a:srgbClr val="2F9499"/>
                </a:solidFill>
                <a:latin typeface="Segoe UI"/>
              </a:rPr>
              <a:t>Neutral by design</a:t>
            </a:r>
          </a:p>
        </p:txBody>
      </p:sp>
      <p:sp>
        <p:nvSpPr>
          <p:cNvPr id="10" name="TextBox 9"/>
          <p:cNvSpPr txBox="1"/>
          <p:nvPr/>
        </p:nvSpPr>
        <p:spPr>
          <a:xfrm>
            <a:off x="1115568" y="4023360"/>
            <a:ext cx="2788920" cy="1005840"/>
          </a:xfrm>
          <a:prstGeom prst="rect">
            <a:avLst/>
          </a:prstGeom>
          <a:noFill/>
        </p:spPr>
        <p:txBody>
          <a:bodyPr wrap="square" anchor="t" lIns="0" rIns="0" tIns="0" bIns="0">
            <a:spAutoFit/>
          </a:bodyPr>
          <a:lstStyle/>
          <a:p>
            <a:pPr algn="l">
              <a:lnSpc>
                <a:spcPct val="122000"/>
              </a:lnSpc>
              <a:spcAft>
                <a:spcPts val="600"/>
              </a:spcAft>
            </a:pPr>
            <a:r>
              <a:rPr sz="1200" b="0">
                <a:solidFill>
                  <a:srgbClr val="3C5763"/>
                </a:solidFill>
                <a:latin typeface="Segoe UI"/>
              </a:rPr>
              <a:t>We back every harness, so we are welcome inside all of them. We do not pick a side in the model wars.</a:t>
            </a:r>
          </a:p>
        </p:txBody>
      </p:sp>
      <p:sp>
        <p:nvSpPr>
          <p:cNvPr id="11" name="Rounded Rectangle 10"/>
          <p:cNvSpPr/>
          <p:nvPr/>
        </p:nvSpPr>
        <p:spPr>
          <a:xfrm>
            <a:off x="4425696" y="3108960"/>
            <a:ext cx="3337560" cy="210312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0016" y="3364991"/>
            <a:ext cx="2788920" cy="548640"/>
          </a:xfrm>
          <a:prstGeom prst="rect">
            <a:avLst/>
          </a:prstGeom>
          <a:noFill/>
        </p:spPr>
        <p:txBody>
          <a:bodyPr wrap="square" anchor="t" lIns="0" rIns="0" tIns="0" bIns="0">
            <a:spAutoFit/>
          </a:bodyPr>
          <a:lstStyle/>
          <a:p>
            <a:pPr algn="l">
              <a:lnSpc>
                <a:spcPct val="106000"/>
              </a:lnSpc>
            </a:pPr>
            <a:r>
              <a:rPr sz="1600" b="1" i="0">
                <a:solidFill>
                  <a:srgbClr val="2F9499"/>
                </a:solidFill>
                <a:latin typeface="Segoe UI"/>
              </a:rPr>
              <a:t>A compounding data moat</a:t>
            </a:r>
          </a:p>
        </p:txBody>
      </p:sp>
      <p:sp>
        <p:nvSpPr>
          <p:cNvPr id="13" name="TextBox 12"/>
          <p:cNvSpPr txBox="1"/>
          <p:nvPr/>
        </p:nvSpPr>
        <p:spPr>
          <a:xfrm>
            <a:off x="4700016" y="4023360"/>
            <a:ext cx="2788920" cy="1005840"/>
          </a:xfrm>
          <a:prstGeom prst="rect">
            <a:avLst/>
          </a:prstGeom>
          <a:noFill/>
        </p:spPr>
        <p:txBody>
          <a:bodyPr wrap="square" anchor="t" lIns="0" rIns="0" tIns="0" bIns="0">
            <a:spAutoFit/>
          </a:bodyPr>
          <a:lstStyle/>
          <a:p>
            <a:pPr algn="l">
              <a:lnSpc>
                <a:spcPct val="122000"/>
              </a:lnSpc>
              <a:spcAft>
                <a:spcPts val="600"/>
              </a:spcAft>
            </a:pPr>
            <a:r>
              <a:rPr sz="1200" b="0">
                <a:solidFill>
                  <a:srgbClr val="3C5763"/>
                </a:solidFill>
                <a:latin typeface="Segoe UI"/>
              </a:rPr>
              <a:t>Our edge grows on data only we hold: our own run outcomes and proof history across every model.</a:t>
            </a:r>
          </a:p>
        </p:txBody>
      </p:sp>
      <p:sp>
        <p:nvSpPr>
          <p:cNvPr id="14" name="Rounded Rectangle 13"/>
          <p:cNvSpPr/>
          <p:nvPr/>
        </p:nvSpPr>
        <p:spPr>
          <a:xfrm>
            <a:off x="8010144" y="3108960"/>
            <a:ext cx="3337560" cy="210312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4464" y="3364991"/>
            <a:ext cx="2788920" cy="548640"/>
          </a:xfrm>
          <a:prstGeom prst="rect">
            <a:avLst/>
          </a:prstGeom>
          <a:noFill/>
        </p:spPr>
        <p:txBody>
          <a:bodyPr wrap="square" anchor="t" lIns="0" rIns="0" tIns="0" bIns="0">
            <a:spAutoFit/>
          </a:bodyPr>
          <a:lstStyle/>
          <a:p>
            <a:pPr algn="l">
              <a:lnSpc>
                <a:spcPct val="106000"/>
              </a:lnSpc>
            </a:pPr>
            <a:r>
              <a:rPr sz="1600" b="1" i="0">
                <a:solidFill>
                  <a:srgbClr val="2F9499"/>
                </a:solidFill>
                <a:latin typeface="Segoe UI"/>
              </a:rPr>
              <a:t>We win on trust, not size</a:t>
            </a:r>
          </a:p>
        </p:txBody>
      </p:sp>
      <p:sp>
        <p:nvSpPr>
          <p:cNvPr id="16" name="TextBox 15"/>
          <p:cNvSpPr txBox="1"/>
          <p:nvPr/>
        </p:nvSpPr>
        <p:spPr>
          <a:xfrm>
            <a:off x="8284464" y="4023360"/>
            <a:ext cx="2788920" cy="1005840"/>
          </a:xfrm>
          <a:prstGeom prst="rect">
            <a:avLst/>
          </a:prstGeom>
          <a:noFill/>
        </p:spPr>
        <p:txBody>
          <a:bodyPr wrap="square" anchor="t" lIns="0" rIns="0" tIns="0" bIns="0">
            <a:spAutoFit/>
          </a:bodyPr>
          <a:lstStyle/>
          <a:p>
            <a:pPr algn="l">
              <a:lnSpc>
                <a:spcPct val="122000"/>
              </a:lnSpc>
              <a:spcAft>
                <a:spcPts val="600"/>
              </a:spcAft>
            </a:pPr>
            <a:r>
              <a:rPr sz="1200" b="0">
                <a:solidFill>
                  <a:srgbClr val="3C5763"/>
                </a:solidFill>
                <a:latin typeface="Segoe UI"/>
              </a:rPr>
              <a:t>Integration count is a commodity. We compete on curation, reliability and proof that work was done right.</a:t>
            </a:r>
          </a:p>
        </p:txBody>
      </p:sp>
      <p:sp>
        <p:nvSpPr>
          <p:cNvPr id="17" name="TextBox 16"/>
          <p:cNvSpPr txBox="1"/>
          <p:nvPr/>
        </p:nvSpPr>
        <p:spPr>
          <a:xfrm>
            <a:off x="841248" y="5669280"/>
            <a:ext cx="10424160" cy="457200"/>
          </a:xfrm>
          <a:prstGeom prst="rect">
            <a:avLst/>
          </a:prstGeom>
          <a:noFill/>
        </p:spPr>
        <p:txBody>
          <a:bodyPr wrap="square" anchor="t" lIns="0" rIns="0" tIns="0" bIns="0">
            <a:spAutoFit/>
          </a:bodyPr>
          <a:lstStyle/>
          <a:p>
            <a:pPr algn="l">
              <a:lnSpc>
                <a:spcPct val="106000"/>
              </a:lnSpc>
            </a:pPr>
            <a:r>
              <a:rPr sz="1600" b="1" i="0">
                <a:solidFill>
                  <a:srgbClr val="0D2A36"/>
                </a:solidFill>
                <a:latin typeface="Segoe UI"/>
              </a:rPr>
              <a:t>The place where any frontier model is held accountable.</a:t>
            </a:r>
          </a:p>
        </p:txBody>
      </p:sp>
      <p:sp>
        <p:nvSpPr>
          <p:cNvPr id="18" name="TextBox 17"/>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7FA6B0"/>
                </a:solidFill>
                <a:latin typeface="Segoe UI"/>
              </a:rPr>
              <a:t>UnClick  ·  Where AI belongs. Humans welcome.</a:t>
            </a:r>
          </a:p>
        </p:txBody>
      </p:sp>
      <p:sp>
        <p:nvSpPr>
          <p:cNvPr id="19" name="TextBox 18"/>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7FA6B0"/>
                </a:solidFill>
                <a:latin typeface="Consolas"/>
              </a:rP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50292"/>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630936"/>
            <a:ext cx="256032" cy="32004"/>
          </a:xfrm>
          <a:prstGeom prst="rect">
            <a:avLst/>
          </a:prstGeom>
          <a:solidFill>
            <a:srgbClr val="2F9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521207"/>
            <a:ext cx="8229600" cy="292608"/>
          </a:xfrm>
          <a:prstGeom prst="rect">
            <a:avLst/>
          </a:prstGeom>
          <a:noFill/>
        </p:spPr>
        <p:txBody>
          <a:bodyPr wrap="square" anchor="t" lIns="0" rIns="0" tIns="0" bIns="0">
            <a:spAutoFit/>
          </a:bodyPr>
          <a:lstStyle/>
          <a:p>
            <a:pPr algn="l">
              <a:lnSpc>
                <a:spcPct val="106000"/>
              </a:lnSpc>
            </a:pPr>
            <a:r>
              <a:rPr sz="1150" b="1" i="0">
                <a:solidFill>
                  <a:srgbClr val="2F9499"/>
                </a:solidFill>
                <a:latin typeface="Segoe UI"/>
              </a:rPr>
              <a:t>BUSINESS MODEL</a:t>
            </a:r>
          </a:p>
        </p:txBody>
      </p:sp>
      <p:sp>
        <p:nvSpPr>
          <p:cNvPr id="6" name="TextBox 5"/>
          <p:cNvSpPr txBox="1"/>
          <p:nvPr/>
        </p:nvSpPr>
        <p:spPr>
          <a:xfrm>
            <a:off x="841248" y="914400"/>
            <a:ext cx="10424160" cy="1097280"/>
          </a:xfrm>
          <a:prstGeom prst="rect">
            <a:avLst/>
          </a:prstGeom>
          <a:noFill/>
        </p:spPr>
        <p:txBody>
          <a:bodyPr wrap="square" anchor="t" lIns="0" rIns="0" tIns="0" bIns="0">
            <a:spAutoFit/>
          </a:bodyPr>
          <a:lstStyle/>
          <a:p>
            <a:pPr algn="l">
              <a:lnSpc>
                <a:spcPct val="105000"/>
              </a:lnSpc>
            </a:pPr>
            <a:r>
              <a:rPr sz="3400" b="1" i="0">
                <a:solidFill>
                  <a:srgbClr val="0D2A36"/>
                </a:solidFill>
                <a:latin typeface="Segoe UI"/>
              </a:rPr>
              <a:t>Simple subscriptions, plus a marketplace that compounds.</a:t>
            </a:r>
          </a:p>
        </p:txBody>
      </p:sp>
      <p:sp>
        <p:nvSpPr>
          <p:cNvPr id="7" name="Rectangle 6"/>
          <p:cNvSpPr/>
          <p:nvPr/>
        </p:nvSpPr>
        <p:spPr>
          <a:xfrm>
            <a:off x="841248" y="2057400"/>
            <a:ext cx="54864" cy="457200"/>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29968"/>
            <a:ext cx="10058400" cy="457200"/>
          </a:xfrm>
          <a:prstGeom prst="rect">
            <a:avLst/>
          </a:prstGeom>
          <a:noFill/>
        </p:spPr>
        <p:txBody>
          <a:bodyPr wrap="square" anchor="t" lIns="0" rIns="0" tIns="0" bIns="0">
            <a:spAutoFit/>
          </a:bodyPr>
          <a:lstStyle/>
          <a:p>
            <a:pPr algn="l">
              <a:lnSpc>
                <a:spcPct val="106000"/>
              </a:lnSpc>
            </a:pPr>
            <a:r>
              <a:rPr sz="1700" b="1" i="0">
                <a:solidFill>
                  <a:srgbClr val="0D2A36"/>
                </a:solidFill>
                <a:latin typeface="Segoe UI"/>
              </a:rPr>
              <a:t>You pay OpenAI for the AI. You pay UnClick for the agent infrastructure.</a:t>
            </a:r>
          </a:p>
        </p:txBody>
      </p:sp>
      <p:sp>
        <p:nvSpPr>
          <p:cNvPr id="9" name="Rounded Rectangle 8"/>
          <p:cNvSpPr/>
          <p:nvPr/>
        </p:nvSpPr>
        <p:spPr>
          <a:xfrm>
            <a:off x="841248" y="2926080"/>
            <a:ext cx="2487168" cy="224028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200400"/>
            <a:ext cx="2029968" cy="274320"/>
          </a:xfrm>
          <a:prstGeom prst="rect">
            <a:avLst/>
          </a:prstGeom>
          <a:noFill/>
        </p:spPr>
        <p:txBody>
          <a:bodyPr wrap="square" anchor="t" lIns="0" rIns="0" tIns="0" bIns="0">
            <a:spAutoFit/>
          </a:bodyPr>
          <a:lstStyle/>
          <a:p>
            <a:pPr algn="l">
              <a:lnSpc>
                <a:spcPct val="106000"/>
              </a:lnSpc>
            </a:pPr>
            <a:r>
              <a:rPr sz="1200" b="1" i="0">
                <a:solidFill>
                  <a:srgbClr val="2F9499"/>
                </a:solidFill>
                <a:latin typeface="Segoe UI"/>
              </a:rPr>
              <a:t>FREE</a:t>
            </a:r>
          </a:p>
        </p:txBody>
      </p:sp>
      <p:sp>
        <p:nvSpPr>
          <p:cNvPr id="11" name="TextBox 10"/>
          <p:cNvSpPr txBox="1"/>
          <p:nvPr/>
        </p:nvSpPr>
        <p:spPr>
          <a:xfrm>
            <a:off x="1097280" y="3493008"/>
            <a:ext cx="2029968" cy="548640"/>
          </a:xfrm>
          <a:prstGeom prst="rect">
            <a:avLst/>
          </a:prstGeom>
          <a:noFill/>
        </p:spPr>
        <p:txBody>
          <a:bodyPr wrap="square" anchor="t" lIns="0" rIns="0" tIns="0" bIns="0">
            <a:spAutoFit/>
          </a:bodyPr>
          <a:lstStyle/>
          <a:p>
            <a:pPr algn="l">
              <a:lnSpc>
                <a:spcPct val="106000"/>
              </a:lnSpc>
            </a:pPr>
            <a:r>
              <a:rPr sz="3000" b="1" i="0">
                <a:solidFill>
                  <a:srgbClr val="0D2A36"/>
                </a:solidFill>
                <a:latin typeface="Consolas"/>
              </a:rPr>
              <a:t>$0</a:t>
            </a:r>
            <a:r>
              <a:rPr sz="3000" b="1" i="0">
                <a:solidFill>
                  <a:srgbClr val="6F8B95"/>
                </a:solidFill>
                <a:latin typeface="Consolas"/>
              </a:rPr>
              <a:t/>
            </a:r>
          </a:p>
        </p:txBody>
      </p:sp>
      <p:sp>
        <p:nvSpPr>
          <p:cNvPr id="12" name="TextBox 11"/>
          <p:cNvSpPr txBox="1"/>
          <p:nvPr/>
        </p:nvSpPr>
        <p:spPr>
          <a:xfrm>
            <a:off x="1097280" y="4224528"/>
            <a:ext cx="2029968" cy="868680"/>
          </a:xfrm>
          <a:prstGeom prst="rect">
            <a:avLst/>
          </a:prstGeom>
          <a:noFill/>
        </p:spPr>
        <p:txBody>
          <a:bodyPr wrap="square" anchor="t" lIns="0" rIns="0" tIns="0" bIns="0">
            <a:spAutoFit/>
          </a:bodyPr>
          <a:lstStyle/>
          <a:p>
            <a:pPr algn="l">
              <a:lnSpc>
                <a:spcPct val="120000"/>
              </a:lnSpc>
              <a:spcAft>
                <a:spcPts val="600"/>
              </a:spcAft>
            </a:pPr>
            <a:r>
              <a:rPr sz="1150" b="0">
                <a:solidFill>
                  <a:srgbClr val="6F8B95"/>
                </a:solidFill>
                <a:latin typeface="Segoe UI"/>
              </a:rPr>
              <a:t>The full toolbox. 100 calls a day. Self-hosted memory.</a:t>
            </a:r>
          </a:p>
        </p:txBody>
      </p:sp>
      <p:sp>
        <p:nvSpPr>
          <p:cNvPr id="13" name="Rounded Rectangle 12"/>
          <p:cNvSpPr/>
          <p:nvPr/>
        </p:nvSpPr>
        <p:spPr>
          <a:xfrm>
            <a:off x="3493008" y="2926080"/>
            <a:ext cx="2487168" cy="2240280"/>
          </a:xfrm>
          <a:prstGeom prst="roundRect">
            <a:avLst>
              <a:gd name="adj" fmla="val 9000"/>
            </a:avLst>
          </a:prstGeom>
          <a:solidFill>
            <a:srgbClr val="FFFFFF"/>
          </a:solidFill>
          <a:ln w="25400">
            <a:solidFill>
              <a:srgbClr val="61C1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767328" y="2779776"/>
            <a:ext cx="1371600" cy="292608"/>
          </a:xfrm>
          <a:prstGeom prst="roundRect">
            <a:avLst>
              <a:gd name="adj" fmla="val 50000"/>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67328" y="2770632"/>
            <a:ext cx="1371600" cy="292608"/>
          </a:xfrm>
          <a:prstGeom prst="rect">
            <a:avLst/>
          </a:prstGeom>
          <a:noFill/>
        </p:spPr>
        <p:txBody>
          <a:bodyPr wrap="square" anchor="ctr" lIns="0" rIns="0" tIns="0" bIns="0">
            <a:spAutoFit/>
          </a:bodyPr>
          <a:lstStyle/>
          <a:p>
            <a:pPr algn="ctr">
              <a:lnSpc>
                <a:spcPct val="106000"/>
              </a:lnSpc>
            </a:pPr>
            <a:r>
              <a:rPr sz="1000" b="1" i="0">
                <a:solidFill>
                  <a:srgbClr val="06202C"/>
                </a:solidFill>
                <a:latin typeface="Segoe UI"/>
              </a:rPr>
              <a:t>Most popular</a:t>
            </a:r>
          </a:p>
        </p:txBody>
      </p:sp>
      <p:sp>
        <p:nvSpPr>
          <p:cNvPr id="16" name="TextBox 15"/>
          <p:cNvSpPr txBox="1"/>
          <p:nvPr/>
        </p:nvSpPr>
        <p:spPr>
          <a:xfrm>
            <a:off x="3749040" y="3200400"/>
            <a:ext cx="2029968" cy="274320"/>
          </a:xfrm>
          <a:prstGeom prst="rect">
            <a:avLst/>
          </a:prstGeom>
          <a:noFill/>
        </p:spPr>
        <p:txBody>
          <a:bodyPr wrap="square" anchor="t" lIns="0" rIns="0" tIns="0" bIns="0">
            <a:spAutoFit/>
          </a:bodyPr>
          <a:lstStyle/>
          <a:p>
            <a:pPr algn="l">
              <a:lnSpc>
                <a:spcPct val="106000"/>
              </a:lnSpc>
            </a:pPr>
            <a:r>
              <a:rPr sz="1200" b="1" i="0">
                <a:solidFill>
                  <a:srgbClr val="2F9499"/>
                </a:solidFill>
                <a:latin typeface="Segoe UI"/>
              </a:rPr>
              <a:t>PRO</a:t>
            </a:r>
          </a:p>
        </p:txBody>
      </p:sp>
      <p:sp>
        <p:nvSpPr>
          <p:cNvPr id="17" name="TextBox 16"/>
          <p:cNvSpPr txBox="1"/>
          <p:nvPr/>
        </p:nvSpPr>
        <p:spPr>
          <a:xfrm>
            <a:off x="3749040" y="3493008"/>
            <a:ext cx="2029968" cy="548640"/>
          </a:xfrm>
          <a:prstGeom prst="rect">
            <a:avLst/>
          </a:prstGeom>
          <a:noFill/>
        </p:spPr>
        <p:txBody>
          <a:bodyPr wrap="square" anchor="t" lIns="0" rIns="0" tIns="0" bIns="0">
            <a:spAutoFit/>
          </a:bodyPr>
          <a:lstStyle/>
          <a:p>
            <a:pPr algn="l">
              <a:lnSpc>
                <a:spcPct val="106000"/>
              </a:lnSpc>
            </a:pPr>
            <a:r>
              <a:rPr sz="3000" b="1" i="0">
                <a:solidFill>
                  <a:srgbClr val="0D2A36"/>
                </a:solidFill>
                <a:latin typeface="Consolas"/>
              </a:rPr>
              <a:t>$29</a:t>
            </a:r>
            <a:r>
              <a:rPr sz="3000" b="1" i="0">
                <a:solidFill>
                  <a:srgbClr val="6F8B95"/>
                </a:solidFill>
                <a:latin typeface="Consolas"/>
              </a:rPr>
              <a:t>/mo</a:t>
            </a:r>
          </a:p>
        </p:txBody>
      </p:sp>
      <p:sp>
        <p:nvSpPr>
          <p:cNvPr id="18" name="TextBox 17"/>
          <p:cNvSpPr txBox="1"/>
          <p:nvPr/>
        </p:nvSpPr>
        <p:spPr>
          <a:xfrm>
            <a:off x="3749040" y="4224528"/>
            <a:ext cx="2029968" cy="868680"/>
          </a:xfrm>
          <a:prstGeom prst="rect">
            <a:avLst/>
          </a:prstGeom>
          <a:noFill/>
        </p:spPr>
        <p:txBody>
          <a:bodyPr wrap="square" anchor="t" lIns="0" rIns="0" tIns="0" bIns="0">
            <a:spAutoFit/>
          </a:bodyPr>
          <a:lstStyle/>
          <a:p>
            <a:pPr algn="l">
              <a:lnSpc>
                <a:spcPct val="120000"/>
              </a:lnSpc>
              <a:spcAft>
                <a:spcPts val="600"/>
              </a:spcAft>
            </a:pPr>
            <a:r>
              <a:rPr sz="1150" b="0">
                <a:solidFill>
                  <a:srgbClr val="6F8B95"/>
                </a:solidFill>
                <a:latin typeface="Segoe UI"/>
              </a:rPr>
              <a:t>Unlimited calls. Managed memory with nightly fact extraction and a dashboard.</a:t>
            </a:r>
          </a:p>
        </p:txBody>
      </p:sp>
      <p:sp>
        <p:nvSpPr>
          <p:cNvPr id="19" name="Rounded Rectangle 18"/>
          <p:cNvSpPr/>
          <p:nvPr/>
        </p:nvSpPr>
        <p:spPr>
          <a:xfrm>
            <a:off x="6144768" y="2926080"/>
            <a:ext cx="2487168" cy="224028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200400"/>
            <a:ext cx="2029968" cy="274320"/>
          </a:xfrm>
          <a:prstGeom prst="rect">
            <a:avLst/>
          </a:prstGeom>
          <a:noFill/>
        </p:spPr>
        <p:txBody>
          <a:bodyPr wrap="square" anchor="t" lIns="0" rIns="0" tIns="0" bIns="0">
            <a:spAutoFit/>
          </a:bodyPr>
          <a:lstStyle/>
          <a:p>
            <a:pPr algn="l">
              <a:lnSpc>
                <a:spcPct val="106000"/>
              </a:lnSpc>
            </a:pPr>
            <a:r>
              <a:rPr sz="1200" b="1" i="0">
                <a:solidFill>
                  <a:srgbClr val="2F9499"/>
                </a:solidFill>
                <a:latin typeface="Segoe UI"/>
              </a:rPr>
              <a:t>TEAM</a:t>
            </a:r>
          </a:p>
        </p:txBody>
      </p:sp>
      <p:sp>
        <p:nvSpPr>
          <p:cNvPr id="21" name="TextBox 20"/>
          <p:cNvSpPr txBox="1"/>
          <p:nvPr/>
        </p:nvSpPr>
        <p:spPr>
          <a:xfrm>
            <a:off x="6400800" y="3493008"/>
            <a:ext cx="2029968" cy="548640"/>
          </a:xfrm>
          <a:prstGeom prst="rect">
            <a:avLst/>
          </a:prstGeom>
          <a:noFill/>
        </p:spPr>
        <p:txBody>
          <a:bodyPr wrap="square" anchor="t" lIns="0" rIns="0" tIns="0" bIns="0">
            <a:spAutoFit/>
          </a:bodyPr>
          <a:lstStyle/>
          <a:p>
            <a:pPr algn="l">
              <a:lnSpc>
                <a:spcPct val="106000"/>
              </a:lnSpc>
            </a:pPr>
            <a:r>
              <a:rPr sz="3000" b="1" i="0">
                <a:solidFill>
                  <a:srgbClr val="0D2A36"/>
                </a:solidFill>
                <a:latin typeface="Consolas"/>
              </a:rPr>
              <a:t>$79</a:t>
            </a:r>
            <a:r>
              <a:rPr sz="3000" b="1" i="0">
                <a:solidFill>
                  <a:srgbClr val="6F8B95"/>
                </a:solidFill>
                <a:latin typeface="Consolas"/>
              </a:rPr>
              <a:t>/mo</a:t>
            </a:r>
          </a:p>
        </p:txBody>
      </p:sp>
      <p:sp>
        <p:nvSpPr>
          <p:cNvPr id="22" name="TextBox 21"/>
          <p:cNvSpPr txBox="1"/>
          <p:nvPr/>
        </p:nvSpPr>
        <p:spPr>
          <a:xfrm>
            <a:off x="6400800" y="4224528"/>
            <a:ext cx="2029968" cy="868680"/>
          </a:xfrm>
          <a:prstGeom prst="rect">
            <a:avLst/>
          </a:prstGeom>
          <a:noFill/>
        </p:spPr>
        <p:txBody>
          <a:bodyPr wrap="square" anchor="t" lIns="0" rIns="0" tIns="0" bIns="0">
            <a:spAutoFit/>
          </a:bodyPr>
          <a:lstStyle/>
          <a:p>
            <a:pPr algn="l">
              <a:lnSpc>
                <a:spcPct val="120000"/>
              </a:lnSpc>
              <a:spcAft>
                <a:spcPts val="600"/>
              </a:spcAft>
            </a:pPr>
            <a:r>
              <a:rPr sz="1150" b="0">
                <a:solidFill>
                  <a:srgbClr val="6F8B95"/>
                </a:solidFill>
                <a:latin typeface="Segoe UI"/>
              </a:rPr>
              <a:t>Up to 5 seats. Shared business context and team observability.</a:t>
            </a:r>
          </a:p>
        </p:txBody>
      </p:sp>
      <p:sp>
        <p:nvSpPr>
          <p:cNvPr id="23" name="Rounded Rectangle 22"/>
          <p:cNvSpPr/>
          <p:nvPr/>
        </p:nvSpPr>
        <p:spPr>
          <a:xfrm>
            <a:off x="8796528" y="2926080"/>
            <a:ext cx="2487168" cy="224028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0" y="3200400"/>
            <a:ext cx="2029968" cy="274320"/>
          </a:xfrm>
          <a:prstGeom prst="rect">
            <a:avLst/>
          </a:prstGeom>
          <a:noFill/>
        </p:spPr>
        <p:txBody>
          <a:bodyPr wrap="square" anchor="t" lIns="0" rIns="0" tIns="0" bIns="0">
            <a:spAutoFit/>
          </a:bodyPr>
          <a:lstStyle/>
          <a:p>
            <a:pPr algn="l">
              <a:lnSpc>
                <a:spcPct val="106000"/>
              </a:lnSpc>
            </a:pPr>
            <a:r>
              <a:rPr sz="1200" b="1" i="0">
                <a:solidFill>
                  <a:srgbClr val="2F9499"/>
                </a:solidFill>
                <a:latin typeface="Segoe UI"/>
              </a:rPr>
              <a:t>ENTERPRISE</a:t>
            </a:r>
          </a:p>
        </p:txBody>
      </p:sp>
      <p:sp>
        <p:nvSpPr>
          <p:cNvPr id="25" name="TextBox 24"/>
          <p:cNvSpPr txBox="1"/>
          <p:nvPr/>
        </p:nvSpPr>
        <p:spPr>
          <a:xfrm>
            <a:off x="9052560" y="3493008"/>
            <a:ext cx="2029968" cy="548640"/>
          </a:xfrm>
          <a:prstGeom prst="rect">
            <a:avLst/>
          </a:prstGeom>
          <a:noFill/>
        </p:spPr>
        <p:txBody>
          <a:bodyPr wrap="square" anchor="t" lIns="0" rIns="0" tIns="0" bIns="0">
            <a:spAutoFit/>
          </a:bodyPr>
          <a:lstStyle/>
          <a:p>
            <a:pPr algn="l">
              <a:lnSpc>
                <a:spcPct val="106000"/>
              </a:lnSpc>
            </a:pPr>
            <a:r>
              <a:rPr sz="3000" b="1" i="0">
                <a:solidFill>
                  <a:srgbClr val="0D2A36"/>
                </a:solidFill>
                <a:latin typeface="Consolas"/>
              </a:rPr>
              <a:t>Custom</a:t>
            </a:r>
            <a:r>
              <a:rPr sz="3000" b="1" i="0">
                <a:solidFill>
                  <a:srgbClr val="6F8B95"/>
                </a:solidFill>
                <a:latin typeface="Consolas"/>
              </a:rPr>
              <a:t/>
            </a:r>
          </a:p>
        </p:txBody>
      </p:sp>
      <p:sp>
        <p:nvSpPr>
          <p:cNvPr id="26" name="TextBox 25"/>
          <p:cNvSpPr txBox="1"/>
          <p:nvPr/>
        </p:nvSpPr>
        <p:spPr>
          <a:xfrm>
            <a:off x="9052560" y="4224528"/>
            <a:ext cx="2029968" cy="868680"/>
          </a:xfrm>
          <a:prstGeom prst="rect">
            <a:avLst/>
          </a:prstGeom>
          <a:noFill/>
        </p:spPr>
        <p:txBody>
          <a:bodyPr wrap="square" anchor="t" lIns="0" rIns="0" tIns="0" bIns="0">
            <a:spAutoFit/>
          </a:bodyPr>
          <a:lstStyle/>
          <a:p>
            <a:pPr algn="l">
              <a:lnSpc>
                <a:spcPct val="120000"/>
              </a:lnSpc>
              <a:spcAft>
                <a:spcPts val="600"/>
              </a:spcAft>
            </a:pPr>
            <a:r>
              <a:rPr sz="1150" b="0">
                <a:solidFill>
                  <a:srgbClr val="6F8B95"/>
                </a:solidFill>
                <a:latin typeface="Segoe UI"/>
              </a:rPr>
              <a:t>SSO, on-prem and custom tooling. Sales-led.</a:t>
            </a:r>
          </a:p>
        </p:txBody>
      </p:sp>
      <p:sp>
        <p:nvSpPr>
          <p:cNvPr id="27" name="TextBox 26"/>
          <p:cNvSpPr txBox="1"/>
          <p:nvPr/>
        </p:nvSpPr>
        <p:spPr>
          <a:xfrm>
            <a:off x="841248" y="5440680"/>
            <a:ext cx="10424160" cy="822960"/>
          </a:xfrm>
          <a:prstGeom prst="rect">
            <a:avLst/>
          </a:prstGeom>
          <a:noFill/>
        </p:spPr>
        <p:txBody>
          <a:bodyPr wrap="square" anchor="t" lIns="0" rIns="0" tIns="0" bIns="0">
            <a:spAutoFit/>
          </a:bodyPr>
          <a:lstStyle/>
          <a:p>
            <a:pPr algn="l">
              <a:lnSpc>
                <a:spcPct val="125000"/>
              </a:lnSpc>
              <a:spcAft>
                <a:spcPts val="600"/>
              </a:spcAft>
            </a:pPr>
            <a:r>
              <a:rPr sz="1250" b="1">
                <a:solidFill>
                  <a:srgbClr val="2F9499"/>
                </a:solidFill>
                <a:latin typeface="Segoe UI"/>
              </a:rPr>
              <a:t>The second engine: </a:t>
            </a:r>
            <a:r>
              <a:rPr sz="1250" b="0">
                <a:solidFill>
                  <a:srgbClr val="6F8B95"/>
                </a:solidFill>
                <a:latin typeface="Segoe UI"/>
              </a:rPr>
              <a:t>a developer marketplace. Builders ship tools and keep 80% of what they earn; UnClick takes 20%. Subscription-only billing means we never resell AI tokens, so provider price swings cannot touch our margin.</a:t>
            </a:r>
          </a:p>
        </p:txBody>
      </p:sp>
      <p:sp>
        <p:nvSpPr>
          <p:cNvPr id="28" name="TextBox 27"/>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7FA6B0"/>
                </a:solidFill>
                <a:latin typeface="Segoe UI"/>
              </a:rPr>
              <a:t>UnClick  ·  Where AI belongs. Humans welcome.</a:t>
            </a:r>
          </a:p>
        </p:txBody>
      </p:sp>
      <p:sp>
        <p:nvSpPr>
          <p:cNvPr id="29" name="TextBox 28"/>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7FA6B0"/>
                </a:solidFill>
                <a:latin typeface="Consolas"/>
              </a:rP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50292"/>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630936"/>
            <a:ext cx="256032" cy="32004"/>
          </a:xfrm>
          <a:prstGeom prst="rect">
            <a:avLst/>
          </a:prstGeom>
          <a:solidFill>
            <a:srgbClr val="2F9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521207"/>
            <a:ext cx="8229600" cy="292608"/>
          </a:xfrm>
          <a:prstGeom prst="rect">
            <a:avLst/>
          </a:prstGeom>
          <a:noFill/>
        </p:spPr>
        <p:txBody>
          <a:bodyPr wrap="square" anchor="t" lIns="0" rIns="0" tIns="0" bIns="0">
            <a:spAutoFit/>
          </a:bodyPr>
          <a:lstStyle/>
          <a:p>
            <a:pPr algn="l">
              <a:lnSpc>
                <a:spcPct val="106000"/>
              </a:lnSpc>
            </a:pPr>
            <a:r>
              <a:rPr sz="1150" b="1" i="0">
                <a:solidFill>
                  <a:srgbClr val="2F9499"/>
                </a:solidFill>
                <a:latin typeface="Segoe UI"/>
              </a:rPr>
              <a:t>MARKET</a:t>
            </a:r>
          </a:p>
        </p:txBody>
      </p:sp>
      <p:sp>
        <p:nvSpPr>
          <p:cNvPr id="6" name="TextBox 5"/>
          <p:cNvSpPr txBox="1"/>
          <p:nvPr/>
        </p:nvSpPr>
        <p:spPr>
          <a:xfrm>
            <a:off x="841248" y="960120"/>
            <a:ext cx="10424160" cy="914400"/>
          </a:xfrm>
          <a:prstGeom prst="rect">
            <a:avLst/>
          </a:prstGeom>
          <a:noFill/>
        </p:spPr>
        <p:txBody>
          <a:bodyPr wrap="square" anchor="t" lIns="0" rIns="0" tIns="0" bIns="0">
            <a:spAutoFit/>
          </a:bodyPr>
          <a:lstStyle/>
          <a:p>
            <a:pPr algn="l">
              <a:lnSpc>
                <a:spcPct val="106000"/>
              </a:lnSpc>
            </a:pPr>
            <a:r>
              <a:rPr sz="3800" b="1" i="0">
                <a:solidFill>
                  <a:srgbClr val="0D2A36"/>
                </a:solidFill>
                <a:latin typeface="Segoe UI"/>
              </a:rPr>
              <a:t>Every agent user. </a:t>
            </a:r>
            <a:r>
              <a:rPr sz="3800" b="1" i="0">
                <a:solidFill>
                  <a:srgbClr val="2F9499"/>
                </a:solidFill>
                <a:latin typeface="Segoe UI"/>
              </a:rPr>
              <a:t>Whichever AI they use.</a:t>
            </a:r>
          </a:p>
        </p:txBody>
      </p:sp>
      <p:sp>
        <p:nvSpPr>
          <p:cNvPr id="7" name="Rounded Rectangle 6"/>
          <p:cNvSpPr/>
          <p:nvPr/>
        </p:nvSpPr>
        <p:spPr>
          <a:xfrm>
            <a:off x="841248" y="2148840"/>
            <a:ext cx="5074920" cy="219456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61288" y="2423160"/>
            <a:ext cx="4434840" cy="457200"/>
          </a:xfrm>
          <a:prstGeom prst="rect">
            <a:avLst/>
          </a:prstGeom>
          <a:noFill/>
        </p:spPr>
        <p:txBody>
          <a:bodyPr wrap="square" anchor="t" lIns="0" rIns="0" tIns="0" bIns="0">
            <a:spAutoFit/>
          </a:bodyPr>
          <a:lstStyle/>
          <a:p>
            <a:pPr algn="l">
              <a:lnSpc>
                <a:spcPct val="106000"/>
              </a:lnSpc>
            </a:pPr>
            <a:r>
              <a:rPr sz="2100" b="1" i="0">
                <a:solidFill>
                  <a:srgbClr val="0D2A36"/>
                </a:solidFill>
                <a:latin typeface="Segoe UI"/>
              </a:rPr>
              <a:t>Businesses &amp; creators</a:t>
            </a:r>
          </a:p>
        </p:txBody>
      </p:sp>
      <p:sp>
        <p:nvSpPr>
          <p:cNvPr id="9" name="TextBox 8"/>
          <p:cNvSpPr txBox="1"/>
          <p:nvPr/>
        </p:nvSpPr>
        <p:spPr>
          <a:xfrm>
            <a:off x="1161288" y="3063240"/>
            <a:ext cx="4434840" cy="1097280"/>
          </a:xfrm>
          <a:prstGeom prst="rect">
            <a:avLst/>
          </a:prstGeom>
          <a:noFill/>
        </p:spPr>
        <p:txBody>
          <a:bodyPr wrap="square" anchor="t" lIns="0" rIns="0" tIns="0" bIns="0">
            <a:spAutoFit/>
          </a:bodyPr>
          <a:lstStyle/>
          <a:p>
            <a:pPr algn="l">
              <a:lnSpc>
                <a:spcPct val="128000"/>
              </a:lnSpc>
              <a:spcAft>
                <a:spcPts val="600"/>
              </a:spcAft>
            </a:pPr>
            <a:r>
              <a:rPr sz="1450" b="0">
                <a:solidFill>
                  <a:srgbClr val="3C5763"/>
                </a:solidFill>
                <a:latin typeface="Segoe UI"/>
              </a:rPr>
              <a:t>Millions already pay for Claude, ChatGPT and Cursor and do not want to wire up six servers by hand. They want their agent to just work.</a:t>
            </a:r>
          </a:p>
        </p:txBody>
      </p:sp>
      <p:sp>
        <p:nvSpPr>
          <p:cNvPr id="10" name="Rounded Rectangle 9"/>
          <p:cNvSpPr/>
          <p:nvPr/>
        </p:nvSpPr>
        <p:spPr>
          <a:xfrm>
            <a:off x="6281928" y="2148840"/>
            <a:ext cx="5074920" cy="2194560"/>
          </a:xfrm>
          <a:prstGeom prst="roundRect">
            <a:avLst>
              <a:gd name="adj" fmla="val 9000"/>
            </a:avLst>
          </a:prstGeom>
          <a:solidFill>
            <a:srgbClr val="FFFFFF"/>
          </a:solidFill>
          <a:ln w="12700">
            <a:solidFill>
              <a:srgbClr val="D6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1968" y="2423160"/>
            <a:ext cx="4434840" cy="457200"/>
          </a:xfrm>
          <a:prstGeom prst="rect">
            <a:avLst/>
          </a:prstGeom>
          <a:noFill/>
        </p:spPr>
        <p:txBody>
          <a:bodyPr wrap="square" anchor="t" lIns="0" rIns="0" tIns="0" bIns="0">
            <a:spAutoFit/>
          </a:bodyPr>
          <a:lstStyle/>
          <a:p>
            <a:pPr algn="l">
              <a:lnSpc>
                <a:spcPct val="106000"/>
              </a:lnSpc>
            </a:pPr>
            <a:r>
              <a:rPr sz="2100" b="1" i="0">
                <a:solidFill>
                  <a:srgbClr val="0D2A36"/>
                </a:solidFill>
                <a:latin typeface="Segoe UI"/>
              </a:rPr>
              <a:t>Developers</a:t>
            </a:r>
          </a:p>
        </p:txBody>
      </p:sp>
      <p:sp>
        <p:nvSpPr>
          <p:cNvPr id="12" name="TextBox 11"/>
          <p:cNvSpPr txBox="1"/>
          <p:nvPr/>
        </p:nvSpPr>
        <p:spPr>
          <a:xfrm>
            <a:off x="6601968" y="3063240"/>
            <a:ext cx="4434840" cy="1097280"/>
          </a:xfrm>
          <a:prstGeom prst="rect">
            <a:avLst/>
          </a:prstGeom>
          <a:noFill/>
        </p:spPr>
        <p:txBody>
          <a:bodyPr wrap="square" anchor="t" lIns="0" rIns="0" tIns="0" bIns="0">
            <a:spAutoFit/>
          </a:bodyPr>
          <a:lstStyle/>
          <a:p>
            <a:pPr algn="l">
              <a:lnSpc>
                <a:spcPct val="128000"/>
              </a:lnSpc>
              <a:spcAft>
                <a:spcPts val="600"/>
              </a:spcAft>
            </a:pPr>
            <a:r>
              <a:rPr sz="1450" b="0">
                <a:solidFill>
                  <a:srgbClr val="3C5763"/>
                </a:solidFill>
                <a:latin typeface="Segoe UI"/>
              </a:rPr>
              <a:t>Builders who want distribution and a way to earn from the tools they make. UnClick is the shelf and the checkout, all at once.</a:t>
            </a:r>
          </a:p>
        </p:txBody>
      </p:sp>
      <p:sp>
        <p:nvSpPr>
          <p:cNvPr id="13" name="Rounded Rectangle 12"/>
          <p:cNvSpPr/>
          <p:nvPr/>
        </p:nvSpPr>
        <p:spPr>
          <a:xfrm>
            <a:off x="841248" y="4663440"/>
            <a:ext cx="10515600" cy="1234440"/>
          </a:xfrm>
          <a:prstGeom prst="roundRect">
            <a:avLst>
              <a:gd name="adj" fmla="val 9000"/>
            </a:avLst>
          </a:prstGeom>
          <a:solidFill>
            <a:srgbClr val="E9F6F6"/>
          </a:solidFill>
          <a:ln w="12700">
            <a:solidFill>
              <a:srgbClr val="B9E6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07008" y="4892040"/>
            <a:ext cx="9784080" cy="822960"/>
          </a:xfrm>
          <a:prstGeom prst="rect">
            <a:avLst/>
          </a:prstGeom>
          <a:noFill/>
        </p:spPr>
        <p:txBody>
          <a:bodyPr wrap="square" anchor="t" lIns="0" rIns="0" tIns="0" bIns="0">
            <a:spAutoFit/>
          </a:bodyPr>
          <a:lstStyle/>
          <a:p>
            <a:pPr algn="l">
              <a:lnSpc>
                <a:spcPct val="130000"/>
              </a:lnSpc>
              <a:spcAft>
                <a:spcPts val="600"/>
              </a:spcAft>
            </a:pPr>
            <a:r>
              <a:rPr sz="1600" b="0">
                <a:solidFill>
                  <a:srgbClr val="0D2A36"/>
                </a:solidFill>
                <a:latin typeface="Segoe UI"/>
              </a:rPr>
              <a:t>Because we are the </a:t>
            </a:r>
            <a:r>
              <a:rPr sz="1600" b="1">
                <a:solidFill>
                  <a:srgbClr val="0D2A36"/>
                </a:solidFill>
                <a:latin typeface="Segoe UI"/>
              </a:rPr>
              <a:t>substrate, not a competitor</a:t>
            </a:r>
            <a:r>
              <a:rPr sz="1600" b="0">
                <a:solidFill>
                  <a:srgbClr val="0D2A36"/>
                </a:solidFill>
                <a:latin typeface="Segoe UI"/>
              </a:rPr>
              <a:t>, our market is the entire agent ecosystem, and it grows every single time a new harness or a new model launches.</a:t>
            </a:r>
          </a:p>
        </p:txBody>
      </p:sp>
      <p:sp>
        <p:nvSpPr>
          <p:cNvPr id="15" name="TextBox 14"/>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7FA6B0"/>
                </a:solidFill>
                <a:latin typeface="Segoe UI"/>
              </a:rPr>
              <a:t>UnClick  ·  Where AI belongs. Humans welcome.</a:t>
            </a:r>
          </a:p>
        </p:txBody>
      </p:sp>
      <p:sp>
        <p:nvSpPr>
          <p:cNvPr id="16" name="TextBox 15"/>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7FA6B0"/>
                </a:solidFill>
                <a:latin typeface="Consolas"/>
              </a:rPr>
              <a:t>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50292"/>
          </a:xfrm>
          <a:prstGeom prst="rect">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630936"/>
            <a:ext cx="256032" cy="32004"/>
          </a:xfrm>
          <a:prstGeom prst="rect">
            <a:avLst/>
          </a:prstGeom>
          <a:solidFill>
            <a:srgbClr val="2F9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521207"/>
            <a:ext cx="8229600" cy="292608"/>
          </a:xfrm>
          <a:prstGeom prst="rect">
            <a:avLst/>
          </a:prstGeom>
          <a:noFill/>
        </p:spPr>
        <p:txBody>
          <a:bodyPr wrap="square" anchor="t" lIns="0" rIns="0" tIns="0" bIns="0">
            <a:spAutoFit/>
          </a:bodyPr>
          <a:lstStyle/>
          <a:p>
            <a:pPr algn="l">
              <a:lnSpc>
                <a:spcPct val="106000"/>
              </a:lnSpc>
            </a:pPr>
            <a:r>
              <a:rPr sz="1150" b="1" i="0">
                <a:solidFill>
                  <a:srgbClr val="2F9499"/>
                </a:solidFill>
                <a:latin typeface="Segoe UI"/>
              </a:rPr>
              <a:t>WHERE WE ARE TODAY</a:t>
            </a:r>
          </a:p>
        </p:txBody>
      </p:sp>
      <p:sp>
        <p:nvSpPr>
          <p:cNvPr id="6" name="TextBox 5"/>
          <p:cNvSpPr txBox="1"/>
          <p:nvPr/>
        </p:nvSpPr>
        <p:spPr>
          <a:xfrm>
            <a:off x="841248" y="960120"/>
            <a:ext cx="10424160" cy="914400"/>
          </a:xfrm>
          <a:prstGeom prst="rect">
            <a:avLst/>
          </a:prstGeom>
          <a:noFill/>
        </p:spPr>
        <p:txBody>
          <a:bodyPr wrap="square" anchor="t" lIns="0" rIns="0" tIns="0" bIns="0">
            <a:spAutoFit/>
          </a:bodyPr>
          <a:lstStyle/>
          <a:p>
            <a:pPr algn="l">
              <a:lnSpc>
                <a:spcPct val="106000"/>
              </a:lnSpc>
            </a:pPr>
            <a:r>
              <a:rPr sz="3800" b="1" i="0">
                <a:solidFill>
                  <a:srgbClr val="0D2A36"/>
                </a:solidFill>
                <a:latin typeface="Segoe UI"/>
              </a:rPr>
              <a:t>Live, in the wild, at </a:t>
            </a:r>
            <a:r>
              <a:rPr sz="3800" b="1" i="0">
                <a:solidFill>
                  <a:srgbClr val="2F9499"/>
                </a:solidFill>
                <a:latin typeface="Segoe UI"/>
              </a:rPr>
              <a:t>unclick.world</a:t>
            </a:r>
          </a:p>
        </p:txBody>
      </p:sp>
      <p:sp>
        <p:nvSpPr>
          <p:cNvPr id="7" name="Rounded Rectangle 6"/>
          <p:cNvSpPr/>
          <p:nvPr/>
        </p:nvSpPr>
        <p:spPr>
          <a:xfrm>
            <a:off x="841248" y="2011680"/>
            <a:ext cx="384048" cy="384048"/>
          </a:xfrm>
          <a:prstGeom prst="roundRect">
            <a:avLst>
              <a:gd name="adj" fmla="val 22000"/>
            </a:avLst>
          </a:prstGeom>
          <a:solidFill>
            <a:srgbClr val="E3F6EC"/>
          </a:solidFill>
          <a:ln w="12700">
            <a:solidFill>
              <a:srgbClr val="A9E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011680"/>
            <a:ext cx="384048" cy="384048"/>
          </a:xfrm>
          <a:prstGeom prst="rect">
            <a:avLst/>
          </a:prstGeom>
          <a:noFill/>
        </p:spPr>
        <p:txBody>
          <a:bodyPr wrap="square" anchor="ctr" lIns="0" rIns="0" tIns="0" bIns="0">
            <a:spAutoFit/>
          </a:bodyPr>
          <a:lstStyle/>
          <a:p>
            <a:pPr algn="ctr">
              <a:lnSpc>
                <a:spcPct val="106000"/>
              </a:lnSpc>
            </a:pPr>
            <a:r>
              <a:rPr sz="1400" b="1" i="0">
                <a:solidFill>
                  <a:srgbClr val="3FA96A"/>
                </a:solidFill>
                <a:latin typeface="Segoe UI"/>
              </a:rPr>
              <a:t>✓</a:t>
            </a:r>
          </a:p>
        </p:txBody>
      </p:sp>
      <p:sp>
        <p:nvSpPr>
          <p:cNvPr id="9" name="TextBox 8"/>
          <p:cNvSpPr txBox="1"/>
          <p:nvPr/>
        </p:nvSpPr>
        <p:spPr>
          <a:xfrm>
            <a:off x="1371600" y="1993392"/>
            <a:ext cx="4434840" cy="310896"/>
          </a:xfrm>
          <a:prstGeom prst="rect">
            <a:avLst/>
          </a:prstGeom>
          <a:noFill/>
        </p:spPr>
        <p:txBody>
          <a:bodyPr wrap="square" anchor="t" lIns="0" rIns="0" tIns="0" bIns="0">
            <a:spAutoFit/>
          </a:bodyPr>
          <a:lstStyle/>
          <a:p>
            <a:pPr algn="l">
              <a:lnSpc>
                <a:spcPct val="106000"/>
              </a:lnSpc>
            </a:pPr>
            <a:r>
              <a:rPr sz="1500" b="1" i="0">
                <a:solidFill>
                  <a:srgbClr val="0D2A36"/>
                </a:solidFill>
                <a:latin typeface="Segoe UI"/>
              </a:rPr>
              <a:t>The catalog is live</a:t>
            </a:r>
          </a:p>
        </p:txBody>
      </p:sp>
      <p:sp>
        <p:nvSpPr>
          <p:cNvPr id="10" name="TextBox 9"/>
          <p:cNvSpPr txBox="1"/>
          <p:nvPr/>
        </p:nvSpPr>
        <p:spPr>
          <a:xfrm>
            <a:off x="1371600" y="2322576"/>
            <a:ext cx="4434840" cy="457200"/>
          </a:xfrm>
          <a:prstGeom prst="rect">
            <a:avLst/>
          </a:prstGeom>
          <a:noFill/>
        </p:spPr>
        <p:txBody>
          <a:bodyPr wrap="square" anchor="t" lIns="0" rIns="0" tIns="0" bIns="0">
            <a:spAutoFit/>
          </a:bodyPr>
          <a:lstStyle/>
          <a:p>
            <a:pPr algn="l">
              <a:lnSpc>
                <a:spcPct val="106000"/>
              </a:lnSpc>
            </a:pPr>
            <a:r>
              <a:rPr sz="1200" b="0" i="0">
                <a:solidFill>
                  <a:srgbClr val="6F8B95"/>
                </a:solidFill>
                <a:latin typeface="Segoe UI"/>
              </a:rPr>
              <a:t>450+ endpoints across 60+ integrations, callable today.</a:t>
            </a:r>
          </a:p>
        </p:txBody>
      </p:sp>
      <p:sp>
        <p:nvSpPr>
          <p:cNvPr id="11" name="Rounded Rectangle 10"/>
          <p:cNvSpPr/>
          <p:nvPr/>
        </p:nvSpPr>
        <p:spPr>
          <a:xfrm>
            <a:off x="6281928" y="2011680"/>
            <a:ext cx="384048" cy="384048"/>
          </a:xfrm>
          <a:prstGeom prst="roundRect">
            <a:avLst>
              <a:gd name="adj" fmla="val 22000"/>
            </a:avLst>
          </a:prstGeom>
          <a:solidFill>
            <a:srgbClr val="E3F6EC"/>
          </a:solidFill>
          <a:ln w="12700">
            <a:solidFill>
              <a:srgbClr val="A9E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81928" y="2011680"/>
            <a:ext cx="384048" cy="384048"/>
          </a:xfrm>
          <a:prstGeom prst="rect">
            <a:avLst/>
          </a:prstGeom>
          <a:noFill/>
        </p:spPr>
        <p:txBody>
          <a:bodyPr wrap="square" anchor="ctr" lIns="0" rIns="0" tIns="0" bIns="0">
            <a:spAutoFit/>
          </a:bodyPr>
          <a:lstStyle/>
          <a:p>
            <a:pPr algn="ctr">
              <a:lnSpc>
                <a:spcPct val="106000"/>
              </a:lnSpc>
            </a:pPr>
            <a:r>
              <a:rPr sz="1400" b="1" i="0">
                <a:solidFill>
                  <a:srgbClr val="3FA96A"/>
                </a:solidFill>
                <a:latin typeface="Segoe UI"/>
              </a:rPr>
              <a:t>✓</a:t>
            </a:r>
          </a:p>
        </p:txBody>
      </p:sp>
      <p:sp>
        <p:nvSpPr>
          <p:cNvPr id="13" name="TextBox 12"/>
          <p:cNvSpPr txBox="1"/>
          <p:nvPr/>
        </p:nvSpPr>
        <p:spPr>
          <a:xfrm>
            <a:off x="6812280" y="1993392"/>
            <a:ext cx="4434840" cy="310896"/>
          </a:xfrm>
          <a:prstGeom prst="rect">
            <a:avLst/>
          </a:prstGeom>
          <a:noFill/>
        </p:spPr>
        <p:txBody>
          <a:bodyPr wrap="square" anchor="t" lIns="0" rIns="0" tIns="0" bIns="0">
            <a:spAutoFit/>
          </a:bodyPr>
          <a:lstStyle/>
          <a:p>
            <a:pPr algn="l">
              <a:lnSpc>
                <a:spcPct val="106000"/>
              </a:lnSpc>
            </a:pPr>
            <a:r>
              <a:rPr sz="1500" b="1" i="0">
                <a:solidFill>
                  <a:srgbClr val="0D2A36"/>
                </a:solidFill>
                <a:latin typeface="Segoe UI"/>
              </a:rPr>
              <a:t>Memory engine in production</a:t>
            </a:r>
          </a:p>
        </p:txBody>
      </p:sp>
      <p:sp>
        <p:nvSpPr>
          <p:cNvPr id="14" name="TextBox 13"/>
          <p:cNvSpPr txBox="1"/>
          <p:nvPr/>
        </p:nvSpPr>
        <p:spPr>
          <a:xfrm>
            <a:off x="6812280" y="2322576"/>
            <a:ext cx="4434840" cy="457200"/>
          </a:xfrm>
          <a:prstGeom prst="rect">
            <a:avLst/>
          </a:prstGeom>
          <a:noFill/>
        </p:spPr>
        <p:txBody>
          <a:bodyPr wrap="square" anchor="t" lIns="0" rIns="0" tIns="0" bIns="0">
            <a:spAutoFit/>
          </a:bodyPr>
          <a:lstStyle/>
          <a:p>
            <a:pPr algn="l">
              <a:lnSpc>
                <a:spcPct val="106000"/>
              </a:lnSpc>
            </a:pPr>
            <a:r>
              <a:rPr sz="1200" b="0" i="0">
                <a:solidFill>
                  <a:srgbClr val="6F8B95"/>
                </a:solidFill>
                <a:latin typeface="Segoe UI"/>
              </a:rPr>
              <a:t>Six-layer, user-owned, cross-session memory.</a:t>
            </a:r>
          </a:p>
        </p:txBody>
      </p:sp>
      <p:sp>
        <p:nvSpPr>
          <p:cNvPr id="15" name="Rounded Rectangle 14"/>
          <p:cNvSpPr/>
          <p:nvPr/>
        </p:nvSpPr>
        <p:spPr>
          <a:xfrm>
            <a:off x="841248" y="3044952"/>
            <a:ext cx="384048" cy="384048"/>
          </a:xfrm>
          <a:prstGeom prst="roundRect">
            <a:avLst>
              <a:gd name="adj" fmla="val 22000"/>
            </a:avLst>
          </a:prstGeom>
          <a:solidFill>
            <a:srgbClr val="E3F6EC"/>
          </a:solidFill>
          <a:ln w="12700">
            <a:solidFill>
              <a:srgbClr val="A9E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3044952"/>
            <a:ext cx="384048" cy="384048"/>
          </a:xfrm>
          <a:prstGeom prst="rect">
            <a:avLst/>
          </a:prstGeom>
          <a:noFill/>
        </p:spPr>
        <p:txBody>
          <a:bodyPr wrap="square" anchor="ctr" lIns="0" rIns="0" tIns="0" bIns="0">
            <a:spAutoFit/>
          </a:bodyPr>
          <a:lstStyle/>
          <a:p>
            <a:pPr algn="ctr">
              <a:lnSpc>
                <a:spcPct val="106000"/>
              </a:lnSpc>
            </a:pPr>
            <a:r>
              <a:rPr sz="1400" b="1" i="0">
                <a:solidFill>
                  <a:srgbClr val="3FA96A"/>
                </a:solidFill>
                <a:latin typeface="Segoe UI"/>
              </a:rPr>
              <a:t>✓</a:t>
            </a:r>
          </a:p>
        </p:txBody>
      </p:sp>
      <p:sp>
        <p:nvSpPr>
          <p:cNvPr id="17" name="TextBox 16"/>
          <p:cNvSpPr txBox="1"/>
          <p:nvPr/>
        </p:nvSpPr>
        <p:spPr>
          <a:xfrm>
            <a:off x="1371600" y="3026664"/>
            <a:ext cx="4434840" cy="310896"/>
          </a:xfrm>
          <a:prstGeom prst="rect">
            <a:avLst/>
          </a:prstGeom>
          <a:noFill/>
        </p:spPr>
        <p:txBody>
          <a:bodyPr wrap="square" anchor="t" lIns="0" rIns="0" tIns="0" bIns="0">
            <a:spAutoFit/>
          </a:bodyPr>
          <a:lstStyle/>
          <a:p>
            <a:pPr algn="l">
              <a:lnSpc>
                <a:spcPct val="106000"/>
              </a:lnSpc>
            </a:pPr>
            <a:r>
              <a:rPr sz="1500" b="1" i="0">
                <a:solidFill>
                  <a:srgbClr val="0D2A36"/>
                </a:solidFill>
                <a:latin typeface="Segoe UI"/>
              </a:rPr>
              <a:t>Works across every major client</a:t>
            </a:r>
          </a:p>
        </p:txBody>
      </p:sp>
      <p:sp>
        <p:nvSpPr>
          <p:cNvPr id="18" name="TextBox 17"/>
          <p:cNvSpPr txBox="1"/>
          <p:nvPr/>
        </p:nvSpPr>
        <p:spPr>
          <a:xfrm>
            <a:off x="1371600" y="3355848"/>
            <a:ext cx="4434840" cy="457200"/>
          </a:xfrm>
          <a:prstGeom prst="rect">
            <a:avLst/>
          </a:prstGeom>
          <a:noFill/>
        </p:spPr>
        <p:txBody>
          <a:bodyPr wrap="square" anchor="t" lIns="0" rIns="0" tIns="0" bIns="0">
            <a:spAutoFit/>
          </a:bodyPr>
          <a:lstStyle/>
          <a:p>
            <a:pPr algn="l">
              <a:lnSpc>
                <a:spcPct val="106000"/>
              </a:lnSpc>
            </a:pPr>
            <a:r>
              <a:rPr sz="1200" b="0" i="0">
                <a:solidFill>
                  <a:srgbClr val="6F8B95"/>
                </a:solidFill>
                <a:latin typeface="Segoe UI"/>
              </a:rPr>
              <a:t>Claude, ChatGPT, Cursor, Copilot, Windsurf and more.</a:t>
            </a:r>
          </a:p>
        </p:txBody>
      </p:sp>
      <p:sp>
        <p:nvSpPr>
          <p:cNvPr id="19" name="Rounded Rectangle 18"/>
          <p:cNvSpPr/>
          <p:nvPr/>
        </p:nvSpPr>
        <p:spPr>
          <a:xfrm>
            <a:off x="6281928" y="3044952"/>
            <a:ext cx="384048" cy="384048"/>
          </a:xfrm>
          <a:prstGeom prst="roundRect">
            <a:avLst>
              <a:gd name="adj" fmla="val 22000"/>
            </a:avLst>
          </a:prstGeom>
          <a:solidFill>
            <a:srgbClr val="E3F6EC"/>
          </a:solidFill>
          <a:ln w="12700">
            <a:solidFill>
              <a:srgbClr val="A9E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81928" y="3044952"/>
            <a:ext cx="384048" cy="384048"/>
          </a:xfrm>
          <a:prstGeom prst="rect">
            <a:avLst/>
          </a:prstGeom>
          <a:noFill/>
        </p:spPr>
        <p:txBody>
          <a:bodyPr wrap="square" anchor="ctr" lIns="0" rIns="0" tIns="0" bIns="0">
            <a:spAutoFit/>
          </a:bodyPr>
          <a:lstStyle/>
          <a:p>
            <a:pPr algn="ctr">
              <a:lnSpc>
                <a:spcPct val="106000"/>
              </a:lnSpc>
            </a:pPr>
            <a:r>
              <a:rPr sz="1400" b="1" i="0">
                <a:solidFill>
                  <a:srgbClr val="3FA96A"/>
                </a:solidFill>
                <a:latin typeface="Segoe UI"/>
              </a:rPr>
              <a:t>✓</a:t>
            </a:r>
          </a:p>
        </p:txBody>
      </p:sp>
      <p:sp>
        <p:nvSpPr>
          <p:cNvPr id="21" name="TextBox 20"/>
          <p:cNvSpPr txBox="1"/>
          <p:nvPr/>
        </p:nvSpPr>
        <p:spPr>
          <a:xfrm>
            <a:off x="6812280" y="3026664"/>
            <a:ext cx="4434840" cy="310896"/>
          </a:xfrm>
          <a:prstGeom prst="rect">
            <a:avLst/>
          </a:prstGeom>
          <a:noFill/>
        </p:spPr>
        <p:txBody>
          <a:bodyPr wrap="square" anchor="t" lIns="0" rIns="0" tIns="0" bIns="0">
            <a:spAutoFit/>
          </a:bodyPr>
          <a:lstStyle/>
          <a:p>
            <a:pPr algn="l">
              <a:lnSpc>
                <a:spcPct val="106000"/>
              </a:lnSpc>
            </a:pPr>
            <a:r>
              <a:rPr sz="1500" b="1" i="0">
                <a:solidFill>
                  <a:srgbClr val="0D2A36"/>
                </a:solidFill>
                <a:latin typeface="Segoe UI"/>
              </a:rPr>
              <a:t>AutoPilot fleet running</a:t>
            </a:r>
          </a:p>
        </p:txBody>
      </p:sp>
      <p:sp>
        <p:nvSpPr>
          <p:cNvPr id="22" name="TextBox 21"/>
          <p:cNvSpPr txBox="1"/>
          <p:nvPr/>
        </p:nvSpPr>
        <p:spPr>
          <a:xfrm>
            <a:off x="6812280" y="3355848"/>
            <a:ext cx="4434840" cy="457200"/>
          </a:xfrm>
          <a:prstGeom prst="rect">
            <a:avLst/>
          </a:prstGeom>
          <a:noFill/>
        </p:spPr>
        <p:txBody>
          <a:bodyPr wrap="square" anchor="t" lIns="0" rIns="0" tIns="0" bIns="0">
            <a:spAutoFit/>
          </a:bodyPr>
          <a:lstStyle/>
          <a:p>
            <a:pPr algn="l">
              <a:lnSpc>
                <a:spcPct val="106000"/>
              </a:lnSpc>
            </a:pPr>
            <a:r>
              <a:rPr sz="1200" b="0" i="0">
                <a:solidFill>
                  <a:srgbClr val="6F8B95"/>
                </a:solidFill>
                <a:latin typeface="Segoe UI"/>
              </a:rPr>
              <a:t>Governed multi-agent pipeline with safety gates and audit.</a:t>
            </a:r>
          </a:p>
        </p:txBody>
      </p:sp>
      <p:sp>
        <p:nvSpPr>
          <p:cNvPr id="23" name="Rounded Rectangle 22"/>
          <p:cNvSpPr/>
          <p:nvPr/>
        </p:nvSpPr>
        <p:spPr>
          <a:xfrm>
            <a:off x="841248" y="4078224"/>
            <a:ext cx="384048" cy="384048"/>
          </a:xfrm>
          <a:prstGeom prst="roundRect">
            <a:avLst>
              <a:gd name="adj" fmla="val 22000"/>
            </a:avLst>
          </a:prstGeom>
          <a:solidFill>
            <a:srgbClr val="E3F6EC"/>
          </a:solidFill>
          <a:ln w="12700">
            <a:solidFill>
              <a:srgbClr val="A9E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4078224"/>
            <a:ext cx="384048" cy="384048"/>
          </a:xfrm>
          <a:prstGeom prst="rect">
            <a:avLst/>
          </a:prstGeom>
          <a:noFill/>
        </p:spPr>
        <p:txBody>
          <a:bodyPr wrap="square" anchor="ctr" lIns="0" rIns="0" tIns="0" bIns="0">
            <a:spAutoFit/>
          </a:bodyPr>
          <a:lstStyle/>
          <a:p>
            <a:pPr algn="ctr">
              <a:lnSpc>
                <a:spcPct val="106000"/>
              </a:lnSpc>
            </a:pPr>
            <a:r>
              <a:rPr sz="1400" b="1" i="0">
                <a:solidFill>
                  <a:srgbClr val="3FA96A"/>
                </a:solidFill>
                <a:latin typeface="Segoe UI"/>
              </a:rPr>
              <a:t>✓</a:t>
            </a:r>
          </a:p>
        </p:txBody>
      </p:sp>
      <p:sp>
        <p:nvSpPr>
          <p:cNvPr id="25" name="TextBox 24"/>
          <p:cNvSpPr txBox="1"/>
          <p:nvPr/>
        </p:nvSpPr>
        <p:spPr>
          <a:xfrm>
            <a:off x="1371600" y="4059936"/>
            <a:ext cx="4434840" cy="310896"/>
          </a:xfrm>
          <a:prstGeom prst="rect">
            <a:avLst/>
          </a:prstGeom>
          <a:noFill/>
        </p:spPr>
        <p:txBody>
          <a:bodyPr wrap="square" anchor="t" lIns="0" rIns="0" tIns="0" bIns="0">
            <a:spAutoFit/>
          </a:bodyPr>
          <a:lstStyle/>
          <a:p>
            <a:pPr algn="l">
              <a:lnSpc>
                <a:spcPct val="106000"/>
              </a:lnSpc>
            </a:pPr>
            <a:r>
              <a:rPr sz="1500" b="1" i="0">
                <a:solidFill>
                  <a:srgbClr val="0D2A36"/>
                </a:solidFill>
                <a:latin typeface="Segoe UI"/>
              </a:rPr>
              <a:t>Pricing live</a:t>
            </a:r>
          </a:p>
        </p:txBody>
      </p:sp>
      <p:sp>
        <p:nvSpPr>
          <p:cNvPr id="26" name="TextBox 25"/>
          <p:cNvSpPr txBox="1"/>
          <p:nvPr/>
        </p:nvSpPr>
        <p:spPr>
          <a:xfrm>
            <a:off x="1371600" y="4389120"/>
            <a:ext cx="4434840" cy="457200"/>
          </a:xfrm>
          <a:prstGeom prst="rect">
            <a:avLst/>
          </a:prstGeom>
          <a:noFill/>
        </p:spPr>
        <p:txBody>
          <a:bodyPr wrap="square" anchor="t" lIns="0" rIns="0" tIns="0" bIns="0">
            <a:spAutoFit/>
          </a:bodyPr>
          <a:lstStyle/>
          <a:p>
            <a:pPr algn="l">
              <a:lnSpc>
                <a:spcPct val="106000"/>
              </a:lnSpc>
            </a:pPr>
            <a:r>
              <a:rPr sz="1200" b="0" i="0">
                <a:solidFill>
                  <a:srgbClr val="6F8B95"/>
                </a:solidFill>
                <a:latin typeface="Segoe UI"/>
              </a:rPr>
              <a:t>Free, Pro, Team and Enterprise tiers shipped.</a:t>
            </a:r>
          </a:p>
        </p:txBody>
      </p:sp>
      <p:sp>
        <p:nvSpPr>
          <p:cNvPr id="27" name="Rounded Rectangle 26"/>
          <p:cNvSpPr/>
          <p:nvPr/>
        </p:nvSpPr>
        <p:spPr>
          <a:xfrm>
            <a:off x="6281928" y="4078224"/>
            <a:ext cx="384048" cy="384048"/>
          </a:xfrm>
          <a:prstGeom prst="roundRect">
            <a:avLst>
              <a:gd name="adj" fmla="val 22000"/>
            </a:avLst>
          </a:prstGeom>
          <a:solidFill>
            <a:srgbClr val="E3F6EC"/>
          </a:solidFill>
          <a:ln w="12700">
            <a:solidFill>
              <a:srgbClr val="A9E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81928" y="4078224"/>
            <a:ext cx="384048" cy="384048"/>
          </a:xfrm>
          <a:prstGeom prst="rect">
            <a:avLst/>
          </a:prstGeom>
          <a:noFill/>
        </p:spPr>
        <p:txBody>
          <a:bodyPr wrap="square" anchor="ctr" lIns="0" rIns="0" tIns="0" bIns="0">
            <a:spAutoFit/>
          </a:bodyPr>
          <a:lstStyle/>
          <a:p>
            <a:pPr algn="ctr">
              <a:lnSpc>
                <a:spcPct val="106000"/>
              </a:lnSpc>
            </a:pPr>
            <a:r>
              <a:rPr sz="1400" b="1" i="0">
                <a:solidFill>
                  <a:srgbClr val="3FA96A"/>
                </a:solidFill>
                <a:latin typeface="Segoe UI"/>
              </a:rPr>
              <a:t>✓</a:t>
            </a:r>
          </a:p>
        </p:txBody>
      </p:sp>
      <p:sp>
        <p:nvSpPr>
          <p:cNvPr id="29" name="TextBox 28"/>
          <p:cNvSpPr txBox="1"/>
          <p:nvPr/>
        </p:nvSpPr>
        <p:spPr>
          <a:xfrm>
            <a:off x="6812280" y="4059936"/>
            <a:ext cx="4434840" cy="310896"/>
          </a:xfrm>
          <a:prstGeom prst="rect">
            <a:avLst/>
          </a:prstGeom>
          <a:noFill/>
        </p:spPr>
        <p:txBody>
          <a:bodyPr wrap="square" anchor="t" lIns="0" rIns="0" tIns="0" bIns="0">
            <a:spAutoFit/>
          </a:bodyPr>
          <a:lstStyle/>
          <a:p>
            <a:pPr algn="l">
              <a:lnSpc>
                <a:spcPct val="106000"/>
              </a:lnSpc>
            </a:pPr>
            <a:r>
              <a:rPr sz="1500" b="1" i="0">
                <a:solidFill>
                  <a:srgbClr val="0D2A36"/>
                </a:solidFill>
                <a:latin typeface="Segoe UI"/>
              </a:rPr>
              <a:t>Australian made</a:t>
            </a:r>
          </a:p>
        </p:txBody>
      </p:sp>
      <p:sp>
        <p:nvSpPr>
          <p:cNvPr id="30" name="TextBox 29"/>
          <p:cNvSpPr txBox="1"/>
          <p:nvPr/>
        </p:nvSpPr>
        <p:spPr>
          <a:xfrm>
            <a:off x="6812280" y="4389120"/>
            <a:ext cx="4434840" cy="457200"/>
          </a:xfrm>
          <a:prstGeom prst="rect">
            <a:avLst/>
          </a:prstGeom>
          <a:noFill/>
        </p:spPr>
        <p:txBody>
          <a:bodyPr wrap="square" anchor="t" lIns="0" rIns="0" tIns="0" bIns="0">
            <a:spAutoFit/>
          </a:bodyPr>
          <a:lstStyle/>
          <a:p>
            <a:pPr algn="l">
              <a:lnSpc>
                <a:spcPct val="106000"/>
              </a:lnSpc>
            </a:pPr>
            <a:r>
              <a:rPr sz="1200" b="0" i="0">
                <a:solidFill>
                  <a:srgbClr val="6F8B95"/>
                </a:solidFill>
                <a:latin typeface="Segoe UI"/>
              </a:rPr>
              <a:t>Built in Melbourne, with data-sovereignty options.</a:t>
            </a:r>
          </a:p>
        </p:txBody>
      </p:sp>
      <p:sp>
        <p:nvSpPr>
          <p:cNvPr id="31" name="Rounded Rectangle 30"/>
          <p:cNvSpPr/>
          <p:nvPr/>
        </p:nvSpPr>
        <p:spPr>
          <a:xfrm>
            <a:off x="841248" y="5440680"/>
            <a:ext cx="10515600" cy="566928"/>
          </a:xfrm>
          <a:prstGeom prst="roundRect">
            <a:avLst>
              <a:gd name="adj" fmla="val 9000"/>
            </a:avLst>
          </a:prstGeom>
          <a:solidFill>
            <a:srgbClr val="E9F6F6"/>
          </a:solidFill>
          <a:ln w="15240">
            <a:solidFill>
              <a:srgbClr val="61C1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 y="5440680"/>
            <a:ext cx="10515600" cy="566928"/>
          </a:xfrm>
          <a:prstGeom prst="rect">
            <a:avLst/>
          </a:prstGeom>
          <a:noFill/>
        </p:spPr>
        <p:txBody>
          <a:bodyPr wrap="square" anchor="ctr" lIns="0" rIns="0" tIns="0" bIns="0">
            <a:spAutoFit/>
          </a:bodyPr>
          <a:lstStyle/>
          <a:p>
            <a:pPr algn="ctr">
              <a:lnSpc>
                <a:spcPct val="106000"/>
              </a:lnSpc>
            </a:pPr>
            <a:r>
              <a:rPr sz="1350" b="1" i="0">
                <a:solidFill>
                  <a:srgbClr val="2F9499"/>
                </a:solidFill>
                <a:latin typeface="Segoe UI"/>
              </a:rPr>
              <a:t>Add your live traction here  →  active users · calls per month · MRR · week-on-week growth</a:t>
            </a:r>
          </a:p>
        </p:txBody>
      </p:sp>
      <p:sp>
        <p:nvSpPr>
          <p:cNvPr id="33" name="TextBox 32"/>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7FA6B0"/>
                </a:solidFill>
                <a:latin typeface="Segoe UI"/>
              </a:rPr>
              <a:t>UnClick  ·  Where AI belongs. Humans welcome.</a:t>
            </a:r>
          </a:p>
        </p:txBody>
      </p:sp>
      <p:sp>
        <p:nvSpPr>
          <p:cNvPr id="34" name="TextBox 33"/>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7FA6B0"/>
                </a:solidFill>
                <a:latin typeface="Consolas"/>
              </a:rP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0" y="-1371600"/>
            <a:ext cx="8229600" cy="6858000"/>
          </a:xfrm>
          <a:prstGeom prst="roundRect">
            <a:avLst>
              <a:gd name="adj" fmla="val 50000"/>
            </a:avLst>
          </a:prstGeom>
          <a:solidFill>
            <a:srgbClr val="0A2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932688"/>
            <a:ext cx="256032" cy="32004"/>
          </a:xfrm>
          <a:prstGeom prst="rect">
            <a:avLst/>
          </a:prstGeom>
          <a:solidFill>
            <a:srgbClr val="86DA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822959"/>
            <a:ext cx="8229600" cy="292608"/>
          </a:xfrm>
          <a:prstGeom prst="rect">
            <a:avLst/>
          </a:prstGeom>
          <a:noFill/>
        </p:spPr>
        <p:txBody>
          <a:bodyPr wrap="square" anchor="t" lIns="0" rIns="0" tIns="0" bIns="0">
            <a:spAutoFit/>
          </a:bodyPr>
          <a:lstStyle/>
          <a:p>
            <a:pPr algn="l">
              <a:lnSpc>
                <a:spcPct val="106000"/>
              </a:lnSpc>
            </a:pPr>
            <a:r>
              <a:rPr sz="1150" b="1" i="0">
                <a:solidFill>
                  <a:srgbClr val="86DADD"/>
                </a:solidFill>
                <a:latin typeface="Segoe UI"/>
              </a:rPr>
              <a:t>THE VISION</a:t>
            </a:r>
          </a:p>
        </p:txBody>
      </p:sp>
      <p:sp>
        <p:nvSpPr>
          <p:cNvPr id="6" name="TextBox 5"/>
          <p:cNvSpPr txBox="1"/>
          <p:nvPr/>
        </p:nvSpPr>
        <p:spPr>
          <a:xfrm>
            <a:off x="841248" y="1280160"/>
            <a:ext cx="10332720" cy="1280160"/>
          </a:xfrm>
          <a:prstGeom prst="rect">
            <a:avLst/>
          </a:prstGeom>
          <a:noFill/>
        </p:spPr>
        <p:txBody>
          <a:bodyPr wrap="square" anchor="t" lIns="0" rIns="0" tIns="0" bIns="0">
            <a:spAutoFit/>
          </a:bodyPr>
          <a:lstStyle/>
          <a:p>
            <a:pPr algn="l">
              <a:lnSpc>
                <a:spcPct val="104000"/>
              </a:lnSpc>
            </a:pPr>
            <a:r>
              <a:rPr sz="4000" b="1" i="0">
                <a:solidFill>
                  <a:srgbClr val="FFFFFF"/>
                </a:solidFill>
                <a:latin typeface="Segoe UI"/>
              </a:rPr>
              <a:t>The trust layer for the entire </a:t>
            </a:r>
            <a:r>
              <a:rPr sz="4000" b="1" i="0">
                <a:solidFill>
                  <a:srgbClr val="86DADD"/>
                </a:solidFill>
                <a:latin typeface="Segoe UI"/>
              </a:rPr>
              <a:t>agent economy.</a:t>
            </a:r>
          </a:p>
        </p:txBody>
      </p:sp>
      <p:sp>
        <p:nvSpPr>
          <p:cNvPr id="7" name="TextBox 6"/>
          <p:cNvSpPr txBox="1"/>
          <p:nvPr/>
        </p:nvSpPr>
        <p:spPr>
          <a:xfrm>
            <a:off x="841248" y="2834640"/>
            <a:ext cx="9601200" cy="1188720"/>
          </a:xfrm>
          <a:prstGeom prst="rect">
            <a:avLst/>
          </a:prstGeom>
          <a:noFill/>
        </p:spPr>
        <p:txBody>
          <a:bodyPr wrap="square" anchor="t" lIns="0" rIns="0" tIns="0" bIns="0">
            <a:spAutoFit/>
          </a:bodyPr>
          <a:lstStyle/>
          <a:p>
            <a:pPr algn="l">
              <a:lnSpc>
                <a:spcPct val="134000"/>
              </a:lnSpc>
              <a:spcAft>
                <a:spcPts val="600"/>
              </a:spcAft>
            </a:pPr>
            <a:r>
              <a:rPr sz="1650" b="0">
                <a:solidFill>
                  <a:srgbClr val="BCD9DD"/>
                </a:solidFill>
                <a:latin typeface="Segoe UI"/>
              </a:rPr>
              <a:t>Today, UnClick is the invisible plumbing that makes agents useful. Tomorrow, it is the place where any AI, from any lab, is held accountable: every action proven, every memory owned by you, every job traceable.</a:t>
            </a:r>
          </a:p>
        </p:txBody>
      </p:sp>
      <p:sp>
        <p:nvSpPr>
          <p:cNvPr id="8" name="TextBox 7"/>
          <p:cNvSpPr txBox="1"/>
          <p:nvPr/>
        </p:nvSpPr>
        <p:spPr>
          <a:xfrm>
            <a:off x="841248" y="4526280"/>
            <a:ext cx="10332720" cy="1097280"/>
          </a:xfrm>
          <a:prstGeom prst="rect">
            <a:avLst/>
          </a:prstGeom>
          <a:noFill/>
        </p:spPr>
        <p:txBody>
          <a:bodyPr wrap="square" anchor="t" lIns="0" rIns="0" tIns="0" bIns="0">
            <a:spAutoFit/>
          </a:bodyPr>
          <a:lstStyle/>
          <a:p>
            <a:pPr algn="l">
              <a:lnSpc>
                <a:spcPct val="102000"/>
              </a:lnSpc>
            </a:pPr>
            <a:r>
              <a:rPr sz="4400" b="1" i="0">
                <a:solidFill>
                  <a:srgbClr val="FFFFFF"/>
                </a:solidFill>
                <a:latin typeface="Segoe UI"/>
              </a:rPr>
              <a:t>Where AI belongs. </a:t>
            </a:r>
            <a:r>
              <a:rPr sz="4400" b="1" i="0">
                <a:solidFill>
                  <a:srgbClr val="86DADD"/>
                </a:solidFill>
                <a:latin typeface="Segoe UI"/>
              </a:rPr>
              <a:t>Humans welcome.</a:t>
            </a:r>
          </a:p>
        </p:txBody>
      </p:sp>
      <p:sp>
        <p:nvSpPr>
          <p:cNvPr id="9" name="TextBox 8"/>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6F97A1"/>
                </a:solidFill>
                <a:latin typeface="Segoe UI"/>
              </a:rPr>
              <a:t>UnClick  ·  Where AI belongs. Humans welcome.</a:t>
            </a:r>
          </a:p>
        </p:txBody>
      </p:sp>
      <p:sp>
        <p:nvSpPr>
          <p:cNvPr id="10" name="TextBox 9"/>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6F97A1"/>
                </a:solidFill>
                <a:latin typeface="Consolas"/>
              </a:rP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41248" y="640080"/>
            <a:ext cx="384048" cy="384048"/>
          </a:xfrm>
          <a:prstGeom prst="roundRect">
            <a:avLst>
              <a:gd name="adj" fmla="val 25000"/>
            </a:avLst>
          </a:prstGeom>
          <a:solidFill>
            <a:srgbClr val="61C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621792"/>
            <a:ext cx="384048" cy="420624"/>
          </a:xfrm>
          <a:prstGeom prst="rect">
            <a:avLst/>
          </a:prstGeom>
          <a:noFill/>
        </p:spPr>
        <p:txBody>
          <a:bodyPr wrap="square" anchor="ctr" lIns="0" rIns="0" tIns="0" bIns="0">
            <a:spAutoFit/>
          </a:bodyPr>
          <a:lstStyle/>
          <a:p>
            <a:pPr algn="ctr">
              <a:lnSpc>
                <a:spcPct val="106000"/>
              </a:lnSpc>
            </a:pPr>
            <a:r>
              <a:rPr sz="2000" b="1" i="0">
                <a:solidFill>
                  <a:srgbClr val="06202C"/>
                </a:solidFill>
                <a:latin typeface="Segoe UI"/>
              </a:rPr>
              <a:t>›</a:t>
            </a:r>
          </a:p>
        </p:txBody>
      </p:sp>
      <p:sp>
        <p:nvSpPr>
          <p:cNvPr id="5" name="TextBox 4"/>
          <p:cNvSpPr txBox="1"/>
          <p:nvPr/>
        </p:nvSpPr>
        <p:spPr>
          <a:xfrm>
            <a:off x="1353312" y="585215"/>
            <a:ext cx="4572000" cy="548640"/>
          </a:xfrm>
          <a:prstGeom prst="rect">
            <a:avLst/>
          </a:prstGeom>
          <a:noFill/>
        </p:spPr>
        <p:txBody>
          <a:bodyPr wrap="square" anchor="ctr" lIns="0" rIns="0" tIns="0" bIns="0">
            <a:spAutoFit/>
          </a:bodyPr>
          <a:lstStyle/>
          <a:p>
            <a:pPr algn="l">
              <a:lnSpc>
                <a:spcPct val="106000"/>
              </a:lnSpc>
            </a:pPr>
            <a:r>
              <a:rPr sz="2800" b="1" i="0">
                <a:solidFill>
                  <a:srgbClr val="FFFFFF"/>
                </a:solidFill>
                <a:latin typeface="Segoe UI"/>
              </a:rPr>
              <a:t>UnClick</a:t>
            </a:r>
          </a:p>
        </p:txBody>
      </p:sp>
      <p:sp>
        <p:nvSpPr>
          <p:cNvPr id="6" name="Rectangle 5"/>
          <p:cNvSpPr/>
          <p:nvPr/>
        </p:nvSpPr>
        <p:spPr>
          <a:xfrm>
            <a:off x="841248" y="1572768"/>
            <a:ext cx="256032" cy="32004"/>
          </a:xfrm>
          <a:prstGeom prst="rect">
            <a:avLst/>
          </a:prstGeom>
          <a:solidFill>
            <a:srgbClr val="86DA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463039"/>
            <a:ext cx="8229600" cy="292608"/>
          </a:xfrm>
          <a:prstGeom prst="rect">
            <a:avLst/>
          </a:prstGeom>
          <a:noFill/>
        </p:spPr>
        <p:txBody>
          <a:bodyPr wrap="square" anchor="t" lIns="0" rIns="0" tIns="0" bIns="0">
            <a:spAutoFit/>
          </a:bodyPr>
          <a:lstStyle/>
          <a:p>
            <a:pPr algn="l">
              <a:lnSpc>
                <a:spcPct val="106000"/>
              </a:lnSpc>
            </a:pPr>
            <a:r>
              <a:rPr sz="1150" b="1" i="0">
                <a:solidFill>
                  <a:srgbClr val="86DADD"/>
                </a:solidFill>
                <a:latin typeface="Segoe UI"/>
              </a:rPr>
              <a:t>JOIN US</a:t>
            </a:r>
          </a:p>
        </p:txBody>
      </p:sp>
      <p:sp>
        <p:nvSpPr>
          <p:cNvPr id="8" name="TextBox 7"/>
          <p:cNvSpPr txBox="1"/>
          <p:nvPr/>
        </p:nvSpPr>
        <p:spPr>
          <a:xfrm>
            <a:off x="841248" y="1874519"/>
            <a:ext cx="10332720" cy="914400"/>
          </a:xfrm>
          <a:prstGeom prst="rect">
            <a:avLst/>
          </a:prstGeom>
          <a:noFill/>
        </p:spPr>
        <p:txBody>
          <a:bodyPr wrap="square" anchor="t" lIns="0" rIns="0" tIns="0" bIns="0">
            <a:spAutoFit/>
          </a:bodyPr>
          <a:lstStyle/>
          <a:p>
            <a:pPr algn="l">
              <a:lnSpc>
                <a:spcPct val="106000"/>
              </a:lnSpc>
            </a:pPr>
            <a:r>
              <a:rPr sz="4000" b="1" i="0">
                <a:solidFill>
                  <a:srgbClr val="FFFFFF"/>
                </a:solidFill>
                <a:latin typeface="Segoe UI"/>
              </a:rPr>
              <a:t>Let's build </a:t>
            </a:r>
            <a:r>
              <a:rPr sz="4000" b="1" i="0">
                <a:solidFill>
                  <a:srgbClr val="86DADD"/>
                </a:solidFill>
                <a:latin typeface="Segoe UI"/>
              </a:rPr>
              <a:t>where AI belongs.</a:t>
            </a:r>
          </a:p>
        </p:txBody>
      </p:sp>
      <p:sp>
        <p:nvSpPr>
          <p:cNvPr id="9" name="TextBox 8"/>
          <p:cNvSpPr txBox="1"/>
          <p:nvPr/>
        </p:nvSpPr>
        <p:spPr>
          <a:xfrm>
            <a:off x="841248" y="2880360"/>
            <a:ext cx="548640" cy="365760"/>
          </a:xfrm>
          <a:prstGeom prst="rect">
            <a:avLst/>
          </a:prstGeom>
          <a:noFill/>
        </p:spPr>
        <p:txBody>
          <a:bodyPr wrap="square" anchor="t" lIns="0" rIns="0" tIns="0" bIns="0">
            <a:spAutoFit/>
          </a:bodyPr>
          <a:lstStyle/>
          <a:p>
            <a:pPr algn="l">
              <a:lnSpc>
                <a:spcPct val="106000"/>
              </a:lnSpc>
            </a:pPr>
            <a:r>
              <a:rPr sz="1600" b="1" i="0">
                <a:solidFill>
                  <a:srgbClr val="86DADD"/>
                </a:solidFill>
                <a:latin typeface="Consolas"/>
              </a:rPr>
              <a:t>01</a:t>
            </a:r>
          </a:p>
        </p:txBody>
      </p:sp>
      <p:sp>
        <p:nvSpPr>
          <p:cNvPr id="10" name="TextBox 9"/>
          <p:cNvSpPr txBox="1"/>
          <p:nvPr/>
        </p:nvSpPr>
        <p:spPr>
          <a:xfrm>
            <a:off x="1481328" y="2880360"/>
            <a:ext cx="9509760" cy="365760"/>
          </a:xfrm>
          <a:prstGeom prst="rect">
            <a:avLst/>
          </a:prstGeom>
          <a:noFill/>
        </p:spPr>
        <p:txBody>
          <a:bodyPr wrap="square" anchor="t" lIns="0" rIns="0" tIns="0" bIns="0">
            <a:spAutoFit/>
          </a:bodyPr>
          <a:lstStyle/>
          <a:p>
            <a:pPr algn="l">
              <a:lnSpc>
                <a:spcPct val="106000"/>
              </a:lnSpc>
            </a:pPr>
            <a:r>
              <a:rPr sz="1500" b="1" i="0">
                <a:solidFill>
                  <a:srgbClr val="FFFFFF"/>
                </a:solidFill>
                <a:latin typeface="Segoe UI"/>
              </a:rPr>
              <a:t>Grow the catalog  ·  </a:t>
            </a:r>
            <a:r>
              <a:rPr sz="1500" b="0" i="0">
                <a:solidFill>
                  <a:srgbClr val="BCD9DD"/>
                </a:solidFill>
                <a:latin typeface="Segoe UI"/>
              </a:rPr>
              <a:t>more tools, more integrations, more one-click connections.</a:t>
            </a:r>
          </a:p>
        </p:txBody>
      </p:sp>
      <p:sp>
        <p:nvSpPr>
          <p:cNvPr id="11" name="TextBox 10"/>
          <p:cNvSpPr txBox="1"/>
          <p:nvPr/>
        </p:nvSpPr>
        <p:spPr>
          <a:xfrm>
            <a:off x="841248" y="3392424"/>
            <a:ext cx="548640" cy="365760"/>
          </a:xfrm>
          <a:prstGeom prst="rect">
            <a:avLst/>
          </a:prstGeom>
          <a:noFill/>
        </p:spPr>
        <p:txBody>
          <a:bodyPr wrap="square" anchor="t" lIns="0" rIns="0" tIns="0" bIns="0">
            <a:spAutoFit/>
          </a:bodyPr>
          <a:lstStyle/>
          <a:p>
            <a:pPr algn="l">
              <a:lnSpc>
                <a:spcPct val="106000"/>
              </a:lnSpc>
            </a:pPr>
            <a:r>
              <a:rPr sz="1600" b="1" i="0">
                <a:solidFill>
                  <a:srgbClr val="86DADD"/>
                </a:solidFill>
                <a:latin typeface="Consolas"/>
              </a:rPr>
              <a:t>02</a:t>
            </a:r>
          </a:p>
        </p:txBody>
      </p:sp>
      <p:sp>
        <p:nvSpPr>
          <p:cNvPr id="12" name="TextBox 11"/>
          <p:cNvSpPr txBox="1"/>
          <p:nvPr/>
        </p:nvSpPr>
        <p:spPr>
          <a:xfrm>
            <a:off x="1481328" y="3392424"/>
            <a:ext cx="9509760" cy="365760"/>
          </a:xfrm>
          <a:prstGeom prst="rect">
            <a:avLst/>
          </a:prstGeom>
          <a:noFill/>
        </p:spPr>
        <p:txBody>
          <a:bodyPr wrap="square" anchor="t" lIns="0" rIns="0" tIns="0" bIns="0">
            <a:spAutoFit/>
          </a:bodyPr>
          <a:lstStyle/>
          <a:p>
            <a:pPr algn="l">
              <a:lnSpc>
                <a:spcPct val="106000"/>
              </a:lnSpc>
            </a:pPr>
            <a:r>
              <a:rPr sz="1500" b="1" i="0">
                <a:solidFill>
                  <a:srgbClr val="FFFFFF"/>
                </a:solidFill>
                <a:latin typeface="Segoe UI"/>
              </a:rPr>
              <a:t>Open the marketplace  ·  </a:t>
            </a:r>
            <a:r>
              <a:rPr sz="1500" b="0" i="0">
                <a:solidFill>
                  <a:srgbClr val="BCD9DD"/>
                </a:solidFill>
                <a:latin typeface="Segoe UI"/>
              </a:rPr>
              <a:t>turn on developer payouts and the two-sided flywheel.</a:t>
            </a:r>
          </a:p>
        </p:txBody>
      </p:sp>
      <p:sp>
        <p:nvSpPr>
          <p:cNvPr id="13" name="TextBox 12"/>
          <p:cNvSpPr txBox="1"/>
          <p:nvPr/>
        </p:nvSpPr>
        <p:spPr>
          <a:xfrm>
            <a:off x="841248" y="3904487"/>
            <a:ext cx="548640" cy="365760"/>
          </a:xfrm>
          <a:prstGeom prst="rect">
            <a:avLst/>
          </a:prstGeom>
          <a:noFill/>
        </p:spPr>
        <p:txBody>
          <a:bodyPr wrap="square" anchor="t" lIns="0" rIns="0" tIns="0" bIns="0">
            <a:spAutoFit/>
          </a:bodyPr>
          <a:lstStyle/>
          <a:p>
            <a:pPr algn="l">
              <a:lnSpc>
                <a:spcPct val="106000"/>
              </a:lnSpc>
            </a:pPr>
            <a:r>
              <a:rPr sz="1600" b="1" i="0">
                <a:solidFill>
                  <a:srgbClr val="86DADD"/>
                </a:solidFill>
                <a:latin typeface="Consolas"/>
              </a:rPr>
              <a:t>03</a:t>
            </a:r>
          </a:p>
        </p:txBody>
      </p:sp>
      <p:sp>
        <p:nvSpPr>
          <p:cNvPr id="14" name="TextBox 13"/>
          <p:cNvSpPr txBox="1"/>
          <p:nvPr/>
        </p:nvSpPr>
        <p:spPr>
          <a:xfrm>
            <a:off x="1481328" y="3904487"/>
            <a:ext cx="9509760" cy="365760"/>
          </a:xfrm>
          <a:prstGeom prst="rect">
            <a:avLst/>
          </a:prstGeom>
          <a:noFill/>
        </p:spPr>
        <p:txBody>
          <a:bodyPr wrap="square" anchor="t" lIns="0" rIns="0" tIns="0" bIns="0">
            <a:spAutoFit/>
          </a:bodyPr>
          <a:lstStyle/>
          <a:p>
            <a:pPr algn="l">
              <a:lnSpc>
                <a:spcPct val="106000"/>
              </a:lnSpc>
            </a:pPr>
            <a:r>
              <a:rPr sz="1500" b="1" i="0">
                <a:solidFill>
                  <a:srgbClr val="FFFFFF"/>
                </a:solidFill>
                <a:latin typeface="Segoe UI"/>
              </a:rPr>
              <a:t>Scale the AutoPilot fleet  ·  </a:t>
            </a:r>
            <a:r>
              <a:rPr sz="1500" b="0" i="0">
                <a:solidFill>
                  <a:srgbClr val="BCD9DD"/>
                </a:solidFill>
                <a:latin typeface="Segoe UI"/>
              </a:rPr>
              <a:t>more governed autonomy, more proof, more throughput.</a:t>
            </a:r>
          </a:p>
        </p:txBody>
      </p:sp>
      <p:sp>
        <p:nvSpPr>
          <p:cNvPr id="15" name="Rounded Rectangle 14"/>
          <p:cNvSpPr/>
          <p:nvPr/>
        </p:nvSpPr>
        <p:spPr>
          <a:xfrm>
            <a:off x="841248" y="4663440"/>
            <a:ext cx="10058400" cy="548640"/>
          </a:xfrm>
          <a:prstGeom prst="roundRect">
            <a:avLst>
              <a:gd name="adj" fmla="val 9000"/>
            </a:avLst>
          </a:prstGeom>
          <a:solidFill>
            <a:srgbClr val="103344"/>
          </a:solidFill>
          <a:ln w="15240">
            <a:solidFill>
              <a:srgbClr val="61C1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4663440"/>
            <a:ext cx="10058400" cy="548640"/>
          </a:xfrm>
          <a:prstGeom prst="rect">
            <a:avLst/>
          </a:prstGeom>
          <a:noFill/>
        </p:spPr>
        <p:txBody>
          <a:bodyPr wrap="square" anchor="ctr" lIns="0" rIns="0" tIns="0" bIns="0">
            <a:spAutoFit/>
          </a:bodyPr>
          <a:lstStyle/>
          <a:p>
            <a:pPr algn="ctr">
              <a:lnSpc>
                <a:spcPct val="106000"/>
              </a:lnSpc>
            </a:pPr>
            <a:r>
              <a:rPr sz="1350" b="1" i="0">
                <a:solidFill>
                  <a:srgbClr val="86DADD"/>
                </a:solidFill>
                <a:latin typeface="Segoe UI"/>
              </a:rPr>
              <a:t>Add your ask here  →  we are raising $X to reach Y over the next N months</a:t>
            </a:r>
          </a:p>
        </p:txBody>
      </p:sp>
      <p:sp>
        <p:nvSpPr>
          <p:cNvPr id="17" name="TextBox 16"/>
          <p:cNvSpPr txBox="1"/>
          <p:nvPr/>
        </p:nvSpPr>
        <p:spPr>
          <a:xfrm>
            <a:off x="841248" y="5486400"/>
            <a:ext cx="10332720" cy="457200"/>
          </a:xfrm>
          <a:prstGeom prst="rect">
            <a:avLst/>
          </a:prstGeom>
          <a:noFill/>
        </p:spPr>
        <p:txBody>
          <a:bodyPr wrap="square" anchor="t" lIns="0" rIns="0" tIns="0" bIns="0">
            <a:spAutoFit/>
          </a:bodyPr>
          <a:lstStyle/>
          <a:p>
            <a:pPr algn="l">
              <a:lnSpc>
                <a:spcPct val="106000"/>
              </a:lnSpc>
            </a:pPr>
            <a:r>
              <a:rPr sz="1400" b="1" i="0">
                <a:solidFill>
                  <a:srgbClr val="BCD9DD"/>
                </a:solidFill>
                <a:latin typeface="Segoe UI"/>
              </a:rPr>
              <a:t>unclick.world    |    creativelead@malamutemayhem.com    |    Built in Melbourne, Australia</a:t>
            </a:r>
          </a:p>
        </p:txBody>
      </p:sp>
      <p:sp>
        <p:nvSpPr>
          <p:cNvPr id="18" name="TextBox 17"/>
          <p:cNvSpPr txBox="1"/>
          <p:nvPr/>
        </p:nvSpPr>
        <p:spPr>
          <a:xfrm>
            <a:off x="841248" y="6437376"/>
            <a:ext cx="7315200" cy="274320"/>
          </a:xfrm>
          <a:prstGeom prst="rect">
            <a:avLst/>
          </a:prstGeom>
          <a:noFill/>
        </p:spPr>
        <p:txBody>
          <a:bodyPr wrap="square" anchor="t" lIns="0" rIns="0" tIns="0" bIns="0">
            <a:spAutoFit/>
          </a:bodyPr>
          <a:lstStyle/>
          <a:p>
            <a:pPr algn="l">
              <a:lnSpc>
                <a:spcPct val="106000"/>
              </a:lnSpc>
            </a:pPr>
            <a:r>
              <a:rPr sz="950" b="0" i="0">
                <a:solidFill>
                  <a:srgbClr val="6F97A1"/>
                </a:solidFill>
                <a:latin typeface="Segoe UI"/>
              </a:rPr>
              <a:t>UnClick  ·  Where AI belongs. Humans welcome.</a:t>
            </a:r>
          </a:p>
        </p:txBody>
      </p:sp>
      <p:sp>
        <p:nvSpPr>
          <p:cNvPr id="19" name="TextBox 18"/>
          <p:cNvSpPr txBox="1"/>
          <p:nvPr/>
        </p:nvSpPr>
        <p:spPr>
          <a:xfrm>
            <a:off x="9997135" y="6437376"/>
            <a:ext cx="1645920" cy="274320"/>
          </a:xfrm>
          <a:prstGeom prst="rect">
            <a:avLst/>
          </a:prstGeom>
          <a:noFill/>
        </p:spPr>
        <p:txBody>
          <a:bodyPr wrap="square" anchor="t" lIns="0" rIns="0" tIns="0" bIns="0">
            <a:spAutoFit/>
          </a:bodyPr>
          <a:lstStyle/>
          <a:p>
            <a:pPr algn="r">
              <a:lnSpc>
                <a:spcPct val="106000"/>
              </a:lnSpc>
            </a:pPr>
            <a:r>
              <a:rPr sz="950" b="0" i="0">
                <a:solidFill>
                  <a:srgbClr val="6F97A1"/>
                </a:solidFill>
                <a:latin typeface="Consolas"/>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